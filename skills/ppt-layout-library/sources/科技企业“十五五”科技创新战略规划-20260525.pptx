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16667914" r:id="rId3"/>
    <p:sldId id="16667915" r:id="rId4"/>
    <p:sldId id="16667940" r:id="rId5"/>
    <p:sldId id="16667961" r:id="rId6"/>
    <p:sldId id="16667942" r:id="rId7"/>
    <p:sldId id="16667943" r:id="rId8"/>
    <p:sldId id="16667962" r:id="rId9"/>
    <p:sldId id="16667959" r:id="rId10"/>
    <p:sldId id="16667946" r:id="rId11"/>
    <p:sldId id="16667947" r:id="rId12"/>
    <p:sldId id="16667963" r:id="rId13"/>
    <p:sldId id="16667949" r:id="rId14"/>
    <p:sldId id="16667964" r:id="rId15"/>
    <p:sldId id="16667924" r:id="rId16"/>
  </p:sldIdLst>
  <p:sldSz cx="12192000" cy="6858000"/>
  <p:notesSz cx="6858000" cy="9144000"/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3BF9F77B-07DE-45B5-AE93-241587870F59}">
          <p14:sldIdLst>
            <p14:sldId id="16667914"/>
            <p14:sldId id="16667915"/>
            <p14:sldId id="16667940"/>
            <p14:sldId id="16667961"/>
            <p14:sldId id="16667942"/>
            <p14:sldId id="16667943"/>
            <p14:sldId id="16667962"/>
            <p14:sldId id="16667959"/>
            <p14:sldId id="16667946"/>
            <p14:sldId id="16667947"/>
            <p14:sldId id="16667963"/>
            <p14:sldId id="16667949"/>
            <p14:sldId id="16667964"/>
            <p14:sldId id="16667924"/>
          </p14:sldIdLst>
        </p14:section>
      </p14:sectionLst>
    </p:ext>
    <p:ext uri="{EFAFB233-063F-42B5-8137-9DF3F51BA10A}">
      <p15:sldGuideLst xmlns:p15="http://schemas.microsoft.com/office/powerpoint/2012/main">
        <p15:guide id="1" pos="416" userDrawn="1">
          <p15:clr>
            <a:srgbClr val="A4A3A4"/>
          </p15:clr>
        </p15:guide>
        <p15:guide id="2" pos="7232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04" userDrawn="1">
          <p15:clr>
            <a:srgbClr val="A4A3A4"/>
          </p15:clr>
        </p15:guide>
        <p15:guide id="6" orient="horz" pos="399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DAAFE"/>
    <a:srgbClr val="FFFFFF"/>
    <a:srgbClr val="91ACFF"/>
    <a:srgbClr val="C5D4FF"/>
    <a:srgbClr val="245BFE"/>
    <a:srgbClr val="FFB399"/>
    <a:srgbClr val="BBCCFE"/>
    <a:srgbClr val="0142FF"/>
    <a:srgbClr val="E6E6E6"/>
    <a:srgbClr val="E2EC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603" autoAdjust="0"/>
    <p:restoredTop sz="94724" autoAdjust="0"/>
  </p:normalViewPr>
  <p:slideViewPr>
    <p:cSldViewPr snapToGrid="0" showGuides="1">
      <p:cViewPr>
        <p:scale>
          <a:sx n="120" d="100"/>
          <a:sy n="120" d="100"/>
        </p:scale>
        <p:origin x="462" y="150"/>
      </p:cViewPr>
      <p:guideLst>
        <p:guide pos="416"/>
        <p:guide pos="7232"/>
        <p:guide orient="horz" pos="648"/>
        <p:guide orient="horz" pos="704"/>
        <p:guide orient="horz" pos="399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1" d="100"/>
          <a:sy n="121" d="100"/>
        </p:scale>
        <p:origin x="667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gs" Target="tags/tag2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handoutMaster" Target="handoutMasters/handoutMaster1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B607B6-A60F-426C-A416-D9F64875F569}" type="datetimeFigureOut">
              <a:rPr lang="en-US" smtClean="0"/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C0EEC6-871A-4A82-8A6D-A4676122B360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2A3D24-6083-4546-8C6D-DEE86BAAAE4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ED8765-8EF3-408C-9341-152904E414E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5" Type="http://schemas.openxmlformats.org/officeDocument/2006/relationships/hyperlink" Target="https://www.ciicmc.com/" TargetMode="External"/><Relationship Id="rId4" Type="http://schemas.openxmlformats.org/officeDocument/2006/relationships/image" Target="../media/image5.jpeg"/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5040" y="3025991"/>
            <a:ext cx="5592400" cy="488201"/>
          </a:xfrm>
        </p:spPr>
        <p:txBody>
          <a:bodyPr vert="horz" wrap="square" lIns="91440" tIns="72000" rIns="91440" bIns="45720" rtlCol="0" anchor="ctr" anchorCtr="0">
            <a:spAutoFit/>
          </a:bodyPr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lang="zh-CN" altLang="en-US" sz="2400">
                <a:solidFill>
                  <a:srgbClr val="383838"/>
                </a:solidFill>
              </a:defRPr>
            </a:lvl1pPr>
          </a:lstStyle>
          <a:p>
            <a:pPr marL="228600" lvl="0" indent="-228600" defTabSz="914400"/>
            <a:r>
              <a:rPr lang="zh-CN" altLang="en-US" dirty="0"/>
              <a:t>单击此处添加副标题 </a:t>
            </a:r>
            <a:r>
              <a:rPr lang="en-US" altLang="zh-CN" dirty="0"/>
              <a:t>-24pt</a:t>
            </a:r>
            <a:endParaRPr lang="zh-CN" alt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655040" y="1524833"/>
            <a:ext cx="5592400" cy="1434267"/>
          </a:xfrm>
        </p:spPr>
        <p:txBody>
          <a:bodyPr vert="horz" lIns="91440" tIns="45720" rIns="91440" bIns="45720" rtlCol="0" anchor="b" anchorCtr="0">
            <a:noAutofit/>
          </a:bodyPr>
          <a:lstStyle>
            <a:lvl1pPr algn="just">
              <a:lnSpc>
                <a:spcPct val="120000"/>
              </a:lnSpc>
              <a:defRPr lang="zh-CN" altLang="en-US" sz="3400" b="1" dirty="0">
                <a:solidFill>
                  <a:schemeClr val="accent1"/>
                </a:solidFill>
                <a:effectLst/>
              </a:defRPr>
            </a:lvl1pPr>
          </a:lstStyle>
          <a:p>
            <a:pPr lvl="0" defTabSz="914400"/>
            <a:r>
              <a:rPr lang="zh-CN" altLang="en-US" dirty="0"/>
              <a:t>中智管理咨询有限公司</a:t>
            </a:r>
            <a:br>
              <a:rPr lang="zh-CN" altLang="en-US" dirty="0"/>
            </a:br>
            <a:r>
              <a:rPr lang="en-US" altLang="zh-CN" dirty="0"/>
              <a:t>PPT</a:t>
            </a:r>
            <a:r>
              <a:rPr lang="zh-CN" altLang="en-US" dirty="0"/>
              <a:t>应用标准模板</a:t>
            </a:r>
            <a:r>
              <a:rPr lang="en-US" altLang="zh-CN" dirty="0"/>
              <a:t>-34pt</a:t>
            </a:r>
            <a:endParaRPr lang="zh-CN" altLang="en-US" dirty="0"/>
          </a:p>
        </p:txBody>
      </p:sp>
      <p:grpSp>
        <p:nvGrpSpPr>
          <p:cNvPr id="8" name="组合 7"/>
          <p:cNvGrpSpPr/>
          <p:nvPr userDrawn="1"/>
        </p:nvGrpSpPr>
        <p:grpSpPr>
          <a:xfrm>
            <a:off x="3962500" y="846923"/>
            <a:ext cx="8229500" cy="6340261"/>
            <a:chOff x="3962500" y="846923"/>
            <a:chExt cx="8229500" cy="6011077"/>
          </a:xfrm>
        </p:grpSpPr>
        <p:pic>
          <p:nvPicPr>
            <p:cNvPr id="9" name="图片 8"/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89" t="16653" b="5032"/>
            <a:stretch>
              <a:fillRect/>
            </a:stretch>
          </p:blipFill>
          <p:spPr>
            <a:xfrm>
              <a:off x="3962500" y="846923"/>
              <a:ext cx="8229500" cy="5427881"/>
            </a:xfrm>
            <a:prstGeom prst="rect">
              <a:avLst/>
            </a:prstGeom>
          </p:spPr>
        </p:pic>
        <p:sp>
          <p:nvSpPr>
            <p:cNvPr id="10" name="矩形 9"/>
            <p:cNvSpPr/>
            <p:nvPr userDrawn="1"/>
          </p:nvSpPr>
          <p:spPr>
            <a:xfrm>
              <a:off x="5084064" y="5061567"/>
              <a:ext cx="7107936" cy="1796433"/>
            </a:xfrm>
            <a:prstGeom prst="rect">
              <a:avLst/>
            </a:prstGeom>
            <a:gradFill>
              <a:gsLst>
                <a:gs pos="0">
                  <a:schemeClr val="bg1">
                    <a:alpha val="0"/>
                  </a:schemeClr>
                </a:gs>
                <a:gs pos="93000">
                  <a:schemeClr val="bg1">
                    <a:alpha val="46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" name="Rectangle 4"/>
            <p:cNvSpPr/>
            <p:nvPr userDrawn="1"/>
          </p:nvSpPr>
          <p:spPr>
            <a:xfrm rot="10800000">
              <a:off x="4663828" y="5062144"/>
              <a:ext cx="7524000" cy="36000"/>
            </a:xfrm>
            <a:prstGeom prst="rect">
              <a:avLst/>
            </a:prstGeom>
            <a:gradFill>
              <a:gsLst>
                <a:gs pos="0">
                  <a:schemeClr val="bg1"/>
                </a:gs>
                <a:gs pos="100000">
                  <a:srgbClr val="0042FF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just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3D7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12" name="Rectangle 4"/>
          <p:cNvSpPr>
            <a:spLocks noChangeAspect="1"/>
          </p:cNvSpPr>
          <p:nvPr userDrawn="1"/>
        </p:nvSpPr>
        <p:spPr>
          <a:xfrm rot="10800000">
            <a:off x="1119347" y="4110741"/>
            <a:ext cx="6661074" cy="414106"/>
          </a:xfrm>
          <a:prstGeom prst="rect">
            <a:avLst/>
          </a:prstGeom>
          <a:gradFill>
            <a:gsLst>
              <a:gs pos="0">
                <a:schemeClr val="bg1"/>
              </a:gs>
              <a:gs pos="96000">
                <a:srgbClr val="0042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3D7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3" name="Rectangle 4"/>
          <p:cNvSpPr>
            <a:spLocks noChangeAspect="1"/>
          </p:cNvSpPr>
          <p:nvPr userDrawn="1"/>
        </p:nvSpPr>
        <p:spPr>
          <a:xfrm>
            <a:off x="655040" y="4702326"/>
            <a:ext cx="4008788" cy="414106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0042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3D7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4" name="Rectangle 4"/>
          <p:cNvSpPr>
            <a:spLocks noChangeAspect="1"/>
          </p:cNvSpPr>
          <p:nvPr userDrawn="1"/>
        </p:nvSpPr>
        <p:spPr>
          <a:xfrm>
            <a:off x="4488140" y="4702326"/>
            <a:ext cx="413999" cy="414106"/>
          </a:xfrm>
          <a:prstGeom prst="rect">
            <a:avLst/>
          </a:prstGeom>
          <a:solidFill>
            <a:srgbClr val="FF42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3D7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1697" y="509783"/>
            <a:ext cx="1432800" cy="305213"/>
          </a:xfrm>
          <a:prstGeom prst="rect">
            <a:avLst/>
          </a:prstGeom>
        </p:spPr>
      </p:pic>
      <p:sp>
        <p:nvSpPr>
          <p:cNvPr id="16" name="Rectangle 4"/>
          <p:cNvSpPr>
            <a:spLocks noChangeAspect="1"/>
          </p:cNvSpPr>
          <p:nvPr userDrawn="1"/>
        </p:nvSpPr>
        <p:spPr>
          <a:xfrm rot="10800000">
            <a:off x="655039" y="4110741"/>
            <a:ext cx="413999" cy="414106"/>
          </a:xfrm>
          <a:prstGeom prst="rect">
            <a:avLst/>
          </a:prstGeom>
          <a:solidFill>
            <a:srgbClr val="FF42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3D7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7" name="Rectangle 4"/>
          <p:cNvSpPr>
            <a:spLocks noChangeAspect="1"/>
          </p:cNvSpPr>
          <p:nvPr userDrawn="1"/>
        </p:nvSpPr>
        <p:spPr>
          <a:xfrm rot="10800000">
            <a:off x="10130971" y="4110741"/>
            <a:ext cx="2061028" cy="414106"/>
          </a:xfrm>
          <a:prstGeom prst="rect">
            <a:avLst/>
          </a:prstGeom>
          <a:gradFill>
            <a:gsLst>
              <a:gs pos="0">
                <a:srgbClr val="0042FF"/>
              </a:gs>
              <a:gs pos="52000">
                <a:srgbClr val="0042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3D7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8" name="Rectangle 4"/>
          <p:cNvSpPr>
            <a:spLocks noChangeAspect="1"/>
          </p:cNvSpPr>
          <p:nvPr userDrawn="1"/>
        </p:nvSpPr>
        <p:spPr>
          <a:xfrm rot="10800000">
            <a:off x="8818837" y="4110741"/>
            <a:ext cx="176392" cy="414106"/>
          </a:xfrm>
          <a:prstGeom prst="rect">
            <a:avLst/>
          </a:prstGeom>
          <a:gradFill>
            <a:gsLst>
              <a:gs pos="0">
                <a:srgbClr val="0042FF"/>
              </a:gs>
              <a:gs pos="52000">
                <a:srgbClr val="0042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3D7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9" name="Rectangle 4"/>
          <p:cNvSpPr>
            <a:spLocks noChangeAspect="1"/>
          </p:cNvSpPr>
          <p:nvPr userDrawn="1"/>
        </p:nvSpPr>
        <p:spPr>
          <a:xfrm rot="10800000">
            <a:off x="9635266" y="4110741"/>
            <a:ext cx="74791" cy="414106"/>
          </a:xfrm>
          <a:prstGeom prst="rect">
            <a:avLst/>
          </a:prstGeom>
          <a:gradFill>
            <a:gsLst>
              <a:gs pos="0">
                <a:srgbClr val="0042FF"/>
              </a:gs>
              <a:gs pos="52000">
                <a:srgbClr val="0042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3D7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Speaker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660400" y="4761243"/>
            <a:ext cx="3153286" cy="296271"/>
          </a:xfrm>
        </p:spPr>
        <p:txBody>
          <a:bodyPr vert="horz" lIns="91440" tIns="45720" rIns="91440" bIns="45720" rtlCol="0" anchor="ctr">
            <a:spAutoFit/>
          </a:bodyPr>
          <a:lstStyle>
            <a:lvl1pPr marL="0" indent="0" algn="just">
              <a:lnSpc>
                <a:spcPct val="120000"/>
              </a:lnSpc>
              <a:spcBef>
                <a:spcPts val="0"/>
              </a:spcBef>
              <a:buNone/>
              <a:defRPr lang="en-US" altLang="zh-CN" sz="1200" b="0" smtClean="0">
                <a:solidFill>
                  <a:schemeClr val="bg1"/>
                </a:solidFill>
              </a:defRPr>
            </a:lvl1pPr>
            <a:lvl2pPr>
              <a:defRPr lang="en-US" altLang="zh-CN" sz="1600" smtClean="0"/>
            </a:lvl2pPr>
            <a:lvl3pPr>
              <a:defRPr lang="en-US" altLang="zh-CN" sz="1400" smtClean="0"/>
            </a:lvl3pPr>
            <a:lvl4pPr>
              <a:defRPr lang="en-US" altLang="zh-CN" sz="1200" smtClean="0"/>
            </a:lvl4pPr>
            <a:lvl5pPr>
              <a:defRPr lang="zh-CN" altLang="en-US" sz="1200"/>
            </a:lvl5pPr>
          </a:lstStyle>
          <a:p>
            <a:r>
              <a:rPr lang="zh-CN" altLang="en-US" dirty="0"/>
              <a:t>单击此处添加演讲者及日期</a:t>
            </a:r>
            <a:r>
              <a:rPr lang="en-US" altLang="zh-CN" dirty="0"/>
              <a:t>-12pt</a:t>
            </a:r>
            <a:endParaRPr lang="zh-CN" altLang="en-US" dirty="0"/>
          </a:p>
        </p:txBody>
      </p:sp>
      <p:sp>
        <p:nvSpPr>
          <p:cNvPr id="4" name="页脚占位符 9"/>
          <p:cNvSpPr txBox="1"/>
          <p:nvPr userDrawn="1"/>
        </p:nvSpPr>
        <p:spPr>
          <a:xfrm>
            <a:off x="660400" y="5855893"/>
            <a:ext cx="8719820" cy="294326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altLang="zh-CN" sz="1200" dirty="0"/>
              <a:t>www.ciicmc.com</a:t>
            </a:r>
            <a:endParaRPr lang="en-GB" sz="12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图片 7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02850" y="509783"/>
            <a:ext cx="1432800" cy="305213"/>
          </a:xfrm>
          <a:prstGeom prst="rect">
            <a:avLst/>
          </a:prstGeom>
        </p:spPr>
      </p:pic>
      <p:sp>
        <p:nvSpPr>
          <p:cNvPr id="2" name="Rectangle 4"/>
          <p:cNvSpPr>
            <a:spLocks noChangeAspect="1"/>
          </p:cNvSpPr>
          <p:nvPr userDrawn="1"/>
        </p:nvSpPr>
        <p:spPr>
          <a:xfrm rot="10800000">
            <a:off x="408387" y="5835011"/>
            <a:ext cx="11783612" cy="278374"/>
          </a:xfrm>
          <a:prstGeom prst="rect">
            <a:avLst/>
          </a:prstGeom>
          <a:gradFill>
            <a:gsLst>
              <a:gs pos="0">
                <a:schemeClr val="bg1"/>
              </a:gs>
              <a:gs pos="92000">
                <a:srgbClr val="0042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3D7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Rectangle 4"/>
          <p:cNvSpPr>
            <a:spLocks noChangeAspect="1"/>
          </p:cNvSpPr>
          <p:nvPr userDrawn="1"/>
        </p:nvSpPr>
        <p:spPr>
          <a:xfrm rot="10800000">
            <a:off x="252940" y="5835011"/>
            <a:ext cx="278302" cy="278374"/>
          </a:xfrm>
          <a:prstGeom prst="rect">
            <a:avLst/>
          </a:prstGeom>
          <a:solidFill>
            <a:srgbClr val="FF42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3D7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9" name="Rectangle 4"/>
          <p:cNvSpPr>
            <a:spLocks noChangeAspect="1"/>
          </p:cNvSpPr>
          <p:nvPr userDrawn="1"/>
        </p:nvSpPr>
        <p:spPr>
          <a:xfrm>
            <a:off x="0" y="6242102"/>
            <a:ext cx="10535246" cy="278374"/>
          </a:xfrm>
          <a:prstGeom prst="rect">
            <a:avLst/>
          </a:prstGeom>
          <a:gradFill>
            <a:gsLst>
              <a:gs pos="0">
                <a:schemeClr val="bg1"/>
              </a:gs>
              <a:gs pos="92000">
                <a:srgbClr val="0042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3D7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Rectangle 4"/>
          <p:cNvSpPr>
            <a:spLocks noChangeAspect="1"/>
          </p:cNvSpPr>
          <p:nvPr userDrawn="1"/>
        </p:nvSpPr>
        <p:spPr>
          <a:xfrm>
            <a:off x="10535246" y="6248695"/>
            <a:ext cx="278302" cy="278374"/>
          </a:xfrm>
          <a:prstGeom prst="rect">
            <a:avLst/>
          </a:prstGeom>
          <a:solidFill>
            <a:srgbClr val="FF42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3D7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Rectangle 4"/>
          <p:cNvSpPr>
            <a:spLocks noChangeAspect="1"/>
          </p:cNvSpPr>
          <p:nvPr userDrawn="1"/>
        </p:nvSpPr>
        <p:spPr>
          <a:xfrm>
            <a:off x="0" y="1986558"/>
            <a:ext cx="3414489" cy="345162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0042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3D7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6" name="页脚占位符 9"/>
          <p:cNvSpPr txBox="1"/>
          <p:nvPr userDrawn="1"/>
        </p:nvSpPr>
        <p:spPr>
          <a:xfrm>
            <a:off x="658813" y="6235675"/>
            <a:ext cx="8719820" cy="294326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altLang="zh-CN" sz="1000" dirty="0">
                <a:solidFill>
                  <a:schemeClr val="bg1"/>
                </a:solidFill>
              </a:rPr>
              <a:t>www.ciicmc.com</a:t>
            </a:r>
            <a:endParaRPr lang="en-GB" sz="1000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1992528" y="818566"/>
            <a:ext cx="3002745" cy="735756"/>
          </a:xfrm>
        </p:spPr>
        <p:txBody>
          <a:bodyPr vert="horz" wrap="none" lIns="91440" tIns="90000" rIns="91440" bIns="90000" rtlCol="0" anchor="ctr" anchorCtr="0">
            <a:spAutoFit/>
          </a:bodyPr>
          <a:lstStyle>
            <a:lvl1pPr marL="0" indent="0">
              <a:buNone/>
              <a:defRPr lang="en-US" altLang="zh-CN" sz="4000" b="1" kern="1200" spc="0" baseline="0" dirty="0">
                <a:solidFill>
                  <a:srgbClr val="E2ECFB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altLang="zh-CN" dirty="0"/>
              <a:t>CONTENTS</a:t>
            </a:r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658813" y="847760"/>
            <a:ext cx="1364476" cy="646331"/>
          </a:xfrm>
        </p:spPr>
        <p:txBody>
          <a:bodyPr wrap="none" anchor="ctr" anchorCtr="0">
            <a:sp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zh-CN" altLang="en-US" dirty="0"/>
              <a:t>目  录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4"/>
          <p:cNvSpPr>
            <a:spLocks noChangeAspect="1"/>
          </p:cNvSpPr>
          <p:nvPr userDrawn="1"/>
        </p:nvSpPr>
        <p:spPr>
          <a:xfrm rot="10800000">
            <a:off x="978408" y="6187681"/>
            <a:ext cx="11213592" cy="345162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78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3D7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Rectangle 4"/>
          <p:cNvSpPr>
            <a:spLocks noChangeAspect="1"/>
          </p:cNvSpPr>
          <p:nvPr userDrawn="1"/>
        </p:nvSpPr>
        <p:spPr>
          <a:xfrm rot="10800000">
            <a:off x="666631" y="6187681"/>
            <a:ext cx="345073" cy="345162"/>
          </a:xfrm>
          <a:prstGeom prst="rect">
            <a:avLst/>
          </a:prstGeom>
          <a:solidFill>
            <a:srgbClr val="FF42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3D7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3572256" y="1984108"/>
            <a:ext cx="4913376" cy="548257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174737" y="3747773"/>
            <a:ext cx="3917284" cy="3042747"/>
          </a:xfrm>
          <a:prstGeom prst="rect">
            <a:avLst/>
          </a:prstGeom>
        </p:spPr>
        <p:txBody>
          <a:bodyPr vert="horz" wrap="square" lIns="91440" tIns="72000" rIns="91440" bIns="45720" rtlCol="0" anchor="ctr" anchorCtr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zh-CN" altLang="en-US" sz="19000" b="1">
                <a:ln w="19050">
                  <a:solidFill>
                    <a:schemeClr val="bg1"/>
                  </a:solidFill>
                </a:ln>
                <a:noFill/>
              </a:defRPr>
            </a:lvl1pPr>
          </a:lstStyle>
          <a:p>
            <a:pPr marL="228600" lvl="0" indent="-228600" defTabSz="914400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11" name="Rectangle 4"/>
          <p:cNvSpPr>
            <a:spLocks noChangeAspect="1"/>
          </p:cNvSpPr>
          <p:nvPr userDrawn="1"/>
        </p:nvSpPr>
        <p:spPr>
          <a:xfrm>
            <a:off x="0" y="1984108"/>
            <a:ext cx="2975763" cy="345162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3D7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Rectangle 4"/>
          <p:cNvSpPr>
            <a:spLocks noChangeAspect="1"/>
          </p:cNvSpPr>
          <p:nvPr userDrawn="1"/>
        </p:nvSpPr>
        <p:spPr>
          <a:xfrm>
            <a:off x="2975763" y="1984108"/>
            <a:ext cx="345073" cy="345162"/>
          </a:xfrm>
          <a:prstGeom prst="rect">
            <a:avLst/>
          </a:prstGeom>
          <a:solidFill>
            <a:srgbClr val="FF42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3D7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3" name="Speaker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3572256" y="2695671"/>
            <a:ext cx="4913376" cy="1019253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marL="0" indent="0" algn="just">
              <a:lnSpc>
                <a:spcPct val="130000"/>
              </a:lnSpc>
              <a:spcBef>
                <a:spcPts val="0"/>
              </a:spcBef>
              <a:buNone/>
              <a:defRPr lang="en-US" altLang="zh-CN" sz="1600" b="0" smtClean="0">
                <a:solidFill>
                  <a:schemeClr val="bg1"/>
                </a:solidFill>
              </a:defRPr>
            </a:lvl1pPr>
            <a:lvl2pPr>
              <a:defRPr lang="en-US" altLang="zh-CN" sz="1600" smtClean="0"/>
            </a:lvl2pPr>
            <a:lvl3pPr>
              <a:defRPr lang="en-US" altLang="zh-CN" sz="1400" smtClean="0"/>
            </a:lvl3pPr>
            <a:lvl4pPr>
              <a:defRPr lang="en-US" altLang="zh-CN" sz="1200" smtClean="0"/>
            </a:lvl4pPr>
            <a:lvl5pPr>
              <a:defRPr lang="zh-CN" altLang="en-US" sz="1200"/>
            </a:lvl5pPr>
          </a:lstStyle>
          <a:p>
            <a:r>
              <a:rPr lang="zh-CN" altLang="en-US" dirty="0"/>
              <a:t>单击此处添加章节内容概况</a:t>
            </a:r>
            <a:endParaRPr lang="zh-CN" altLang="en-US" dirty="0"/>
          </a:p>
          <a:p>
            <a:r>
              <a:rPr lang="zh-CN" altLang="en-US" dirty="0"/>
              <a:t>单击此处添加章节内容概况</a:t>
            </a:r>
            <a:endParaRPr lang="zh-CN" altLang="en-US" dirty="0"/>
          </a:p>
          <a:p>
            <a:r>
              <a:rPr lang="en-US" altLang="zh-CN" dirty="0"/>
              <a:t>……-16</a:t>
            </a:r>
            <a:r>
              <a:rPr lang="en-GB" altLang="zh-CN" dirty="0" err="1"/>
              <a:t>pt</a:t>
            </a:r>
            <a:endParaRPr lang="en-GB" altLang="zh-CN" dirty="0"/>
          </a:p>
        </p:txBody>
      </p:sp>
      <p:sp>
        <p:nvSpPr>
          <p:cNvPr id="14" name="Rectangle 4"/>
          <p:cNvSpPr>
            <a:spLocks noChangeAspect="1"/>
          </p:cNvSpPr>
          <p:nvPr userDrawn="1"/>
        </p:nvSpPr>
        <p:spPr>
          <a:xfrm>
            <a:off x="0" y="5672078"/>
            <a:ext cx="9409176" cy="345162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78000">
                <a:schemeClr val="bg1">
                  <a:alpha val="84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3D7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2850" y="509783"/>
            <a:ext cx="1431889" cy="313096"/>
          </a:xfrm>
          <a:prstGeom prst="rect">
            <a:avLst/>
          </a:prstGeom>
        </p:spPr>
      </p:pic>
      <p:sp>
        <p:nvSpPr>
          <p:cNvPr id="16" name="灯片编号占位符 1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</a:fld>
            <a:endParaRPr lang="en-US" altLang="zh-CN" dirty="0"/>
          </a:p>
        </p:txBody>
      </p:sp>
      <p:sp>
        <p:nvSpPr>
          <p:cNvPr id="29" name="页脚占位符 9"/>
          <p:cNvSpPr txBox="1"/>
          <p:nvPr userDrawn="1"/>
        </p:nvSpPr>
        <p:spPr>
          <a:xfrm>
            <a:off x="1011705" y="6210960"/>
            <a:ext cx="8719820" cy="294326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altLang="zh-CN" sz="1000" dirty="0">
                <a:solidFill>
                  <a:schemeClr val="bg1"/>
                </a:solidFill>
              </a:rPr>
              <a:t>www.ciicmc.com</a:t>
            </a:r>
            <a:endParaRPr lang="en-GB" sz="1000" dirty="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 userDrawn="1"/>
        </p:nvSpPr>
        <p:spPr>
          <a:xfrm>
            <a:off x="8485632" y="5571300"/>
            <a:ext cx="721894" cy="486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altLang="zh-CN" sz="2200" dirty="0">
                <a:solidFill>
                  <a:schemeClr val="bg1"/>
                </a:solidFill>
              </a:rPr>
              <a:t>Part</a:t>
            </a:r>
            <a:endParaRPr lang="zh-CN" altLang="en-US" sz="2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内页版式-基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单击此处编辑标题样式</a:t>
            </a:r>
            <a:r>
              <a:rPr lang="en-US" altLang="zh-CN" dirty="0"/>
              <a:t>-24pt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 hasCustomPrompt="1"/>
          </p:nvPr>
        </p:nvSpPr>
        <p:spPr>
          <a:xfrm>
            <a:off x="660400" y="1266657"/>
            <a:ext cx="10872788" cy="362343"/>
          </a:xfrm>
          <a:noFill/>
        </p:spPr>
        <p:txBody>
          <a:bodyPr wrap="square">
            <a:noAutofit/>
          </a:bodyPr>
          <a:lstStyle>
            <a:lvl1pPr marL="0" indent="0" algn="just">
              <a:lnSpc>
                <a:spcPct val="120000"/>
              </a:lnSpc>
              <a:spcBef>
                <a:spcPts val="0"/>
              </a:spcBef>
              <a:buFontTx/>
              <a:buNone/>
              <a:defRPr sz="1600" b="1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此处添加本页重要观点</a:t>
            </a:r>
            <a:r>
              <a:rPr lang="en-US" altLang="zh-CN" dirty="0"/>
              <a:t>1-16pt</a:t>
            </a:r>
            <a:endParaRPr lang="en-US" altLang="zh-CN" dirty="0"/>
          </a:p>
        </p:txBody>
      </p:sp>
      <p:cxnSp>
        <p:nvCxnSpPr>
          <p:cNvPr id="4" name="直接连接符 6"/>
          <p:cNvCxnSpPr/>
          <p:nvPr userDrawn="1"/>
        </p:nvCxnSpPr>
        <p:spPr>
          <a:xfrm>
            <a:off x="669924" y="6462082"/>
            <a:ext cx="10850563" cy="0"/>
          </a:xfrm>
          <a:prstGeom prst="line">
            <a:avLst/>
          </a:prstGeom>
          <a:ln w="19050">
            <a:gradFill>
              <a:gsLst>
                <a:gs pos="0">
                  <a:schemeClr val="bg1"/>
                </a:gs>
                <a:gs pos="83000">
                  <a:srgbClr val="0042FF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 userDrawn="1"/>
        </p:nvSpPr>
        <p:spPr>
          <a:xfrm>
            <a:off x="11194812" y="6225703"/>
            <a:ext cx="240189" cy="240189"/>
          </a:xfrm>
          <a:prstGeom prst="rect">
            <a:avLst/>
          </a:prstGeom>
          <a:solidFill>
            <a:srgbClr val="FF42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9" name="直接连接符 6"/>
          <p:cNvCxnSpPr/>
          <p:nvPr userDrawn="1"/>
        </p:nvCxnSpPr>
        <p:spPr>
          <a:xfrm>
            <a:off x="669924" y="1130300"/>
            <a:ext cx="10850563" cy="0"/>
          </a:xfrm>
          <a:prstGeom prst="line">
            <a:avLst/>
          </a:prstGeom>
          <a:ln w="19050">
            <a:gradFill>
              <a:gsLst>
                <a:gs pos="0">
                  <a:schemeClr val="bg1"/>
                </a:gs>
                <a:gs pos="83000">
                  <a:srgbClr val="0042FF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17"/>
          <p:cNvSpPr>
            <a:spLocks noGrp="1"/>
          </p:cNvSpPr>
          <p:nvPr>
            <p:ph type="body" sz="quarter" idx="16" hasCustomPrompt="1"/>
          </p:nvPr>
        </p:nvSpPr>
        <p:spPr>
          <a:xfrm>
            <a:off x="669924" y="6476052"/>
            <a:ext cx="9858376" cy="196850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900" kern="1200" dirty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</a:lstStyle>
          <a:p>
            <a:r>
              <a:rPr lang="zh-CN" altLang="en-US" dirty="0"/>
              <a:t>数据来源</a:t>
            </a:r>
            <a:r>
              <a:rPr lang="en-US" altLang="zh-CN" dirty="0"/>
              <a:t>/</a:t>
            </a:r>
            <a:r>
              <a:rPr lang="zh-CN" altLang="en-US" dirty="0"/>
              <a:t>图表来源</a:t>
            </a:r>
            <a:r>
              <a:rPr lang="en-US" altLang="zh-CN" dirty="0"/>
              <a:t>/</a:t>
            </a:r>
            <a:r>
              <a:rPr lang="zh-CN" altLang="en-US" dirty="0"/>
              <a:t>资料来源：图表或数据资料来源</a:t>
            </a:r>
            <a:r>
              <a:rPr lang="en-US" altLang="zh-CN" dirty="0"/>
              <a:t>-9pt</a:t>
            </a:r>
            <a:endParaRPr lang="zh-CN" altLang="en-US" dirty="0"/>
          </a:p>
        </p:txBody>
      </p:sp>
      <p:sp>
        <p:nvSpPr>
          <p:cNvPr id="11" name="文本框 10"/>
          <p:cNvSpPr txBox="1"/>
          <p:nvPr userDrawn="1"/>
        </p:nvSpPr>
        <p:spPr>
          <a:xfrm>
            <a:off x="10594916" y="6469702"/>
            <a:ext cx="127184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800" dirty="0">
                <a:latin typeface="+mn-lt"/>
                <a:ea typeface="Songti SC" panose="02010600040101010101" pitchFamily="2" charset="-122"/>
              </a:rPr>
              <a:t>www.ciicmc.com</a:t>
            </a:r>
            <a:endParaRPr lang="zh-CN" altLang="en-US" sz="800" dirty="0">
              <a:latin typeface="+mn-lt"/>
              <a:ea typeface="Songti SC" panose="02010600040101010101" pitchFamily="2" charset="-122"/>
            </a:endParaRP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110913" y="6237847"/>
            <a:ext cx="407987" cy="215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CN" altLang="en-US" sz="900" b="0" smtClean="0">
                <a:solidFill>
                  <a:schemeClr val="bg1"/>
                </a:solidFill>
              </a:defRPr>
            </a:lvl1pPr>
          </a:lstStyle>
          <a:p>
            <a:fld id="{7F65B630-C7FF-41C0-9923-C5E5E29EED81}" type="slidenum">
              <a:rPr lang="en-US" altLang="zh-CN" smtClean="0"/>
            </a:fld>
            <a:endParaRPr lang="en-US" altLang="zh-CN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7" hasCustomPrompt="1"/>
          </p:nvPr>
        </p:nvSpPr>
        <p:spPr>
          <a:xfrm>
            <a:off x="658813" y="1870394"/>
            <a:ext cx="10874375" cy="3849687"/>
          </a:xfrm>
        </p:spPr>
        <p:txBody>
          <a:bodyPr>
            <a:normAutofit/>
          </a:bodyPr>
          <a:lstStyle>
            <a:lvl1pPr marL="0" indent="0">
              <a:buNone/>
              <a:defRPr sz="1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单击此处编辑文本</a:t>
            </a:r>
            <a:r>
              <a:rPr lang="en-US" altLang="zh-CN" dirty="0"/>
              <a:t>-</a:t>
            </a:r>
            <a:r>
              <a:rPr lang="zh-CN" altLang="en-US" dirty="0"/>
              <a:t>主文</a:t>
            </a:r>
            <a:r>
              <a:rPr lang="en-US" altLang="zh-CN" dirty="0"/>
              <a:t>14PT</a:t>
            </a:r>
            <a:endParaRPr lang="zh-CN" altLang="en-US" dirty="0"/>
          </a:p>
        </p:txBody>
      </p:sp>
      <p:sp>
        <p:nvSpPr>
          <p:cNvPr id="13" name="文本占位符 13"/>
          <p:cNvSpPr>
            <a:spLocks noGrp="1"/>
          </p:cNvSpPr>
          <p:nvPr>
            <p:ph type="body" sz="quarter" idx="15" hasCustomPrompt="1"/>
          </p:nvPr>
        </p:nvSpPr>
        <p:spPr>
          <a:xfrm>
            <a:off x="669924" y="6019800"/>
            <a:ext cx="9867900" cy="434662"/>
          </a:xfrm>
        </p:spPr>
        <p:txBody>
          <a:bodyPr anchor="ctr">
            <a:noAutofit/>
          </a:bodyPr>
          <a:lstStyle>
            <a:lvl1pPr marL="228600" indent="-228600" algn="l">
              <a:lnSpc>
                <a:spcPct val="50000"/>
              </a:lnSpc>
              <a:buFont typeface="+mj-lt"/>
              <a:buAutoNum type="arabicPeriod"/>
              <a:defRPr sz="900">
                <a:latin typeface="+mn-ea"/>
                <a:ea typeface="+mn-ea"/>
              </a:defRPr>
            </a:lvl1pPr>
          </a:lstStyle>
          <a:p>
            <a:r>
              <a:rPr lang="zh-CN" altLang="en-US" dirty="0"/>
              <a:t>此处为正文中专业术语或句子的解释说明 ，有多个注释可多行，并自行设置角标序号</a:t>
            </a:r>
            <a:r>
              <a:rPr lang="en-US" altLang="zh-CN" dirty="0"/>
              <a:t> -9pt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内页版式-左右等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单击此处编辑标题样式</a:t>
            </a:r>
            <a:r>
              <a:rPr lang="en-US" altLang="zh-CN" dirty="0"/>
              <a:t>-24pt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 hasCustomPrompt="1"/>
          </p:nvPr>
        </p:nvSpPr>
        <p:spPr>
          <a:xfrm>
            <a:off x="660400" y="1266657"/>
            <a:ext cx="5341199" cy="362343"/>
          </a:xfrm>
          <a:noFill/>
        </p:spPr>
        <p:txBody>
          <a:bodyPr wrap="square">
            <a:noAutofit/>
          </a:bodyPr>
          <a:lstStyle>
            <a:lvl1pPr marL="0" indent="0" algn="just">
              <a:lnSpc>
                <a:spcPct val="120000"/>
              </a:lnSpc>
              <a:spcBef>
                <a:spcPts val="0"/>
              </a:spcBef>
              <a:buFontTx/>
              <a:buNone/>
              <a:defRPr sz="1600" b="1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此处添加本页重要观点</a:t>
            </a:r>
            <a:r>
              <a:rPr lang="en-US" altLang="zh-CN" dirty="0"/>
              <a:t>1-16pt</a:t>
            </a:r>
            <a:endParaRPr lang="en-US" altLang="zh-CN" dirty="0"/>
          </a:p>
        </p:txBody>
      </p:sp>
      <p:sp>
        <p:nvSpPr>
          <p:cNvPr id="6" name="文本占位符 4"/>
          <p:cNvSpPr>
            <a:spLocks noGrp="1"/>
          </p:cNvSpPr>
          <p:nvPr>
            <p:ph type="body" sz="quarter" idx="14" hasCustomPrompt="1"/>
          </p:nvPr>
        </p:nvSpPr>
        <p:spPr>
          <a:xfrm>
            <a:off x="6177701" y="1266657"/>
            <a:ext cx="5341199" cy="362343"/>
          </a:xfrm>
          <a:noFill/>
        </p:spPr>
        <p:txBody>
          <a:bodyPr wrap="square">
            <a:noAutofit/>
          </a:bodyPr>
          <a:lstStyle>
            <a:lvl1pPr marL="0" indent="0" algn="just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此处添加本页重要观点</a:t>
            </a:r>
            <a:r>
              <a:rPr lang="en-US" altLang="zh-CN" dirty="0"/>
              <a:t>2-16pt</a:t>
            </a:r>
            <a:endParaRPr lang="en-US" altLang="zh-CN" dirty="0"/>
          </a:p>
        </p:txBody>
      </p:sp>
      <p:cxnSp>
        <p:nvCxnSpPr>
          <p:cNvPr id="4" name="直接连接符 6"/>
          <p:cNvCxnSpPr/>
          <p:nvPr userDrawn="1"/>
        </p:nvCxnSpPr>
        <p:spPr>
          <a:xfrm>
            <a:off x="669924" y="6462082"/>
            <a:ext cx="10850563" cy="0"/>
          </a:xfrm>
          <a:prstGeom prst="line">
            <a:avLst/>
          </a:prstGeom>
          <a:ln w="19050">
            <a:gradFill>
              <a:gsLst>
                <a:gs pos="0">
                  <a:schemeClr val="bg1"/>
                </a:gs>
                <a:gs pos="83000">
                  <a:srgbClr val="0042FF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 userDrawn="1"/>
        </p:nvSpPr>
        <p:spPr>
          <a:xfrm>
            <a:off x="11194812" y="6225703"/>
            <a:ext cx="240189" cy="240189"/>
          </a:xfrm>
          <a:prstGeom prst="rect">
            <a:avLst/>
          </a:prstGeom>
          <a:solidFill>
            <a:srgbClr val="FF42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110913" y="6237847"/>
            <a:ext cx="407987" cy="215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CN" altLang="en-US" sz="900" b="0" smtClean="0">
                <a:solidFill>
                  <a:schemeClr val="bg1"/>
                </a:solidFill>
              </a:defRPr>
            </a:lvl1pPr>
          </a:lstStyle>
          <a:p>
            <a:fld id="{7F65B630-C7FF-41C0-9923-C5E5E29EED81}" type="slidenum">
              <a:rPr lang="en-US" altLang="zh-CN" smtClean="0"/>
            </a:fld>
            <a:endParaRPr lang="en-US" altLang="zh-CN" dirty="0"/>
          </a:p>
        </p:txBody>
      </p:sp>
      <p:sp>
        <p:nvSpPr>
          <p:cNvPr id="16" name="文本框 15"/>
          <p:cNvSpPr txBox="1"/>
          <p:nvPr userDrawn="1"/>
        </p:nvSpPr>
        <p:spPr>
          <a:xfrm>
            <a:off x="10594916" y="6469702"/>
            <a:ext cx="127184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800" dirty="0">
                <a:latin typeface="+mn-lt"/>
                <a:ea typeface="Songti SC" panose="02010600040101010101" pitchFamily="2" charset="-122"/>
              </a:rPr>
              <a:t>www.ciicmc.com</a:t>
            </a:r>
            <a:endParaRPr lang="zh-CN" altLang="en-US" sz="800" dirty="0">
              <a:latin typeface="+mn-lt"/>
              <a:ea typeface="Songti SC" panose="02010600040101010101" pitchFamily="2" charset="-122"/>
            </a:endParaRPr>
          </a:p>
        </p:txBody>
      </p:sp>
      <p:cxnSp>
        <p:nvCxnSpPr>
          <p:cNvPr id="19" name="直接连接符 6"/>
          <p:cNvCxnSpPr/>
          <p:nvPr userDrawn="1"/>
        </p:nvCxnSpPr>
        <p:spPr>
          <a:xfrm>
            <a:off x="669924" y="1130300"/>
            <a:ext cx="10850563" cy="0"/>
          </a:xfrm>
          <a:prstGeom prst="line">
            <a:avLst/>
          </a:prstGeom>
          <a:ln w="19050">
            <a:gradFill>
              <a:gsLst>
                <a:gs pos="0">
                  <a:schemeClr val="bg1"/>
                </a:gs>
                <a:gs pos="83000">
                  <a:srgbClr val="0042FF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占位符 17"/>
          <p:cNvSpPr>
            <a:spLocks noGrp="1"/>
          </p:cNvSpPr>
          <p:nvPr>
            <p:ph type="body" sz="quarter" idx="16" hasCustomPrompt="1"/>
          </p:nvPr>
        </p:nvSpPr>
        <p:spPr>
          <a:xfrm>
            <a:off x="669924" y="6476052"/>
            <a:ext cx="9858376" cy="196850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900" kern="1200" dirty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</a:lstStyle>
          <a:p>
            <a:r>
              <a:rPr lang="zh-CN" altLang="en-US" dirty="0"/>
              <a:t>数据来源</a:t>
            </a:r>
            <a:r>
              <a:rPr lang="en-US" altLang="zh-CN" dirty="0"/>
              <a:t>/</a:t>
            </a:r>
            <a:r>
              <a:rPr lang="zh-CN" altLang="en-US" dirty="0"/>
              <a:t>图表来源</a:t>
            </a:r>
            <a:r>
              <a:rPr lang="en-US" altLang="zh-CN" dirty="0"/>
              <a:t>/</a:t>
            </a:r>
            <a:r>
              <a:rPr lang="zh-CN" altLang="en-US" dirty="0"/>
              <a:t>资料来源：图表或数据资料来源</a:t>
            </a:r>
            <a:r>
              <a:rPr lang="en-US" altLang="zh-CN" dirty="0"/>
              <a:t>-9pt</a:t>
            </a:r>
            <a:endParaRPr lang="zh-CN" altLang="en-US" dirty="0"/>
          </a:p>
        </p:txBody>
      </p:sp>
      <p:sp>
        <p:nvSpPr>
          <p:cNvPr id="15" name="文本占位符 13"/>
          <p:cNvSpPr>
            <a:spLocks noGrp="1"/>
          </p:cNvSpPr>
          <p:nvPr>
            <p:ph type="body" sz="quarter" idx="15" hasCustomPrompt="1"/>
          </p:nvPr>
        </p:nvSpPr>
        <p:spPr>
          <a:xfrm>
            <a:off x="669924" y="6019800"/>
            <a:ext cx="9867900" cy="434662"/>
          </a:xfrm>
        </p:spPr>
        <p:txBody>
          <a:bodyPr anchor="ctr">
            <a:noAutofit/>
          </a:bodyPr>
          <a:lstStyle>
            <a:lvl1pPr marL="228600" indent="-228600" algn="l">
              <a:lnSpc>
                <a:spcPct val="50000"/>
              </a:lnSpc>
              <a:buFont typeface="+mj-lt"/>
              <a:buAutoNum type="arabicPeriod"/>
              <a:defRPr sz="900">
                <a:latin typeface="+mn-ea"/>
                <a:ea typeface="+mn-ea"/>
              </a:defRPr>
            </a:lvl1pPr>
          </a:lstStyle>
          <a:p>
            <a:r>
              <a:rPr lang="zh-CN" altLang="en-US" dirty="0"/>
              <a:t>此处为正文中专业术语或句子的解释说明 ，有多个注释可多行，并自行设置角标序号</a:t>
            </a:r>
            <a:r>
              <a:rPr lang="en-US" altLang="zh-CN" dirty="0"/>
              <a:t> -9pt</a:t>
            </a:r>
            <a:endParaRPr lang="en-US" altLang="zh-CN" dirty="0"/>
          </a:p>
        </p:txBody>
      </p:sp>
      <p:sp>
        <p:nvSpPr>
          <p:cNvPr id="17" name="文本占位符 8"/>
          <p:cNvSpPr>
            <a:spLocks noGrp="1"/>
          </p:cNvSpPr>
          <p:nvPr>
            <p:ph type="body" sz="quarter" idx="17" hasCustomPrompt="1"/>
          </p:nvPr>
        </p:nvSpPr>
        <p:spPr>
          <a:xfrm>
            <a:off x="658813" y="1870394"/>
            <a:ext cx="5341199" cy="3849687"/>
          </a:xfrm>
        </p:spPr>
        <p:txBody>
          <a:bodyPr>
            <a:normAutofit/>
          </a:bodyPr>
          <a:lstStyle>
            <a:lvl1pPr marL="0" indent="0">
              <a:buNone/>
              <a:defRPr sz="1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单击此处编辑文本</a:t>
            </a:r>
            <a:r>
              <a:rPr lang="en-US" altLang="zh-CN" dirty="0"/>
              <a:t>-</a:t>
            </a:r>
            <a:r>
              <a:rPr lang="zh-CN" altLang="en-US" dirty="0"/>
              <a:t>主文</a:t>
            </a:r>
            <a:r>
              <a:rPr lang="en-US" altLang="zh-CN" dirty="0"/>
              <a:t>14PT</a:t>
            </a:r>
            <a:endParaRPr lang="zh-CN" altLang="en-US" dirty="0"/>
          </a:p>
        </p:txBody>
      </p:sp>
      <p:sp>
        <p:nvSpPr>
          <p:cNvPr id="18" name="文本占位符 8"/>
          <p:cNvSpPr>
            <a:spLocks noGrp="1"/>
          </p:cNvSpPr>
          <p:nvPr>
            <p:ph type="body" sz="quarter" idx="18" hasCustomPrompt="1"/>
          </p:nvPr>
        </p:nvSpPr>
        <p:spPr>
          <a:xfrm>
            <a:off x="6177700" y="1867538"/>
            <a:ext cx="5341199" cy="3849687"/>
          </a:xfrm>
        </p:spPr>
        <p:txBody>
          <a:bodyPr>
            <a:normAutofit/>
          </a:bodyPr>
          <a:lstStyle>
            <a:lvl1pPr marL="0" indent="0">
              <a:buNone/>
              <a:defRPr sz="1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单击此处编辑文本</a:t>
            </a:r>
            <a:r>
              <a:rPr lang="en-US" altLang="zh-CN" dirty="0"/>
              <a:t>-</a:t>
            </a:r>
            <a:r>
              <a:rPr lang="zh-CN" altLang="en-US" dirty="0"/>
              <a:t>主文</a:t>
            </a:r>
            <a:r>
              <a:rPr lang="en-US" altLang="zh-CN" dirty="0"/>
              <a:t>14PT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内页版式-左右1: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单击此处编辑标题样式</a:t>
            </a:r>
            <a:r>
              <a:rPr lang="en-US" altLang="zh-CN" dirty="0"/>
              <a:t>-24pt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 hasCustomPrompt="1"/>
          </p:nvPr>
        </p:nvSpPr>
        <p:spPr>
          <a:xfrm>
            <a:off x="660401" y="1266657"/>
            <a:ext cx="3362960" cy="362343"/>
          </a:xfrm>
          <a:noFill/>
        </p:spPr>
        <p:txBody>
          <a:bodyPr wrap="square">
            <a:noAutofit/>
          </a:bodyPr>
          <a:lstStyle>
            <a:lvl1pPr marL="0" indent="0" algn="just">
              <a:lnSpc>
                <a:spcPct val="120000"/>
              </a:lnSpc>
              <a:spcBef>
                <a:spcPts val="0"/>
              </a:spcBef>
              <a:buFontTx/>
              <a:buNone/>
              <a:defRPr sz="1600" b="1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此处添加本页重要观点</a:t>
            </a:r>
            <a:r>
              <a:rPr lang="en-US" altLang="zh-CN" dirty="0"/>
              <a:t>1-16pt</a:t>
            </a:r>
            <a:endParaRPr lang="en-US" altLang="zh-CN" dirty="0"/>
          </a:p>
        </p:txBody>
      </p:sp>
      <p:sp>
        <p:nvSpPr>
          <p:cNvPr id="6" name="文本占位符 4"/>
          <p:cNvSpPr>
            <a:spLocks noGrp="1"/>
          </p:cNvSpPr>
          <p:nvPr>
            <p:ph type="body" sz="quarter" idx="14" hasCustomPrompt="1"/>
          </p:nvPr>
        </p:nvSpPr>
        <p:spPr>
          <a:xfrm>
            <a:off x="4907281" y="1266657"/>
            <a:ext cx="6611620" cy="362343"/>
          </a:xfrm>
          <a:noFill/>
        </p:spPr>
        <p:txBody>
          <a:bodyPr wrap="square">
            <a:noAutofit/>
          </a:bodyPr>
          <a:lstStyle>
            <a:lvl1pPr marL="0" indent="0" algn="just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此处添加本页重要观点</a:t>
            </a:r>
            <a:r>
              <a:rPr lang="en-US" altLang="zh-CN" dirty="0"/>
              <a:t>2-16pt</a:t>
            </a:r>
            <a:endParaRPr lang="en-US" altLang="zh-CN" dirty="0"/>
          </a:p>
        </p:txBody>
      </p:sp>
      <p:cxnSp>
        <p:nvCxnSpPr>
          <p:cNvPr id="4" name="直接连接符 6"/>
          <p:cNvCxnSpPr/>
          <p:nvPr userDrawn="1"/>
        </p:nvCxnSpPr>
        <p:spPr>
          <a:xfrm>
            <a:off x="669924" y="6462082"/>
            <a:ext cx="10850563" cy="0"/>
          </a:xfrm>
          <a:prstGeom prst="line">
            <a:avLst/>
          </a:prstGeom>
          <a:ln w="19050">
            <a:gradFill>
              <a:gsLst>
                <a:gs pos="0">
                  <a:schemeClr val="bg1"/>
                </a:gs>
                <a:gs pos="83000">
                  <a:srgbClr val="0042FF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 userDrawn="1"/>
        </p:nvSpPr>
        <p:spPr>
          <a:xfrm>
            <a:off x="11194812" y="6225703"/>
            <a:ext cx="240189" cy="240189"/>
          </a:xfrm>
          <a:prstGeom prst="rect">
            <a:avLst/>
          </a:prstGeom>
          <a:solidFill>
            <a:srgbClr val="FF42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110913" y="6237847"/>
            <a:ext cx="407987" cy="215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CN" altLang="en-US" sz="900" b="0" smtClean="0">
                <a:solidFill>
                  <a:schemeClr val="bg1"/>
                </a:solidFill>
              </a:defRPr>
            </a:lvl1pPr>
          </a:lstStyle>
          <a:p>
            <a:fld id="{7F65B630-C7FF-41C0-9923-C5E5E29EED81}" type="slidenum">
              <a:rPr lang="en-US" altLang="zh-CN" smtClean="0"/>
            </a:fld>
            <a:endParaRPr lang="en-US" altLang="zh-CN" dirty="0"/>
          </a:p>
        </p:txBody>
      </p:sp>
      <p:sp>
        <p:nvSpPr>
          <p:cNvPr id="16" name="文本框 15"/>
          <p:cNvSpPr txBox="1"/>
          <p:nvPr userDrawn="1"/>
        </p:nvSpPr>
        <p:spPr>
          <a:xfrm>
            <a:off x="10594916" y="6469702"/>
            <a:ext cx="127184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800" dirty="0">
                <a:latin typeface="+mn-lt"/>
                <a:ea typeface="Songti SC" panose="02010600040101010101" pitchFamily="2" charset="-122"/>
              </a:rPr>
              <a:t>www.ciicmc.com</a:t>
            </a:r>
            <a:endParaRPr lang="zh-CN" altLang="en-US" sz="800" dirty="0">
              <a:latin typeface="+mn-lt"/>
              <a:ea typeface="Songti SC" panose="02010600040101010101" pitchFamily="2" charset="-122"/>
            </a:endParaRPr>
          </a:p>
        </p:txBody>
      </p:sp>
      <p:cxnSp>
        <p:nvCxnSpPr>
          <p:cNvPr id="19" name="直接连接符 6"/>
          <p:cNvCxnSpPr/>
          <p:nvPr userDrawn="1"/>
        </p:nvCxnSpPr>
        <p:spPr>
          <a:xfrm>
            <a:off x="669924" y="1130300"/>
            <a:ext cx="10850563" cy="0"/>
          </a:xfrm>
          <a:prstGeom prst="line">
            <a:avLst/>
          </a:prstGeom>
          <a:ln w="19050">
            <a:gradFill>
              <a:gsLst>
                <a:gs pos="0">
                  <a:schemeClr val="bg1"/>
                </a:gs>
                <a:gs pos="83000">
                  <a:srgbClr val="0042FF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占位符 17"/>
          <p:cNvSpPr>
            <a:spLocks noGrp="1"/>
          </p:cNvSpPr>
          <p:nvPr>
            <p:ph type="body" sz="quarter" idx="16" hasCustomPrompt="1"/>
          </p:nvPr>
        </p:nvSpPr>
        <p:spPr>
          <a:xfrm>
            <a:off x="669924" y="6476052"/>
            <a:ext cx="9858376" cy="196850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900" kern="1200" dirty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</a:lstStyle>
          <a:p>
            <a:r>
              <a:rPr lang="zh-CN" altLang="en-US" dirty="0"/>
              <a:t>数据来源</a:t>
            </a:r>
            <a:r>
              <a:rPr lang="en-US" altLang="zh-CN" dirty="0"/>
              <a:t>/</a:t>
            </a:r>
            <a:r>
              <a:rPr lang="zh-CN" altLang="en-US" dirty="0"/>
              <a:t>图表来源</a:t>
            </a:r>
            <a:r>
              <a:rPr lang="en-US" altLang="zh-CN" dirty="0"/>
              <a:t>/</a:t>
            </a:r>
            <a:r>
              <a:rPr lang="zh-CN" altLang="en-US" dirty="0"/>
              <a:t>资料来源：图表或数据资料来源</a:t>
            </a:r>
            <a:r>
              <a:rPr lang="en-US" altLang="zh-CN" dirty="0"/>
              <a:t>-9pt</a:t>
            </a:r>
            <a:endParaRPr lang="zh-CN" altLang="en-US" dirty="0"/>
          </a:p>
        </p:txBody>
      </p:sp>
      <p:sp>
        <p:nvSpPr>
          <p:cNvPr id="15" name="文本占位符 13"/>
          <p:cNvSpPr>
            <a:spLocks noGrp="1"/>
          </p:cNvSpPr>
          <p:nvPr>
            <p:ph type="body" sz="quarter" idx="15" hasCustomPrompt="1"/>
          </p:nvPr>
        </p:nvSpPr>
        <p:spPr>
          <a:xfrm>
            <a:off x="669924" y="6019800"/>
            <a:ext cx="9867900" cy="434662"/>
          </a:xfrm>
        </p:spPr>
        <p:txBody>
          <a:bodyPr anchor="ctr">
            <a:noAutofit/>
          </a:bodyPr>
          <a:lstStyle>
            <a:lvl1pPr marL="228600" indent="-228600" algn="l">
              <a:lnSpc>
                <a:spcPct val="50000"/>
              </a:lnSpc>
              <a:buFont typeface="+mj-lt"/>
              <a:buAutoNum type="arabicPeriod"/>
              <a:defRPr sz="900">
                <a:latin typeface="+mn-ea"/>
                <a:ea typeface="+mn-ea"/>
              </a:defRPr>
            </a:lvl1pPr>
          </a:lstStyle>
          <a:p>
            <a:r>
              <a:rPr lang="zh-CN" altLang="en-US" dirty="0"/>
              <a:t>此处为正文中专业术语或句子的解释说明 ，有多个注释可多行，并自行设置角标序号</a:t>
            </a:r>
            <a:r>
              <a:rPr lang="en-US" altLang="zh-CN" dirty="0"/>
              <a:t> -9pt</a:t>
            </a:r>
            <a:endParaRPr lang="en-US" altLang="zh-CN" dirty="0"/>
          </a:p>
        </p:txBody>
      </p:sp>
      <p:sp>
        <p:nvSpPr>
          <p:cNvPr id="11" name="文本占位符 8"/>
          <p:cNvSpPr>
            <a:spLocks noGrp="1"/>
          </p:cNvSpPr>
          <p:nvPr>
            <p:ph type="body" sz="quarter" idx="17" hasCustomPrompt="1"/>
          </p:nvPr>
        </p:nvSpPr>
        <p:spPr>
          <a:xfrm>
            <a:off x="658814" y="1870394"/>
            <a:ext cx="3362960" cy="3849687"/>
          </a:xfrm>
        </p:spPr>
        <p:txBody>
          <a:bodyPr>
            <a:normAutofit/>
          </a:bodyPr>
          <a:lstStyle>
            <a:lvl1pPr marL="0" indent="0">
              <a:buNone/>
              <a:defRPr sz="1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单击此处编辑文本</a:t>
            </a:r>
            <a:r>
              <a:rPr lang="en-US" altLang="zh-CN" dirty="0"/>
              <a:t>-</a:t>
            </a:r>
            <a:r>
              <a:rPr lang="zh-CN" altLang="en-US" dirty="0"/>
              <a:t>主文</a:t>
            </a:r>
            <a:r>
              <a:rPr lang="en-US" altLang="zh-CN" dirty="0"/>
              <a:t>14PT</a:t>
            </a:r>
            <a:endParaRPr lang="zh-CN" altLang="en-US" dirty="0"/>
          </a:p>
        </p:txBody>
      </p:sp>
      <p:sp>
        <p:nvSpPr>
          <p:cNvPr id="12" name="文本占位符 8"/>
          <p:cNvSpPr>
            <a:spLocks noGrp="1"/>
          </p:cNvSpPr>
          <p:nvPr>
            <p:ph type="body" sz="quarter" idx="18" hasCustomPrompt="1"/>
          </p:nvPr>
        </p:nvSpPr>
        <p:spPr>
          <a:xfrm>
            <a:off x="4907280" y="1870394"/>
            <a:ext cx="6625907" cy="3849687"/>
          </a:xfrm>
        </p:spPr>
        <p:txBody>
          <a:bodyPr>
            <a:normAutofit/>
          </a:bodyPr>
          <a:lstStyle>
            <a:lvl1pPr marL="0" indent="0">
              <a:buNone/>
              <a:defRPr sz="1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单击此处编辑文本</a:t>
            </a:r>
            <a:r>
              <a:rPr lang="en-US" altLang="zh-CN" dirty="0"/>
              <a:t>-</a:t>
            </a:r>
            <a:r>
              <a:rPr lang="zh-CN" altLang="en-US" dirty="0"/>
              <a:t>主文</a:t>
            </a:r>
            <a:r>
              <a:rPr lang="en-US" altLang="zh-CN" dirty="0"/>
              <a:t>14PT</a:t>
            </a:r>
            <a:endParaRPr lang="zh-CN" altLang="en-US" dirty="0"/>
          </a:p>
        </p:txBody>
      </p:sp>
      <p:cxnSp>
        <p:nvCxnSpPr>
          <p:cNvPr id="18" name="直接连接符 17"/>
          <p:cNvCxnSpPr/>
          <p:nvPr userDrawn="1"/>
        </p:nvCxnSpPr>
        <p:spPr>
          <a:xfrm>
            <a:off x="4472940" y="1629000"/>
            <a:ext cx="0" cy="4091081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内页版式-左右2: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0399" y="0"/>
            <a:ext cx="10858500" cy="1028700"/>
          </a:xfrm>
        </p:spPr>
        <p:txBody>
          <a:bodyPr/>
          <a:lstStyle/>
          <a:p>
            <a:r>
              <a:rPr lang="zh-CN" altLang="en-US" dirty="0"/>
              <a:t>单击此处编辑标题样式</a:t>
            </a:r>
            <a:r>
              <a:rPr lang="en-US" altLang="zh-CN" dirty="0"/>
              <a:t>-24pt</a:t>
            </a:r>
            <a:endParaRPr lang="en-US" dirty="0"/>
          </a:p>
        </p:txBody>
      </p:sp>
      <p:cxnSp>
        <p:nvCxnSpPr>
          <p:cNvPr id="4" name="直接连接符 6"/>
          <p:cNvCxnSpPr/>
          <p:nvPr userDrawn="1"/>
        </p:nvCxnSpPr>
        <p:spPr>
          <a:xfrm>
            <a:off x="669924" y="6462082"/>
            <a:ext cx="10850563" cy="0"/>
          </a:xfrm>
          <a:prstGeom prst="line">
            <a:avLst/>
          </a:prstGeom>
          <a:ln w="19050">
            <a:gradFill>
              <a:gsLst>
                <a:gs pos="0">
                  <a:schemeClr val="bg1"/>
                </a:gs>
                <a:gs pos="83000">
                  <a:srgbClr val="0042FF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 userDrawn="1"/>
        </p:nvSpPr>
        <p:spPr>
          <a:xfrm>
            <a:off x="11194812" y="6225703"/>
            <a:ext cx="240189" cy="240189"/>
          </a:xfrm>
          <a:prstGeom prst="rect">
            <a:avLst/>
          </a:prstGeom>
          <a:solidFill>
            <a:srgbClr val="FF42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110913" y="6237847"/>
            <a:ext cx="407987" cy="215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CN" altLang="en-US" sz="900" b="0" smtClean="0">
                <a:solidFill>
                  <a:schemeClr val="bg1"/>
                </a:solidFill>
              </a:defRPr>
            </a:lvl1pPr>
          </a:lstStyle>
          <a:p>
            <a:fld id="{7F65B630-C7FF-41C0-9923-C5E5E29EED81}" type="slidenum">
              <a:rPr lang="en-US" altLang="zh-CN" smtClean="0"/>
            </a:fld>
            <a:endParaRPr lang="en-US" altLang="zh-CN" dirty="0"/>
          </a:p>
        </p:txBody>
      </p:sp>
      <p:sp>
        <p:nvSpPr>
          <p:cNvPr id="16" name="文本框 15"/>
          <p:cNvSpPr txBox="1"/>
          <p:nvPr userDrawn="1"/>
        </p:nvSpPr>
        <p:spPr>
          <a:xfrm>
            <a:off x="10594916" y="6469702"/>
            <a:ext cx="127184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800" dirty="0">
                <a:latin typeface="+mn-lt"/>
                <a:ea typeface="Songti SC" panose="02010600040101010101" pitchFamily="2" charset="-122"/>
              </a:rPr>
              <a:t>www.ciicmc.com</a:t>
            </a:r>
            <a:endParaRPr lang="zh-CN" altLang="en-US" sz="800" dirty="0">
              <a:latin typeface="+mn-lt"/>
              <a:ea typeface="Songti SC" panose="02010600040101010101" pitchFamily="2" charset="-122"/>
            </a:endParaRPr>
          </a:p>
        </p:txBody>
      </p:sp>
      <p:cxnSp>
        <p:nvCxnSpPr>
          <p:cNvPr id="19" name="直接连接符 6"/>
          <p:cNvCxnSpPr/>
          <p:nvPr userDrawn="1"/>
        </p:nvCxnSpPr>
        <p:spPr>
          <a:xfrm>
            <a:off x="669924" y="1130300"/>
            <a:ext cx="10850563" cy="0"/>
          </a:xfrm>
          <a:prstGeom prst="line">
            <a:avLst/>
          </a:prstGeom>
          <a:ln w="19050">
            <a:gradFill>
              <a:gsLst>
                <a:gs pos="0">
                  <a:schemeClr val="bg1"/>
                </a:gs>
                <a:gs pos="83000">
                  <a:srgbClr val="0042FF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占位符 17"/>
          <p:cNvSpPr>
            <a:spLocks noGrp="1"/>
          </p:cNvSpPr>
          <p:nvPr>
            <p:ph type="body" sz="quarter" idx="16" hasCustomPrompt="1"/>
          </p:nvPr>
        </p:nvSpPr>
        <p:spPr>
          <a:xfrm>
            <a:off x="669924" y="6476052"/>
            <a:ext cx="9858376" cy="196850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900" kern="1200" dirty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</a:lstStyle>
          <a:p>
            <a:r>
              <a:rPr lang="zh-CN" altLang="en-US" dirty="0"/>
              <a:t>数据来源</a:t>
            </a:r>
            <a:r>
              <a:rPr lang="en-US" altLang="zh-CN" dirty="0"/>
              <a:t>/</a:t>
            </a:r>
            <a:r>
              <a:rPr lang="zh-CN" altLang="en-US" dirty="0"/>
              <a:t>图表来源</a:t>
            </a:r>
            <a:r>
              <a:rPr lang="en-US" altLang="zh-CN" dirty="0"/>
              <a:t>/</a:t>
            </a:r>
            <a:r>
              <a:rPr lang="zh-CN" altLang="en-US" dirty="0"/>
              <a:t>资料来源：图表或数据资料来源</a:t>
            </a:r>
            <a:r>
              <a:rPr lang="en-US" altLang="zh-CN" dirty="0"/>
              <a:t>-9pt</a:t>
            </a:r>
            <a:endParaRPr lang="zh-CN" altLang="en-US" dirty="0"/>
          </a:p>
        </p:txBody>
      </p:sp>
      <p:sp>
        <p:nvSpPr>
          <p:cNvPr id="15" name="文本占位符 13"/>
          <p:cNvSpPr>
            <a:spLocks noGrp="1"/>
          </p:cNvSpPr>
          <p:nvPr>
            <p:ph type="body" sz="quarter" idx="15" hasCustomPrompt="1"/>
          </p:nvPr>
        </p:nvSpPr>
        <p:spPr>
          <a:xfrm>
            <a:off x="669924" y="6019800"/>
            <a:ext cx="9867900" cy="434662"/>
          </a:xfrm>
        </p:spPr>
        <p:txBody>
          <a:bodyPr anchor="ctr">
            <a:noAutofit/>
          </a:bodyPr>
          <a:lstStyle>
            <a:lvl1pPr marL="228600" indent="-228600" algn="l">
              <a:lnSpc>
                <a:spcPct val="50000"/>
              </a:lnSpc>
              <a:buFont typeface="+mj-lt"/>
              <a:buAutoNum type="arabicPeriod"/>
              <a:defRPr sz="900">
                <a:latin typeface="+mn-ea"/>
                <a:ea typeface="+mn-ea"/>
              </a:defRPr>
            </a:lvl1pPr>
          </a:lstStyle>
          <a:p>
            <a:r>
              <a:rPr lang="zh-CN" altLang="en-US" dirty="0"/>
              <a:t>此处为正文中专业术语或句子的解释说明 ，有多个注释可多行，并自行设置角标序号</a:t>
            </a:r>
            <a:r>
              <a:rPr lang="en-US" altLang="zh-CN" dirty="0"/>
              <a:t> -9pt</a:t>
            </a:r>
            <a:endParaRPr lang="en-US" altLang="zh-CN" dirty="0"/>
          </a:p>
        </p:txBody>
      </p:sp>
      <p:cxnSp>
        <p:nvCxnSpPr>
          <p:cNvPr id="17" name="直接连接符 16"/>
          <p:cNvCxnSpPr/>
          <p:nvPr userDrawn="1"/>
        </p:nvCxnSpPr>
        <p:spPr>
          <a:xfrm>
            <a:off x="7711440" y="1629000"/>
            <a:ext cx="0" cy="4091081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占位符 4"/>
          <p:cNvSpPr>
            <a:spLocks noGrp="1"/>
          </p:cNvSpPr>
          <p:nvPr>
            <p:ph type="body" sz="quarter" idx="14" hasCustomPrompt="1"/>
          </p:nvPr>
        </p:nvSpPr>
        <p:spPr>
          <a:xfrm>
            <a:off x="660399" y="1266657"/>
            <a:ext cx="6611620" cy="362343"/>
          </a:xfrm>
          <a:noFill/>
        </p:spPr>
        <p:txBody>
          <a:bodyPr wrap="square">
            <a:noAutofit/>
          </a:bodyPr>
          <a:lstStyle>
            <a:lvl1pPr marL="0" indent="0" algn="just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此处添加本页重要观点</a:t>
            </a:r>
            <a:r>
              <a:rPr lang="en-US" altLang="zh-CN" dirty="0"/>
              <a:t>1-16pt</a:t>
            </a:r>
            <a:endParaRPr lang="en-US" altLang="zh-CN" dirty="0"/>
          </a:p>
        </p:txBody>
      </p:sp>
      <p:sp>
        <p:nvSpPr>
          <p:cNvPr id="5" name="文本占位符 8"/>
          <p:cNvSpPr>
            <a:spLocks noGrp="1"/>
          </p:cNvSpPr>
          <p:nvPr>
            <p:ph type="body" sz="quarter" idx="18" hasCustomPrompt="1"/>
          </p:nvPr>
        </p:nvSpPr>
        <p:spPr>
          <a:xfrm>
            <a:off x="660399" y="1870394"/>
            <a:ext cx="6625907" cy="3849687"/>
          </a:xfrm>
        </p:spPr>
        <p:txBody>
          <a:bodyPr>
            <a:normAutofit/>
          </a:bodyPr>
          <a:lstStyle>
            <a:lvl1pPr marL="0" indent="0">
              <a:buNone/>
              <a:defRPr sz="1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单击此处编辑文本</a:t>
            </a:r>
            <a:r>
              <a:rPr lang="en-US" altLang="zh-CN" dirty="0"/>
              <a:t>-</a:t>
            </a:r>
            <a:r>
              <a:rPr lang="zh-CN" altLang="en-US" dirty="0"/>
              <a:t>主文</a:t>
            </a:r>
            <a:r>
              <a:rPr lang="en-US" altLang="zh-CN" dirty="0"/>
              <a:t>14PT</a:t>
            </a:r>
            <a:endParaRPr lang="zh-CN" altLang="en-US" dirty="0"/>
          </a:p>
        </p:txBody>
      </p:sp>
      <p:sp>
        <p:nvSpPr>
          <p:cNvPr id="8" name="文本占位符 4"/>
          <p:cNvSpPr>
            <a:spLocks noGrp="1"/>
          </p:cNvSpPr>
          <p:nvPr>
            <p:ph type="body" sz="quarter" idx="13" hasCustomPrompt="1"/>
          </p:nvPr>
        </p:nvSpPr>
        <p:spPr>
          <a:xfrm>
            <a:off x="8155939" y="1266657"/>
            <a:ext cx="3362960" cy="362343"/>
          </a:xfrm>
          <a:noFill/>
        </p:spPr>
        <p:txBody>
          <a:bodyPr wrap="square">
            <a:noAutofit/>
          </a:bodyPr>
          <a:lstStyle>
            <a:lvl1pPr marL="0" indent="0" algn="just">
              <a:lnSpc>
                <a:spcPct val="120000"/>
              </a:lnSpc>
              <a:spcBef>
                <a:spcPts val="0"/>
              </a:spcBef>
              <a:buFontTx/>
              <a:buNone/>
              <a:defRPr sz="1600" b="1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此处添加本页重要观点</a:t>
            </a:r>
            <a:r>
              <a:rPr lang="en-US" altLang="zh-CN" dirty="0"/>
              <a:t>2-16pt</a:t>
            </a:r>
            <a:endParaRPr lang="en-US" altLang="zh-CN" dirty="0"/>
          </a:p>
        </p:txBody>
      </p:sp>
      <p:sp>
        <p:nvSpPr>
          <p:cNvPr id="11" name="文本占位符 8"/>
          <p:cNvSpPr>
            <a:spLocks noGrp="1"/>
          </p:cNvSpPr>
          <p:nvPr>
            <p:ph type="body" sz="quarter" idx="17" hasCustomPrompt="1"/>
          </p:nvPr>
        </p:nvSpPr>
        <p:spPr>
          <a:xfrm>
            <a:off x="8155939" y="1870394"/>
            <a:ext cx="3362960" cy="3849687"/>
          </a:xfrm>
        </p:spPr>
        <p:txBody>
          <a:bodyPr>
            <a:normAutofit/>
          </a:bodyPr>
          <a:lstStyle>
            <a:lvl1pPr marL="0" indent="0">
              <a:buNone/>
              <a:defRPr sz="1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单击此处编辑文本</a:t>
            </a:r>
            <a:r>
              <a:rPr lang="en-US" altLang="zh-CN" dirty="0"/>
              <a:t>-</a:t>
            </a:r>
            <a:r>
              <a:rPr lang="zh-CN" altLang="en-US" dirty="0"/>
              <a:t>主文</a:t>
            </a:r>
            <a:r>
              <a:rPr lang="en-US" altLang="zh-CN" dirty="0"/>
              <a:t>14PT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内页版式-左中右三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单击此处编辑标题样式</a:t>
            </a:r>
            <a:r>
              <a:rPr lang="en-US" altLang="zh-CN" dirty="0"/>
              <a:t>-24pt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 hasCustomPrompt="1"/>
          </p:nvPr>
        </p:nvSpPr>
        <p:spPr>
          <a:xfrm>
            <a:off x="660401" y="1266656"/>
            <a:ext cx="3263900" cy="362343"/>
          </a:xfrm>
          <a:noFill/>
        </p:spPr>
        <p:txBody>
          <a:bodyPr wrap="square">
            <a:noAutofit/>
          </a:bodyPr>
          <a:lstStyle>
            <a:lvl1pPr marL="0" indent="0" algn="just">
              <a:lnSpc>
                <a:spcPct val="120000"/>
              </a:lnSpc>
              <a:spcBef>
                <a:spcPts val="0"/>
              </a:spcBef>
              <a:buFontTx/>
              <a:buNone/>
              <a:defRPr sz="1600" b="1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此处添加本页重要观点</a:t>
            </a:r>
            <a:r>
              <a:rPr lang="en-US" altLang="zh-CN" dirty="0"/>
              <a:t>1-16pt</a:t>
            </a:r>
            <a:endParaRPr lang="en-US" altLang="zh-CN" dirty="0"/>
          </a:p>
        </p:txBody>
      </p:sp>
      <p:cxnSp>
        <p:nvCxnSpPr>
          <p:cNvPr id="4" name="直接连接符 6"/>
          <p:cNvCxnSpPr/>
          <p:nvPr userDrawn="1"/>
        </p:nvCxnSpPr>
        <p:spPr>
          <a:xfrm>
            <a:off x="669924" y="6462082"/>
            <a:ext cx="10850563" cy="0"/>
          </a:xfrm>
          <a:prstGeom prst="line">
            <a:avLst/>
          </a:prstGeom>
          <a:ln w="19050">
            <a:gradFill>
              <a:gsLst>
                <a:gs pos="0">
                  <a:schemeClr val="bg1"/>
                </a:gs>
                <a:gs pos="83000">
                  <a:srgbClr val="0042FF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 userDrawn="1"/>
        </p:nvSpPr>
        <p:spPr>
          <a:xfrm>
            <a:off x="11194812" y="6225703"/>
            <a:ext cx="240189" cy="240189"/>
          </a:xfrm>
          <a:prstGeom prst="rect">
            <a:avLst/>
          </a:prstGeom>
          <a:solidFill>
            <a:srgbClr val="FF42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110913" y="6237847"/>
            <a:ext cx="407987" cy="215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CN" altLang="en-US" sz="900" b="0" smtClean="0">
                <a:solidFill>
                  <a:schemeClr val="bg1"/>
                </a:solidFill>
              </a:defRPr>
            </a:lvl1pPr>
          </a:lstStyle>
          <a:p>
            <a:fld id="{7F65B630-C7FF-41C0-9923-C5E5E29EED81}" type="slidenum">
              <a:rPr lang="en-US" altLang="zh-CN" smtClean="0"/>
            </a:fld>
            <a:endParaRPr lang="en-US" altLang="zh-CN" dirty="0"/>
          </a:p>
        </p:txBody>
      </p:sp>
      <p:sp>
        <p:nvSpPr>
          <p:cNvPr id="16" name="文本框 15"/>
          <p:cNvSpPr txBox="1"/>
          <p:nvPr userDrawn="1"/>
        </p:nvSpPr>
        <p:spPr>
          <a:xfrm>
            <a:off x="10594916" y="6469702"/>
            <a:ext cx="127184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800" dirty="0">
                <a:latin typeface="+mn-lt"/>
                <a:ea typeface="Songti SC" panose="02010600040101010101" pitchFamily="2" charset="-122"/>
              </a:rPr>
              <a:t>www.ciicmc.com</a:t>
            </a:r>
            <a:endParaRPr lang="zh-CN" altLang="en-US" sz="800" dirty="0">
              <a:latin typeface="+mn-lt"/>
              <a:ea typeface="Songti SC" panose="02010600040101010101" pitchFamily="2" charset="-122"/>
            </a:endParaRPr>
          </a:p>
        </p:txBody>
      </p:sp>
      <p:cxnSp>
        <p:nvCxnSpPr>
          <p:cNvPr id="19" name="直接连接符 6"/>
          <p:cNvCxnSpPr/>
          <p:nvPr userDrawn="1"/>
        </p:nvCxnSpPr>
        <p:spPr>
          <a:xfrm>
            <a:off x="669924" y="1130300"/>
            <a:ext cx="10850563" cy="0"/>
          </a:xfrm>
          <a:prstGeom prst="line">
            <a:avLst/>
          </a:prstGeom>
          <a:ln w="19050">
            <a:gradFill>
              <a:gsLst>
                <a:gs pos="0">
                  <a:schemeClr val="bg1"/>
                </a:gs>
                <a:gs pos="83000">
                  <a:srgbClr val="0042FF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占位符 4"/>
          <p:cNvSpPr>
            <a:spLocks noGrp="1"/>
          </p:cNvSpPr>
          <p:nvPr>
            <p:ph type="body" sz="quarter" idx="17" hasCustomPrompt="1"/>
          </p:nvPr>
        </p:nvSpPr>
        <p:spPr>
          <a:xfrm>
            <a:off x="4457700" y="1266656"/>
            <a:ext cx="3263900" cy="362343"/>
          </a:xfrm>
          <a:noFill/>
        </p:spPr>
        <p:txBody>
          <a:bodyPr wrap="square">
            <a:noAutofit/>
          </a:bodyPr>
          <a:lstStyle>
            <a:lvl1pPr marL="0" indent="0" algn="just">
              <a:lnSpc>
                <a:spcPct val="120000"/>
              </a:lnSpc>
              <a:spcBef>
                <a:spcPts val="0"/>
              </a:spcBef>
              <a:buFontTx/>
              <a:buNone/>
              <a:defRPr sz="1600" b="1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此处添加本页重要观点</a:t>
            </a:r>
            <a:r>
              <a:rPr lang="en-US" altLang="zh-CN" dirty="0"/>
              <a:t>2-16pt</a:t>
            </a:r>
            <a:endParaRPr lang="en-US" altLang="zh-CN" dirty="0"/>
          </a:p>
        </p:txBody>
      </p:sp>
      <p:sp>
        <p:nvSpPr>
          <p:cNvPr id="12" name="文本占位符 4"/>
          <p:cNvSpPr>
            <a:spLocks noGrp="1"/>
          </p:cNvSpPr>
          <p:nvPr>
            <p:ph type="body" sz="quarter" idx="18" hasCustomPrompt="1"/>
          </p:nvPr>
        </p:nvSpPr>
        <p:spPr>
          <a:xfrm>
            <a:off x="8254998" y="1266656"/>
            <a:ext cx="3278189" cy="362343"/>
          </a:xfrm>
          <a:noFill/>
        </p:spPr>
        <p:txBody>
          <a:bodyPr wrap="square">
            <a:noAutofit/>
          </a:bodyPr>
          <a:lstStyle>
            <a:lvl1pPr marL="0" indent="0" algn="just">
              <a:lnSpc>
                <a:spcPct val="120000"/>
              </a:lnSpc>
              <a:spcBef>
                <a:spcPts val="0"/>
              </a:spcBef>
              <a:buFontTx/>
              <a:buNone/>
              <a:defRPr sz="1600" b="1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此处添加本页重要观点</a:t>
            </a:r>
            <a:r>
              <a:rPr lang="en-US" altLang="zh-CN" dirty="0"/>
              <a:t>3-16pt</a:t>
            </a:r>
            <a:endParaRPr lang="en-US" altLang="zh-CN" dirty="0"/>
          </a:p>
        </p:txBody>
      </p:sp>
      <p:sp>
        <p:nvSpPr>
          <p:cNvPr id="14" name="文本占位符 17"/>
          <p:cNvSpPr>
            <a:spLocks noGrp="1"/>
          </p:cNvSpPr>
          <p:nvPr>
            <p:ph type="body" sz="quarter" idx="16" hasCustomPrompt="1"/>
          </p:nvPr>
        </p:nvSpPr>
        <p:spPr>
          <a:xfrm>
            <a:off x="669924" y="6476052"/>
            <a:ext cx="9858376" cy="196850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900" kern="1200" dirty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</a:lstStyle>
          <a:p>
            <a:r>
              <a:rPr lang="zh-CN" altLang="en-US" dirty="0"/>
              <a:t>数据来源</a:t>
            </a:r>
            <a:r>
              <a:rPr lang="en-US" altLang="zh-CN" dirty="0"/>
              <a:t>/</a:t>
            </a:r>
            <a:r>
              <a:rPr lang="zh-CN" altLang="en-US" dirty="0"/>
              <a:t>图表来源</a:t>
            </a:r>
            <a:r>
              <a:rPr lang="en-US" altLang="zh-CN" dirty="0"/>
              <a:t>/</a:t>
            </a:r>
            <a:r>
              <a:rPr lang="zh-CN" altLang="en-US" dirty="0"/>
              <a:t>资料来源：图表或数据资料来源</a:t>
            </a:r>
            <a:r>
              <a:rPr lang="en-US" altLang="zh-CN" dirty="0"/>
              <a:t>-9pt</a:t>
            </a:r>
            <a:endParaRPr lang="zh-CN" altLang="en-US" dirty="0"/>
          </a:p>
        </p:txBody>
      </p:sp>
      <p:sp>
        <p:nvSpPr>
          <p:cNvPr id="15" name="文本占位符 13"/>
          <p:cNvSpPr>
            <a:spLocks noGrp="1"/>
          </p:cNvSpPr>
          <p:nvPr>
            <p:ph type="body" sz="quarter" idx="15" hasCustomPrompt="1"/>
          </p:nvPr>
        </p:nvSpPr>
        <p:spPr>
          <a:xfrm>
            <a:off x="669924" y="6019800"/>
            <a:ext cx="9867900" cy="434662"/>
          </a:xfrm>
        </p:spPr>
        <p:txBody>
          <a:bodyPr anchor="ctr">
            <a:noAutofit/>
          </a:bodyPr>
          <a:lstStyle>
            <a:lvl1pPr marL="228600" indent="-228600" algn="l">
              <a:lnSpc>
                <a:spcPct val="50000"/>
              </a:lnSpc>
              <a:buFont typeface="+mj-lt"/>
              <a:buAutoNum type="arabicPeriod"/>
              <a:defRPr sz="900">
                <a:latin typeface="+mn-ea"/>
                <a:ea typeface="+mn-ea"/>
              </a:defRPr>
            </a:lvl1pPr>
          </a:lstStyle>
          <a:p>
            <a:r>
              <a:rPr lang="zh-CN" altLang="en-US" dirty="0"/>
              <a:t>此处为正文中专业术语或句子的解释说明 ，有多个注释可多行，并自行设置角标序号</a:t>
            </a:r>
            <a:r>
              <a:rPr lang="en-US" altLang="zh-CN" dirty="0"/>
              <a:t> -9pt</a:t>
            </a:r>
            <a:endParaRPr lang="en-US" altLang="zh-CN" dirty="0"/>
          </a:p>
        </p:txBody>
      </p:sp>
      <p:sp>
        <p:nvSpPr>
          <p:cNvPr id="17" name="文本占位符 8"/>
          <p:cNvSpPr>
            <a:spLocks noGrp="1"/>
          </p:cNvSpPr>
          <p:nvPr>
            <p:ph type="body" sz="quarter" idx="19" hasCustomPrompt="1"/>
          </p:nvPr>
        </p:nvSpPr>
        <p:spPr>
          <a:xfrm>
            <a:off x="658814" y="1870394"/>
            <a:ext cx="3263900" cy="3849687"/>
          </a:xfrm>
        </p:spPr>
        <p:txBody>
          <a:bodyPr>
            <a:normAutofit/>
          </a:bodyPr>
          <a:lstStyle>
            <a:lvl1pPr marL="0" indent="0">
              <a:buNone/>
              <a:defRPr sz="1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单击此处编辑文本</a:t>
            </a:r>
            <a:r>
              <a:rPr lang="en-US" altLang="zh-CN" dirty="0"/>
              <a:t>-</a:t>
            </a:r>
            <a:r>
              <a:rPr lang="zh-CN" altLang="en-US" dirty="0"/>
              <a:t>主文</a:t>
            </a:r>
            <a:r>
              <a:rPr lang="en-US" altLang="zh-CN" dirty="0"/>
              <a:t>14PT</a:t>
            </a:r>
            <a:endParaRPr lang="zh-CN" altLang="en-US" dirty="0"/>
          </a:p>
        </p:txBody>
      </p:sp>
      <p:sp>
        <p:nvSpPr>
          <p:cNvPr id="18" name="文本占位符 8"/>
          <p:cNvSpPr>
            <a:spLocks noGrp="1"/>
          </p:cNvSpPr>
          <p:nvPr>
            <p:ph type="body" sz="quarter" idx="20" hasCustomPrompt="1"/>
          </p:nvPr>
        </p:nvSpPr>
        <p:spPr>
          <a:xfrm>
            <a:off x="4464050" y="1870394"/>
            <a:ext cx="3263900" cy="3849687"/>
          </a:xfrm>
        </p:spPr>
        <p:txBody>
          <a:bodyPr>
            <a:normAutofit/>
          </a:bodyPr>
          <a:lstStyle>
            <a:lvl1pPr marL="0" indent="0">
              <a:buNone/>
              <a:defRPr sz="1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单击此处编辑文本</a:t>
            </a:r>
            <a:r>
              <a:rPr lang="en-US" altLang="zh-CN" dirty="0"/>
              <a:t>-</a:t>
            </a:r>
            <a:r>
              <a:rPr lang="zh-CN" altLang="en-US" dirty="0"/>
              <a:t>主文</a:t>
            </a:r>
            <a:r>
              <a:rPr lang="en-US" altLang="zh-CN" dirty="0"/>
              <a:t>14PT</a:t>
            </a:r>
            <a:endParaRPr lang="zh-CN" altLang="en-US" dirty="0"/>
          </a:p>
        </p:txBody>
      </p:sp>
      <p:sp>
        <p:nvSpPr>
          <p:cNvPr id="20" name="文本占位符 8"/>
          <p:cNvSpPr>
            <a:spLocks noGrp="1"/>
          </p:cNvSpPr>
          <p:nvPr>
            <p:ph type="body" sz="quarter" idx="21" hasCustomPrompt="1"/>
          </p:nvPr>
        </p:nvSpPr>
        <p:spPr>
          <a:xfrm>
            <a:off x="8254998" y="1866955"/>
            <a:ext cx="3263900" cy="3849687"/>
          </a:xfrm>
        </p:spPr>
        <p:txBody>
          <a:bodyPr>
            <a:normAutofit/>
          </a:bodyPr>
          <a:lstStyle>
            <a:lvl1pPr marL="0" indent="0">
              <a:buNone/>
              <a:defRPr sz="1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单击此处编辑文本</a:t>
            </a:r>
            <a:r>
              <a:rPr lang="en-US" altLang="zh-CN" dirty="0"/>
              <a:t>-</a:t>
            </a:r>
            <a:r>
              <a:rPr lang="zh-CN" altLang="en-US" dirty="0"/>
              <a:t>主文</a:t>
            </a:r>
            <a:r>
              <a:rPr lang="en-US" altLang="zh-CN" dirty="0"/>
              <a:t>14PT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内页布局-右侧强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8350250" y="0"/>
            <a:ext cx="38417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单击此处编辑标题样式</a:t>
            </a:r>
            <a:r>
              <a:rPr lang="en-US" altLang="zh-CN" dirty="0"/>
              <a:t>-24pt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 hasCustomPrompt="1"/>
          </p:nvPr>
        </p:nvSpPr>
        <p:spPr>
          <a:xfrm>
            <a:off x="660400" y="1266656"/>
            <a:ext cx="7067549" cy="362343"/>
          </a:xfrm>
          <a:noFill/>
        </p:spPr>
        <p:txBody>
          <a:bodyPr wrap="square">
            <a:noAutofit/>
          </a:bodyPr>
          <a:lstStyle>
            <a:lvl1pPr marL="0" indent="0" algn="just">
              <a:lnSpc>
                <a:spcPct val="120000"/>
              </a:lnSpc>
              <a:spcBef>
                <a:spcPts val="0"/>
              </a:spcBef>
              <a:buFontTx/>
              <a:buNone/>
              <a:defRPr sz="1600" b="1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此处添加本页重要观点</a:t>
            </a:r>
            <a:r>
              <a:rPr lang="en-US" altLang="zh-CN" dirty="0"/>
              <a:t>1-16pt</a:t>
            </a:r>
            <a:endParaRPr lang="en-US" altLang="zh-CN" dirty="0"/>
          </a:p>
        </p:txBody>
      </p:sp>
      <p:cxnSp>
        <p:nvCxnSpPr>
          <p:cNvPr id="4" name="直接连接符 6"/>
          <p:cNvCxnSpPr/>
          <p:nvPr userDrawn="1"/>
        </p:nvCxnSpPr>
        <p:spPr>
          <a:xfrm flipV="1">
            <a:off x="669924" y="6453747"/>
            <a:ext cx="7200000" cy="8335"/>
          </a:xfrm>
          <a:prstGeom prst="line">
            <a:avLst/>
          </a:prstGeom>
          <a:ln w="19050">
            <a:gradFill>
              <a:gsLst>
                <a:gs pos="0">
                  <a:schemeClr val="bg1"/>
                </a:gs>
                <a:gs pos="83000">
                  <a:srgbClr val="0042FF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 userDrawn="1"/>
        </p:nvSpPr>
        <p:spPr>
          <a:xfrm>
            <a:off x="11194812" y="6225703"/>
            <a:ext cx="240189" cy="240189"/>
          </a:xfrm>
          <a:prstGeom prst="rect">
            <a:avLst/>
          </a:prstGeom>
          <a:solidFill>
            <a:srgbClr val="FF42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110913" y="6237847"/>
            <a:ext cx="407987" cy="215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CN" altLang="en-US" sz="900" b="0" smtClean="0">
                <a:solidFill>
                  <a:schemeClr val="bg1"/>
                </a:solidFill>
              </a:defRPr>
            </a:lvl1pPr>
          </a:lstStyle>
          <a:p>
            <a:fld id="{7F65B630-C7FF-41C0-9923-C5E5E29EED81}" type="slidenum">
              <a:rPr lang="en-US" altLang="zh-CN" smtClean="0"/>
            </a:fld>
            <a:endParaRPr lang="en-US" altLang="zh-CN" dirty="0"/>
          </a:p>
        </p:txBody>
      </p:sp>
      <p:sp>
        <p:nvSpPr>
          <p:cNvPr id="16" name="文本框 15"/>
          <p:cNvSpPr txBox="1"/>
          <p:nvPr userDrawn="1"/>
        </p:nvSpPr>
        <p:spPr>
          <a:xfrm>
            <a:off x="10594916" y="6469702"/>
            <a:ext cx="127184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800" dirty="0">
                <a:solidFill>
                  <a:schemeClr val="bg1"/>
                </a:solidFill>
                <a:latin typeface="+mn-lt"/>
                <a:ea typeface="Songti SC" panose="02010600040101010101" pitchFamily="2" charset="-122"/>
              </a:rPr>
              <a:t>www.ciicmc.com</a:t>
            </a:r>
            <a:endParaRPr lang="zh-CN" altLang="en-US" sz="800" dirty="0">
              <a:solidFill>
                <a:schemeClr val="bg1"/>
              </a:solidFill>
              <a:latin typeface="+mn-lt"/>
              <a:ea typeface="Songti SC" panose="02010600040101010101" pitchFamily="2" charset="-122"/>
            </a:endParaRPr>
          </a:p>
        </p:txBody>
      </p:sp>
      <p:cxnSp>
        <p:nvCxnSpPr>
          <p:cNvPr id="19" name="直接连接符 6"/>
          <p:cNvCxnSpPr/>
          <p:nvPr userDrawn="1"/>
        </p:nvCxnSpPr>
        <p:spPr>
          <a:xfrm>
            <a:off x="669924" y="1130300"/>
            <a:ext cx="7200000" cy="0"/>
          </a:xfrm>
          <a:prstGeom prst="line">
            <a:avLst/>
          </a:prstGeom>
          <a:ln w="19050">
            <a:gradFill>
              <a:gsLst>
                <a:gs pos="0">
                  <a:schemeClr val="bg1"/>
                </a:gs>
                <a:gs pos="83000">
                  <a:srgbClr val="0042FF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占位符 4"/>
          <p:cNvSpPr>
            <a:spLocks noGrp="1"/>
          </p:cNvSpPr>
          <p:nvPr>
            <p:ph type="body" sz="quarter" idx="18" hasCustomPrompt="1"/>
          </p:nvPr>
        </p:nvSpPr>
        <p:spPr>
          <a:xfrm>
            <a:off x="8643936" y="1266656"/>
            <a:ext cx="2887663" cy="362343"/>
          </a:xfrm>
          <a:noFill/>
        </p:spPr>
        <p:txBody>
          <a:bodyPr wrap="square">
            <a:noAutofit/>
          </a:bodyPr>
          <a:lstStyle>
            <a:lvl1pPr marL="0" indent="0" algn="just">
              <a:lnSpc>
                <a:spcPct val="120000"/>
              </a:lnSpc>
              <a:spcBef>
                <a:spcPts val="0"/>
              </a:spcBef>
              <a:buFontTx/>
              <a:buNone/>
              <a:defRPr sz="16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单击此处添加要点总结（可以是对左侧内容对比或再提炼）</a:t>
            </a:r>
            <a:endParaRPr lang="en-US" altLang="zh-CN" dirty="0"/>
          </a:p>
        </p:txBody>
      </p:sp>
      <p:cxnSp>
        <p:nvCxnSpPr>
          <p:cNvPr id="27" name="直接连接符 6"/>
          <p:cNvCxnSpPr/>
          <p:nvPr userDrawn="1"/>
        </p:nvCxnSpPr>
        <p:spPr>
          <a:xfrm>
            <a:off x="8645524" y="1130300"/>
            <a:ext cx="288766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占位符 17"/>
          <p:cNvSpPr>
            <a:spLocks noGrp="1"/>
          </p:cNvSpPr>
          <p:nvPr>
            <p:ph type="body" sz="quarter" idx="16" hasCustomPrompt="1"/>
          </p:nvPr>
        </p:nvSpPr>
        <p:spPr>
          <a:xfrm>
            <a:off x="669924" y="6476052"/>
            <a:ext cx="7044870" cy="196850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900" kern="1200" dirty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</a:lstStyle>
          <a:p>
            <a:r>
              <a:rPr lang="zh-CN" altLang="en-US" dirty="0"/>
              <a:t>数据来源</a:t>
            </a:r>
            <a:r>
              <a:rPr lang="en-US" altLang="zh-CN" dirty="0"/>
              <a:t>/</a:t>
            </a:r>
            <a:r>
              <a:rPr lang="zh-CN" altLang="en-US" dirty="0"/>
              <a:t>图表来源</a:t>
            </a:r>
            <a:r>
              <a:rPr lang="en-US" altLang="zh-CN" dirty="0"/>
              <a:t>/</a:t>
            </a:r>
            <a:r>
              <a:rPr lang="zh-CN" altLang="en-US" dirty="0"/>
              <a:t>资料来源：图表或数据资料来源</a:t>
            </a:r>
            <a:r>
              <a:rPr lang="en-US" altLang="zh-CN" dirty="0"/>
              <a:t>-9pt</a:t>
            </a:r>
            <a:endParaRPr lang="zh-CN" altLang="en-US" dirty="0"/>
          </a:p>
        </p:txBody>
      </p:sp>
      <p:sp>
        <p:nvSpPr>
          <p:cNvPr id="15" name="文本占位符 13"/>
          <p:cNvSpPr>
            <a:spLocks noGrp="1"/>
          </p:cNvSpPr>
          <p:nvPr>
            <p:ph type="body" sz="quarter" idx="15" hasCustomPrompt="1"/>
          </p:nvPr>
        </p:nvSpPr>
        <p:spPr>
          <a:xfrm>
            <a:off x="669924" y="6019800"/>
            <a:ext cx="7051676" cy="434662"/>
          </a:xfrm>
        </p:spPr>
        <p:txBody>
          <a:bodyPr anchor="ctr">
            <a:noAutofit/>
          </a:bodyPr>
          <a:lstStyle>
            <a:lvl1pPr marL="228600" indent="-228600" algn="l">
              <a:lnSpc>
                <a:spcPct val="50000"/>
              </a:lnSpc>
              <a:buFont typeface="+mj-lt"/>
              <a:buAutoNum type="arabicPeriod"/>
              <a:defRPr sz="900">
                <a:latin typeface="+mn-ea"/>
                <a:ea typeface="+mn-ea"/>
              </a:defRPr>
            </a:lvl1pPr>
          </a:lstStyle>
          <a:p>
            <a:r>
              <a:rPr lang="zh-CN" altLang="en-US" dirty="0"/>
              <a:t>此处为正文中专业术语或句子的解释说明 ，有多个注释可多行，并自行设置角标序号</a:t>
            </a:r>
            <a:r>
              <a:rPr lang="en-US" altLang="zh-CN" dirty="0"/>
              <a:t> -9pt</a:t>
            </a:r>
            <a:endParaRPr lang="en-US" altLang="zh-CN" dirty="0"/>
          </a:p>
        </p:txBody>
      </p:sp>
      <p:sp>
        <p:nvSpPr>
          <p:cNvPr id="17" name="文本占位符 8"/>
          <p:cNvSpPr>
            <a:spLocks noGrp="1"/>
          </p:cNvSpPr>
          <p:nvPr>
            <p:ph type="body" sz="quarter" idx="19" hasCustomPrompt="1"/>
          </p:nvPr>
        </p:nvSpPr>
        <p:spPr>
          <a:xfrm>
            <a:off x="658814" y="1870394"/>
            <a:ext cx="3263900" cy="3849687"/>
          </a:xfrm>
        </p:spPr>
        <p:txBody>
          <a:bodyPr>
            <a:normAutofit/>
          </a:bodyPr>
          <a:lstStyle>
            <a:lvl1pPr marL="0" indent="0">
              <a:buNone/>
              <a:defRPr sz="1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单击此处编辑文本</a:t>
            </a:r>
            <a:r>
              <a:rPr lang="en-US" altLang="zh-CN" dirty="0"/>
              <a:t>-</a:t>
            </a:r>
            <a:r>
              <a:rPr lang="zh-CN" altLang="en-US" dirty="0"/>
              <a:t>主文</a:t>
            </a:r>
            <a:r>
              <a:rPr lang="en-US" altLang="zh-CN" dirty="0"/>
              <a:t>14PT</a:t>
            </a:r>
            <a:endParaRPr lang="zh-CN" altLang="en-US" dirty="0"/>
          </a:p>
        </p:txBody>
      </p:sp>
      <p:sp>
        <p:nvSpPr>
          <p:cNvPr id="18" name="文本占位符 8"/>
          <p:cNvSpPr>
            <a:spLocks noGrp="1"/>
          </p:cNvSpPr>
          <p:nvPr>
            <p:ph type="body" sz="quarter" idx="20" hasCustomPrompt="1"/>
          </p:nvPr>
        </p:nvSpPr>
        <p:spPr>
          <a:xfrm>
            <a:off x="4464050" y="1870394"/>
            <a:ext cx="3263900" cy="3849687"/>
          </a:xfrm>
        </p:spPr>
        <p:txBody>
          <a:bodyPr>
            <a:normAutofit/>
          </a:bodyPr>
          <a:lstStyle>
            <a:lvl1pPr marL="0" indent="0">
              <a:buNone/>
              <a:defRPr sz="1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单击此处编辑文本</a:t>
            </a:r>
            <a:r>
              <a:rPr lang="en-US" altLang="zh-CN" dirty="0"/>
              <a:t>-</a:t>
            </a:r>
            <a:r>
              <a:rPr lang="zh-CN" altLang="en-US" dirty="0"/>
              <a:t>主文</a:t>
            </a:r>
            <a:r>
              <a:rPr lang="en-US" altLang="zh-CN" dirty="0"/>
              <a:t>14PT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内页布局-左侧强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17"/>
          <p:cNvSpPr>
            <a:spLocks noGrp="1"/>
          </p:cNvSpPr>
          <p:nvPr>
            <p:ph type="body" sz="quarter" idx="20" hasCustomPrompt="1"/>
          </p:nvPr>
        </p:nvSpPr>
        <p:spPr>
          <a:xfrm>
            <a:off x="4335144" y="6476052"/>
            <a:ext cx="6570349" cy="196850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900" kern="1200" dirty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</a:lstStyle>
          <a:p>
            <a:r>
              <a:rPr lang="zh-CN" altLang="en-US" dirty="0"/>
              <a:t>数据来源</a:t>
            </a:r>
            <a:r>
              <a:rPr lang="en-US" altLang="zh-CN" dirty="0"/>
              <a:t>/</a:t>
            </a:r>
            <a:r>
              <a:rPr lang="zh-CN" altLang="en-US" dirty="0"/>
              <a:t>图表来源</a:t>
            </a:r>
            <a:r>
              <a:rPr lang="en-US" altLang="zh-CN" dirty="0"/>
              <a:t>/</a:t>
            </a:r>
            <a:r>
              <a:rPr lang="zh-CN" altLang="en-US" dirty="0"/>
              <a:t>资料来源：图表或数据资料来源</a:t>
            </a:r>
            <a:r>
              <a:rPr lang="en-US" altLang="zh-CN" dirty="0"/>
              <a:t>-9pt</a:t>
            </a:r>
            <a:endParaRPr lang="zh-CN" altLang="en-US" dirty="0"/>
          </a:p>
        </p:txBody>
      </p:sp>
      <p:sp>
        <p:nvSpPr>
          <p:cNvPr id="12" name="矩形 11"/>
          <p:cNvSpPr/>
          <p:nvPr userDrawn="1"/>
        </p:nvSpPr>
        <p:spPr>
          <a:xfrm>
            <a:off x="0" y="0"/>
            <a:ext cx="399403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" name="直接连接符 6"/>
          <p:cNvCxnSpPr/>
          <p:nvPr userDrawn="1"/>
        </p:nvCxnSpPr>
        <p:spPr>
          <a:xfrm>
            <a:off x="658813" y="1130300"/>
            <a:ext cx="2884487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标题 1"/>
          <p:cNvSpPr>
            <a:spLocks noGrp="1"/>
          </p:cNvSpPr>
          <p:nvPr>
            <p:ph type="title" hasCustomPrompt="1"/>
          </p:nvPr>
        </p:nvSpPr>
        <p:spPr>
          <a:xfrm>
            <a:off x="4324349" y="0"/>
            <a:ext cx="10858500" cy="1028700"/>
          </a:xfrm>
        </p:spPr>
        <p:txBody>
          <a:bodyPr/>
          <a:lstStyle/>
          <a:p>
            <a:r>
              <a:rPr lang="zh-CN" altLang="en-US" dirty="0"/>
              <a:t>单击此处编辑标题样式</a:t>
            </a:r>
            <a:r>
              <a:rPr lang="en-US" altLang="zh-CN" dirty="0"/>
              <a:t>-24pt</a:t>
            </a:r>
            <a:endParaRPr lang="en-US" dirty="0"/>
          </a:p>
        </p:txBody>
      </p:sp>
      <p:sp>
        <p:nvSpPr>
          <p:cNvPr id="19" name="文本占位符 4"/>
          <p:cNvSpPr>
            <a:spLocks noGrp="1"/>
          </p:cNvSpPr>
          <p:nvPr>
            <p:ph type="body" sz="quarter" idx="13" hasCustomPrompt="1"/>
          </p:nvPr>
        </p:nvSpPr>
        <p:spPr>
          <a:xfrm>
            <a:off x="4324351" y="1266656"/>
            <a:ext cx="3263900" cy="362343"/>
          </a:xfrm>
          <a:noFill/>
        </p:spPr>
        <p:txBody>
          <a:bodyPr wrap="square">
            <a:noAutofit/>
          </a:bodyPr>
          <a:lstStyle>
            <a:lvl1pPr marL="0" indent="0" algn="just">
              <a:lnSpc>
                <a:spcPct val="120000"/>
              </a:lnSpc>
              <a:spcBef>
                <a:spcPts val="0"/>
              </a:spcBef>
              <a:buFontTx/>
              <a:buNone/>
              <a:defRPr sz="1600" b="1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此处添加本页重要观点</a:t>
            </a:r>
            <a:r>
              <a:rPr lang="en-US" altLang="zh-CN" dirty="0"/>
              <a:t>1-16pt</a:t>
            </a:r>
            <a:endParaRPr lang="en-US" altLang="zh-CN" dirty="0"/>
          </a:p>
        </p:txBody>
      </p:sp>
      <p:cxnSp>
        <p:nvCxnSpPr>
          <p:cNvPr id="20" name="直接连接符 6"/>
          <p:cNvCxnSpPr/>
          <p:nvPr userDrawn="1"/>
        </p:nvCxnSpPr>
        <p:spPr>
          <a:xfrm flipV="1">
            <a:off x="4333874" y="6453747"/>
            <a:ext cx="7200000" cy="8335"/>
          </a:xfrm>
          <a:prstGeom prst="line">
            <a:avLst/>
          </a:prstGeom>
          <a:ln w="19050">
            <a:gradFill>
              <a:gsLst>
                <a:gs pos="0">
                  <a:schemeClr val="bg1"/>
                </a:gs>
                <a:gs pos="83000">
                  <a:srgbClr val="0042FF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6"/>
          <p:cNvCxnSpPr/>
          <p:nvPr userDrawn="1"/>
        </p:nvCxnSpPr>
        <p:spPr>
          <a:xfrm>
            <a:off x="4333874" y="1130300"/>
            <a:ext cx="7200000" cy="0"/>
          </a:xfrm>
          <a:prstGeom prst="line">
            <a:avLst/>
          </a:prstGeom>
          <a:ln w="19050">
            <a:gradFill>
              <a:gsLst>
                <a:gs pos="0">
                  <a:schemeClr val="bg1"/>
                </a:gs>
                <a:gs pos="83000">
                  <a:srgbClr val="0042FF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占位符 4"/>
          <p:cNvSpPr>
            <a:spLocks noGrp="1"/>
          </p:cNvSpPr>
          <p:nvPr>
            <p:ph type="body" sz="quarter" idx="17" hasCustomPrompt="1"/>
          </p:nvPr>
        </p:nvSpPr>
        <p:spPr>
          <a:xfrm>
            <a:off x="8121650" y="1266656"/>
            <a:ext cx="3263900" cy="362343"/>
          </a:xfrm>
          <a:noFill/>
        </p:spPr>
        <p:txBody>
          <a:bodyPr wrap="square">
            <a:noAutofit/>
          </a:bodyPr>
          <a:lstStyle>
            <a:lvl1pPr marL="0" indent="0" algn="just">
              <a:lnSpc>
                <a:spcPct val="120000"/>
              </a:lnSpc>
              <a:spcBef>
                <a:spcPts val="0"/>
              </a:spcBef>
              <a:buFontTx/>
              <a:buNone/>
              <a:defRPr sz="1600" b="1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此处添加本页重要观点</a:t>
            </a:r>
            <a:r>
              <a:rPr lang="en-US" altLang="zh-CN" dirty="0"/>
              <a:t>2-16pt</a:t>
            </a:r>
            <a:endParaRPr lang="en-US" altLang="zh-CN" dirty="0"/>
          </a:p>
        </p:txBody>
      </p:sp>
      <p:sp>
        <p:nvSpPr>
          <p:cNvPr id="29" name="矩形 28"/>
          <p:cNvSpPr/>
          <p:nvPr userDrawn="1"/>
        </p:nvSpPr>
        <p:spPr>
          <a:xfrm>
            <a:off x="11194812" y="6225703"/>
            <a:ext cx="240189" cy="240189"/>
          </a:xfrm>
          <a:prstGeom prst="rect">
            <a:avLst/>
          </a:prstGeom>
          <a:solidFill>
            <a:srgbClr val="FF42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110913" y="6237847"/>
            <a:ext cx="407987" cy="215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CN" altLang="en-US" sz="900" b="0" smtClean="0">
                <a:solidFill>
                  <a:schemeClr val="bg1"/>
                </a:solidFill>
              </a:defRPr>
            </a:lvl1pPr>
          </a:lstStyle>
          <a:p>
            <a:fld id="{7F65B630-C7FF-41C0-9923-C5E5E29EED81}" type="slidenum">
              <a:rPr lang="en-US" altLang="zh-CN" smtClean="0"/>
            </a:fld>
            <a:endParaRPr lang="en-US" altLang="zh-CN" dirty="0"/>
          </a:p>
        </p:txBody>
      </p:sp>
      <p:sp>
        <p:nvSpPr>
          <p:cNvPr id="31" name="文本框 30"/>
          <p:cNvSpPr txBox="1"/>
          <p:nvPr userDrawn="1"/>
        </p:nvSpPr>
        <p:spPr>
          <a:xfrm>
            <a:off x="10594916" y="6469702"/>
            <a:ext cx="127184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800" dirty="0">
                <a:latin typeface="+mn-lt"/>
                <a:ea typeface="Songti SC" panose="02010600040101010101" pitchFamily="2" charset="-122"/>
              </a:rPr>
              <a:t>www.ciicmc.com</a:t>
            </a:r>
            <a:endParaRPr lang="zh-CN" altLang="en-US" sz="800" dirty="0">
              <a:latin typeface="+mn-lt"/>
              <a:ea typeface="Songti SC" panose="02010600040101010101" pitchFamily="2" charset="-122"/>
            </a:endParaRPr>
          </a:p>
        </p:txBody>
      </p:sp>
      <p:sp>
        <p:nvSpPr>
          <p:cNvPr id="9" name="文本占位符 13"/>
          <p:cNvSpPr>
            <a:spLocks noGrp="1"/>
          </p:cNvSpPr>
          <p:nvPr>
            <p:ph type="body" sz="quarter" idx="15" hasCustomPrompt="1"/>
          </p:nvPr>
        </p:nvSpPr>
        <p:spPr>
          <a:xfrm>
            <a:off x="4335144" y="6019800"/>
            <a:ext cx="6576696" cy="434662"/>
          </a:xfrm>
        </p:spPr>
        <p:txBody>
          <a:bodyPr anchor="ctr">
            <a:noAutofit/>
          </a:bodyPr>
          <a:lstStyle>
            <a:lvl1pPr marL="228600" indent="-228600" algn="l">
              <a:lnSpc>
                <a:spcPct val="50000"/>
              </a:lnSpc>
              <a:buFont typeface="+mj-lt"/>
              <a:buAutoNum type="arabicPeriod"/>
              <a:defRPr sz="900">
                <a:latin typeface="+mn-ea"/>
                <a:ea typeface="+mn-ea"/>
              </a:defRPr>
            </a:lvl1pPr>
          </a:lstStyle>
          <a:p>
            <a:r>
              <a:rPr lang="zh-CN" altLang="en-US" dirty="0"/>
              <a:t>此处为正文中专业术语或句子的解释说明 ，有多个注释可多行，并自行设置角标序号</a:t>
            </a:r>
            <a:r>
              <a:rPr lang="en-US" altLang="zh-CN" dirty="0"/>
              <a:t> -9pt</a:t>
            </a:r>
            <a:endParaRPr lang="en-US" altLang="zh-CN" dirty="0"/>
          </a:p>
        </p:txBody>
      </p:sp>
      <p:sp>
        <p:nvSpPr>
          <p:cNvPr id="10" name="文本占位符 8"/>
          <p:cNvSpPr>
            <a:spLocks noGrp="1"/>
          </p:cNvSpPr>
          <p:nvPr>
            <p:ph type="body" sz="quarter" idx="19" hasCustomPrompt="1"/>
          </p:nvPr>
        </p:nvSpPr>
        <p:spPr>
          <a:xfrm>
            <a:off x="4315145" y="1870394"/>
            <a:ext cx="3263900" cy="3849687"/>
          </a:xfrm>
        </p:spPr>
        <p:txBody>
          <a:bodyPr>
            <a:normAutofit/>
          </a:bodyPr>
          <a:lstStyle>
            <a:lvl1pPr marL="0" indent="0">
              <a:buNone/>
              <a:defRPr sz="1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单击此处编辑文本</a:t>
            </a:r>
            <a:r>
              <a:rPr lang="en-US" altLang="zh-CN" dirty="0"/>
              <a:t>-</a:t>
            </a:r>
            <a:r>
              <a:rPr lang="zh-CN" altLang="en-US" dirty="0"/>
              <a:t>主文</a:t>
            </a:r>
            <a:r>
              <a:rPr lang="en-US" altLang="zh-CN" dirty="0"/>
              <a:t>14PT</a:t>
            </a:r>
            <a:endParaRPr lang="zh-CN" altLang="en-US" dirty="0"/>
          </a:p>
        </p:txBody>
      </p:sp>
      <p:sp>
        <p:nvSpPr>
          <p:cNvPr id="11" name="文本占位符 8"/>
          <p:cNvSpPr>
            <a:spLocks noGrp="1"/>
          </p:cNvSpPr>
          <p:nvPr>
            <p:ph type="body" sz="quarter" idx="21" hasCustomPrompt="1"/>
          </p:nvPr>
        </p:nvSpPr>
        <p:spPr>
          <a:xfrm>
            <a:off x="8121650" y="1875158"/>
            <a:ext cx="3263900" cy="3849687"/>
          </a:xfrm>
        </p:spPr>
        <p:txBody>
          <a:bodyPr>
            <a:normAutofit/>
          </a:bodyPr>
          <a:lstStyle>
            <a:lvl1pPr marL="0" indent="0">
              <a:buNone/>
              <a:defRPr sz="1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单击此处编辑文本</a:t>
            </a:r>
            <a:r>
              <a:rPr lang="en-US" altLang="zh-CN" dirty="0"/>
              <a:t>-</a:t>
            </a:r>
            <a:r>
              <a:rPr lang="zh-CN" altLang="en-US" dirty="0"/>
              <a:t>主文</a:t>
            </a:r>
            <a:r>
              <a:rPr lang="en-US" altLang="zh-CN" dirty="0"/>
              <a:t>14PT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1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1697" y="509783"/>
            <a:ext cx="1432800" cy="30521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1" y="-1"/>
            <a:ext cx="12192000" cy="1547425"/>
          </a:xfrm>
          <a:prstGeom prst="rect">
            <a:avLst/>
          </a:prstGeom>
          <a:solidFill>
            <a:srgbClr val="014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064"/>
          <a:stretch>
            <a:fillRect/>
          </a:stretch>
        </p:blipFill>
        <p:spPr>
          <a:xfrm>
            <a:off x="0" y="1444584"/>
            <a:ext cx="12192000" cy="5413416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813" y="715604"/>
            <a:ext cx="1431889" cy="313096"/>
          </a:xfrm>
          <a:prstGeom prst="rect">
            <a:avLst/>
          </a:prstGeom>
        </p:spPr>
      </p:pic>
      <p:grpSp>
        <p:nvGrpSpPr>
          <p:cNvPr id="33" name="组合 32"/>
          <p:cNvGrpSpPr/>
          <p:nvPr userDrawn="1"/>
        </p:nvGrpSpPr>
        <p:grpSpPr>
          <a:xfrm>
            <a:off x="658813" y="4664026"/>
            <a:ext cx="1573262" cy="1573262"/>
            <a:chOff x="8163337" y="1676108"/>
            <a:chExt cx="2156775" cy="2156775"/>
          </a:xfrm>
        </p:grpSpPr>
        <p:pic>
          <p:nvPicPr>
            <p:cNvPr id="44" name="图片 43" descr="QR 代码&#10;&#10;描述已自动生成"/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63337" y="1676108"/>
              <a:ext cx="2156775" cy="2156775"/>
            </a:xfrm>
            <a:prstGeom prst="rect">
              <a:avLst/>
            </a:prstGeom>
            <a:ln w="19050">
              <a:noFill/>
            </a:ln>
          </p:spPr>
        </p:pic>
        <p:sp>
          <p:nvSpPr>
            <p:cNvPr id="45" name="矩形: 圆角 44"/>
            <p:cNvSpPr/>
            <p:nvPr userDrawn="1"/>
          </p:nvSpPr>
          <p:spPr>
            <a:xfrm>
              <a:off x="9009552" y="2522323"/>
              <a:ext cx="464343" cy="464343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6" name="组合 45"/>
            <p:cNvGrpSpPr/>
            <p:nvPr userDrawn="1"/>
          </p:nvGrpSpPr>
          <p:grpSpPr>
            <a:xfrm>
              <a:off x="9056077" y="2630509"/>
              <a:ext cx="371292" cy="247972"/>
              <a:chOff x="7823200" y="320494"/>
              <a:chExt cx="594166" cy="396819"/>
            </a:xfrm>
          </p:grpSpPr>
          <p:sp>
            <p:nvSpPr>
              <p:cNvPr id="47" name="Oval 12"/>
              <p:cNvSpPr>
                <a:spLocks noChangeArrowheads="1"/>
              </p:cNvSpPr>
              <p:nvPr/>
            </p:nvSpPr>
            <p:spPr bwMode="auto">
              <a:xfrm>
                <a:off x="8139381" y="320494"/>
                <a:ext cx="67905" cy="72149"/>
              </a:xfrm>
              <a:prstGeom prst="ellipse">
                <a:avLst/>
              </a:prstGeom>
              <a:solidFill>
                <a:srgbClr val="FF4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8" name="Oval 13"/>
              <p:cNvSpPr>
                <a:spLocks noChangeArrowheads="1"/>
              </p:cNvSpPr>
              <p:nvPr/>
            </p:nvSpPr>
            <p:spPr bwMode="auto">
              <a:xfrm>
                <a:off x="8041768" y="369301"/>
                <a:ext cx="65783" cy="67905"/>
              </a:xfrm>
              <a:prstGeom prst="ellipse">
                <a:avLst/>
              </a:prstGeom>
              <a:solidFill>
                <a:srgbClr val="0042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9" name="Rectangle 14"/>
              <p:cNvSpPr>
                <a:spLocks noChangeArrowheads="1"/>
              </p:cNvSpPr>
              <p:nvPr/>
            </p:nvSpPr>
            <p:spPr bwMode="auto">
              <a:xfrm>
                <a:off x="8143625" y="422351"/>
                <a:ext cx="63661" cy="250399"/>
              </a:xfrm>
              <a:prstGeom prst="rect">
                <a:avLst/>
              </a:prstGeom>
              <a:solidFill>
                <a:srgbClr val="0042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0" name="Rectangle 15"/>
              <p:cNvSpPr>
                <a:spLocks noChangeArrowheads="1"/>
              </p:cNvSpPr>
              <p:nvPr/>
            </p:nvSpPr>
            <p:spPr bwMode="auto">
              <a:xfrm>
                <a:off x="8043890" y="469036"/>
                <a:ext cx="63661" cy="248277"/>
              </a:xfrm>
              <a:prstGeom prst="rect">
                <a:avLst/>
              </a:prstGeom>
              <a:solidFill>
                <a:srgbClr val="0042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1" name="Freeform 16"/>
              <p:cNvSpPr/>
              <p:nvPr/>
            </p:nvSpPr>
            <p:spPr bwMode="auto">
              <a:xfrm>
                <a:off x="7823200" y="422351"/>
                <a:ext cx="184616" cy="250399"/>
              </a:xfrm>
              <a:custGeom>
                <a:avLst/>
                <a:gdLst>
                  <a:gd name="T0" fmla="*/ 48 w 50"/>
                  <a:gd name="T1" fmla="*/ 0 h 66"/>
                  <a:gd name="T2" fmla="*/ 42 w 50"/>
                  <a:gd name="T3" fmla="*/ 0 h 66"/>
                  <a:gd name="T4" fmla="*/ 34 w 50"/>
                  <a:gd name="T5" fmla="*/ 0 h 66"/>
                  <a:gd name="T6" fmla="*/ 0 w 50"/>
                  <a:gd name="T7" fmla="*/ 33 h 66"/>
                  <a:gd name="T8" fmla="*/ 34 w 50"/>
                  <a:gd name="T9" fmla="*/ 66 h 66"/>
                  <a:gd name="T10" fmla="*/ 42 w 50"/>
                  <a:gd name="T11" fmla="*/ 66 h 66"/>
                  <a:gd name="T12" fmla="*/ 42 w 50"/>
                  <a:gd name="T13" fmla="*/ 66 h 66"/>
                  <a:gd name="T14" fmla="*/ 50 w 50"/>
                  <a:gd name="T15" fmla="*/ 66 h 66"/>
                  <a:gd name="T16" fmla="*/ 50 w 50"/>
                  <a:gd name="T17" fmla="*/ 64 h 66"/>
                  <a:gd name="T18" fmla="*/ 50 w 50"/>
                  <a:gd name="T19" fmla="*/ 64 h 66"/>
                  <a:gd name="T20" fmla="*/ 50 w 50"/>
                  <a:gd name="T21" fmla="*/ 52 h 66"/>
                  <a:gd name="T22" fmla="*/ 50 w 50"/>
                  <a:gd name="T23" fmla="*/ 49 h 66"/>
                  <a:gd name="T24" fmla="*/ 48 w 50"/>
                  <a:gd name="T25" fmla="*/ 49 h 66"/>
                  <a:gd name="T26" fmla="*/ 48 w 50"/>
                  <a:gd name="T27" fmla="*/ 49 h 66"/>
                  <a:gd name="T28" fmla="*/ 34 w 50"/>
                  <a:gd name="T29" fmla="*/ 49 h 66"/>
                  <a:gd name="T30" fmla="*/ 17 w 50"/>
                  <a:gd name="T31" fmla="*/ 33 h 66"/>
                  <a:gd name="T32" fmla="*/ 34 w 50"/>
                  <a:gd name="T33" fmla="*/ 16 h 66"/>
                  <a:gd name="T34" fmla="*/ 42 w 50"/>
                  <a:gd name="T35" fmla="*/ 16 h 66"/>
                  <a:gd name="T36" fmla="*/ 48 w 50"/>
                  <a:gd name="T37" fmla="*/ 16 h 66"/>
                  <a:gd name="T38" fmla="*/ 50 w 50"/>
                  <a:gd name="T39" fmla="*/ 16 h 66"/>
                  <a:gd name="T40" fmla="*/ 50 w 50"/>
                  <a:gd name="T41" fmla="*/ 14 h 66"/>
                  <a:gd name="T42" fmla="*/ 50 w 50"/>
                  <a:gd name="T43" fmla="*/ 14 h 66"/>
                  <a:gd name="T44" fmla="*/ 50 w 50"/>
                  <a:gd name="T45" fmla="*/ 2 h 66"/>
                  <a:gd name="T46" fmla="*/ 50 w 50"/>
                  <a:gd name="T47" fmla="*/ 0 h 66"/>
                  <a:gd name="T48" fmla="*/ 48 w 50"/>
                  <a:gd name="T49" fmla="*/ 0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50" h="66">
                    <a:moveTo>
                      <a:pt x="48" y="0"/>
                    </a:moveTo>
                    <a:cubicBezTo>
                      <a:pt x="42" y="0"/>
                      <a:pt x="42" y="0"/>
                      <a:pt x="42" y="0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15" y="0"/>
                      <a:pt x="0" y="14"/>
                      <a:pt x="0" y="33"/>
                    </a:cubicBezTo>
                    <a:cubicBezTo>
                      <a:pt x="0" y="51"/>
                      <a:pt x="15" y="66"/>
                      <a:pt x="34" y="66"/>
                    </a:cubicBezTo>
                    <a:cubicBezTo>
                      <a:pt x="42" y="66"/>
                      <a:pt x="42" y="66"/>
                      <a:pt x="42" y="66"/>
                    </a:cubicBezTo>
                    <a:cubicBezTo>
                      <a:pt x="42" y="66"/>
                      <a:pt x="42" y="66"/>
                      <a:pt x="42" y="66"/>
                    </a:cubicBezTo>
                    <a:cubicBezTo>
                      <a:pt x="50" y="66"/>
                      <a:pt x="50" y="66"/>
                      <a:pt x="50" y="66"/>
                    </a:cubicBezTo>
                    <a:cubicBezTo>
                      <a:pt x="50" y="64"/>
                      <a:pt x="50" y="64"/>
                      <a:pt x="50" y="64"/>
                    </a:cubicBezTo>
                    <a:cubicBezTo>
                      <a:pt x="50" y="64"/>
                      <a:pt x="50" y="64"/>
                      <a:pt x="50" y="64"/>
                    </a:cubicBezTo>
                    <a:cubicBezTo>
                      <a:pt x="50" y="52"/>
                      <a:pt x="50" y="52"/>
                      <a:pt x="50" y="52"/>
                    </a:cubicBezTo>
                    <a:cubicBezTo>
                      <a:pt x="50" y="49"/>
                      <a:pt x="50" y="49"/>
                      <a:pt x="50" y="49"/>
                    </a:cubicBezTo>
                    <a:cubicBezTo>
                      <a:pt x="48" y="49"/>
                      <a:pt x="48" y="49"/>
                      <a:pt x="48" y="49"/>
                    </a:cubicBezTo>
                    <a:cubicBezTo>
                      <a:pt x="48" y="49"/>
                      <a:pt x="48" y="49"/>
                      <a:pt x="48" y="49"/>
                    </a:cubicBezTo>
                    <a:cubicBezTo>
                      <a:pt x="34" y="49"/>
                      <a:pt x="34" y="49"/>
                      <a:pt x="34" y="49"/>
                    </a:cubicBezTo>
                    <a:cubicBezTo>
                      <a:pt x="25" y="49"/>
                      <a:pt x="17" y="42"/>
                      <a:pt x="17" y="33"/>
                    </a:cubicBezTo>
                    <a:cubicBezTo>
                      <a:pt x="17" y="24"/>
                      <a:pt x="25" y="16"/>
                      <a:pt x="34" y="16"/>
                    </a:cubicBezTo>
                    <a:cubicBezTo>
                      <a:pt x="42" y="16"/>
                      <a:pt x="42" y="16"/>
                      <a:pt x="42" y="16"/>
                    </a:cubicBezTo>
                    <a:cubicBezTo>
                      <a:pt x="48" y="16"/>
                      <a:pt x="48" y="16"/>
                      <a:pt x="48" y="16"/>
                    </a:cubicBezTo>
                    <a:cubicBezTo>
                      <a:pt x="50" y="16"/>
                      <a:pt x="50" y="16"/>
                      <a:pt x="50" y="16"/>
                    </a:cubicBezTo>
                    <a:cubicBezTo>
                      <a:pt x="50" y="14"/>
                      <a:pt x="50" y="14"/>
                      <a:pt x="50" y="14"/>
                    </a:cubicBezTo>
                    <a:cubicBezTo>
                      <a:pt x="50" y="14"/>
                      <a:pt x="50" y="14"/>
                      <a:pt x="50" y="14"/>
                    </a:cubicBezTo>
                    <a:cubicBezTo>
                      <a:pt x="50" y="2"/>
                      <a:pt x="50" y="2"/>
                      <a:pt x="50" y="2"/>
                    </a:cubicBezTo>
                    <a:cubicBezTo>
                      <a:pt x="50" y="0"/>
                      <a:pt x="50" y="0"/>
                      <a:pt x="50" y="0"/>
                    </a:cubicBezTo>
                    <a:lnTo>
                      <a:pt x="48" y="0"/>
                    </a:lnTo>
                    <a:close/>
                  </a:path>
                </a:pathLst>
              </a:custGeom>
              <a:solidFill>
                <a:srgbClr val="0042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2" name="Freeform 17"/>
              <p:cNvSpPr/>
              <p:nvPr/>
            </p:nvSpPr>
            <p:spPr bwMode="auto">
              <a:xfrm>
                <a:off x="8232750" y="422351"/>
                <a:ext cx="184616" cy="250399"/>
              </a:xfrm>
              <a:custGeom>
                <a:avLst/>
                <a:gdLst>
                  <a:gd name="T0" fmla="*/ 47 w 50"/>
                  <a:gd name="T1" fmla="*/ 0 h 66"/>
                  <a:gd name="T2" fmla="*/ 41 w 50"/>
                  <a:gd name="T3" fmla="*/ 0 h 66"/>
                  <a:gd name="T4" fmla="*/ 33 w 50"/>
                  <a:gd name="T5" fmla="*/ 0 h 66"/>
                  <a:gd name="T6" fmla="*/ 0 w 50"/>
                  <a:gd name="T7" fmla="*/ 33 h 66"/>
                  <a:gd name="T8" fmla="*/ 33 w 50"/>
                  <a:gd name="T9" fmla="*/ 66 h 66"/>
                  <a:gd name="T10" fmla="*/ 41 w 50"/>
                  <a:gd name="T11" fmla="*/ 66 h 66"/>
                  <a:gd name="T12" fmla="*/ 41 w 50"/>
                  <a:gd name="T13" fmla="*/ 66 h 66"/>
                  <a:gd name="T14" fmla="*/ 50 w 50"/>
                  <a:gd name="T15" fmla="*/ 66 h 66"/>
                  <a:gd name="T16" fmla="*/ 50 w 50"/>
                  <a:gd name="T17" fmla="*/ 64 h 66"/>
                  <a:gd name="T18" fmla="*/ 50 w 50"/>
                  <a:gd name="T19" fmla="*/ 64 h 66"/>
                  <a:gd name="T20" fmla="*/ 50 w 50"/>
                  <a:gd name="T21" fmla="*/ 52 h 66"/>
                  <a:gd name="T22" fmla="*/ 50 w 50"/>
                  <a:gd name="T23" fmla="*/ 49 h 66"/>
                  <a:gd name="T24" fmla="*/ 47 w 50"/>
                  <a:gd name="T25" fmla="*/ 49 h 66"/>
                  <a:gd name="T26" fmla="*/ 47 w 50"/>
                  <a:gd name="T27" fmla="*/ 49 h 66"/>
                  <a:gd name="T28" fmla="*/ 33 w 50"/>
                  <a:gd name="T29" fmla="*/ 49 h 66"/>
                  <a:gd name="T30" fmla="*/ 17 w 50"/>
                  <a:gd name="T31" fmla="*/ 33 h 66"/>
                  <a:gd name="T32" fmla="*/ 33 w 50"/>
                  <a:gd name="T33" fmla="*/ 16 h 66"/>
                  <a:gd name="T34" fmla="*/ 41 w 50"/>
                  <a:gd name="T35" fmla="*/ 16 h 66"/>
                  <a:gd name="T36" fmla="*/ 47 w 50"/>
                  <a:gd name="T37" fmla="*/ 16 h 66"/>
                  <a:gd name="T38" fmla="*/ 50 w 50"/>
                  <a:gd name="T39" fmla="*/ 16 h 66"/>
                  <a:gd name="T40" fmla="*/ 50 w 50"/>
                  <a:gd name="T41" fmla="*/ 14 h 66"/>
                  <a:gd name="T42" fmla="*/ 50 w 50"/>
                  <a:gd name="T43" fmla="*/ 14 h 66"/>
                  <a:gd name="T44" fmla="*/ 50 w 50"/>
                  <a:gd name="T45" fmla="*/ 2 h 66"/>
                  <a:gd name="T46" fmla="*/ 50 w 50"/>
                  <a:gd name="T47" fmla="*/ 0 h 66"/>
                  <a:gd name="T48" fmla="*/ 47 w 50"/>
                  <a:gd name="T49" fmla="*/ 0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50" h="66">
                    <a:moveTo>
                      <a:pt x="47" y="0"/>
                    </a:moveTo>
                    <a:cubicBezTo>
                      <a:pt x="41" y="0"/>
                      <a:pt x="41" y="0"/>
                      <a:pt x="41" y="0"/>
                    </a:cubicBezTo>
                    <a:cubicBezTo>
                      <a:pt x="33" y="0"/>
                      <a:pt x="33" y="0"/>
                      <a:pt x="33" y="0"/>
                    </a:cubicBezTo>
                    <a:cubicBezTo>
                      <a:pt x="15" y="0"/>
                      <a:pt x="0" y="14"/>
                      <a:pt x="0" y="33"/>
                    </a:cubicBezTo>
                    <a:cubicBezTo>
                      <a:pt x="0" y="51"/>
                      <a:pt x="15" y="66"/>
                      <a:pt x="33" y="66"/>
                    </a:cubicBezTo>
                    <a:cubicBezTo>
                      <a:pt x="41" y="66"/>
                      <a:pt x="41" y="66"/>
                      <a:pt x="41" y="66"/>
                    </a:cubicBezTo>
                    <a:cubicBezTo>
                      <a:pt x="41" y="66"/>
                      <a:pt x="41" y="66"/>
                      <a:pt x="41" y="66"/>
                    </a:cubicBezTo>
                    <a:cubicBezTo>
                      <a:pt x="50" y="66"/>
                      <a:pt x="50" y="66"/>
                      <a:pt x="50" y="66"/>
                    </a:cubicBezTo>
                    <a:cubicBezTo>
                      <a:pt x="50" y="64"/>
                      <a:pt x="50" y="64"/>
                      <a:pt x="50" y="64"/>
                    </a:cubicBezTo>
                    <a:cubicBezTo>
                      <a:pt x="50" y="64"/>
                      <a:pt x="50" y="64"/>
                      <a:pt x="50" y="64"/>
                    </a:cubicBezTo>
                    <a:cubicBezTo>
                      <a:pt x="50" y="52"/>
                      <a:pt x="50" y="52"/>
                      <a:pt x="50" y="52"/>
                    </a:cubicBezTo>
                    <a:cubicBezTo>
                      <a:pt x="50" y="49"/>
                      <a:pt x="50" y="49"/>
                      <a:pt x="50" y="49"/>
                    </a:cubicBezTo>
                    <a:cubicBezTo>
                      <a:pt x="47" y="49"/>
                      <a:pt x="47" y="49"/>
                      <a:pt x="47" y="49"/>
                    </a:cubicBezTo>
                    <a:cubicBezTo>
                      <a:pt x="47" y="49"/>
                      <a:pt x="47" y="49"/>
                      <a:pt x="47" y="49"/>
                    </a:cubicBezTo>
                    <a:cubicBezTo>
                      <a:pt x="33" y="49"/>
                      <a:pt x="33" y="49"/>
                      <a:pt x="33" y="49"/>
                    </a:cubicBezTo>
                    <a:cubicBezTo>
                      <a:pt x="24" y="49"/>
                      <a:pt x="17" y="42"/>
                      <a:pt x="17" y="33"/>
                    </a:cubicBezTo>
                    <a:cubicBezTo>
                      <a:pt x="17" y="24"/>
                      <a:pt x="24" y="16"/>
                      <a:pt x="33" y="16"/>
                    </a:cubicBezTo>
                    <a:cubicBezTo>
                      <a:pt x="41" y="16"/>
                      <a:pt x="41" y="16"/>
                      <a:pt x="41" y="16"/>
                    </a:cubicBezTo>
                    <a:cubicBezTo>
                      <a:pt x="47" y="16"/>
                      <a:pt x="47" y="16"/>
                      <a:pt x="47" y="16"/>
                    </a:cubicBezTo>
                    <a:cubicBezTo>
                      <a:pt x="50" y="16"/>
                      <a:pt x="50" y="16"/>
                      <a:pt x="50" y="16"/>
                    </a:cubicBezTo>
                    <a:cubicBezTo>
                      <a:pt x="50" y="14"/>
                      <a:pt x="50" y="14"/>
                      <a:pt x="50" y="14"/>
                    </a:cubicBezTo>
                    <a:cubicBezTo>
                      <a:pt x="50" y="14"/>
                      <a:pt x="50" y="14"/>
                      <a:pt x="50" y="14"/>
                    </a:cubicBezTo>
                    <a:cubicBezTo>
                      <a:pt x="50" y="2"/>
                      <a:pt x="50" y="2"/>
                      <a:pt x="50" y="2"/>
                    </a:cubicBezTo>
                    <a:cubicBezTo>
                      <a:pt x="50" y="0"/>
                      <a:pt x="50" y="0"/>
                      <a:pt x="50" y="0"/>
                    </a:cubicBezTo>
                    <a:lnTo>
                      <a:pt x="47" y="0"/>
                    </a:lnTo>
                    <a:close/>
                  </a:path>
                </a:pathLst>
              </a:custGeom>
              <a:solidFill>
                <a:srgbClr val="0042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</p:grpSp>
      </p:grpSp>
      <p:sp>
        <p:nvSpPr>
          <p:cNvPr id="34" name="文本框 33"/>
          <p:cNvSpPr txBox="1"/>
          <p:nvPr userDrawn="1"/>
        </p:nvSpPr>
        <p:spPr>
          <a:xfrm>
            <a:off x="7420873" y="2417933"/>
            <a:ext cx="24046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3200" b="1" i="1" dirty="0">
                <a:solidFill>
                  <a:schemeClr val="bg1"/>
                </a:solidFill>
              </a:rPr>
              <a:t>专业引领</a:t>
            </a:r>
            <a:endParaRPr lang="zh-CN" altLang="en-US" sz="3200" b="1" i="1" dirty="0">
              <a:solidFill>
                <a:schemeClr val="bg1"/>
              </a:solidFill>
            </a:endParaRPr>
          </a:p>
        </p:txBody>
      </p:sp>
      <p:sp>
        <p:nvSpPr>
          <p:cNvPr id="35" name="文本框 34"/>
          <p:cNvSpPr txBox="1"/>
          <p:nvPr userDrawn="1"/>
        </p:nvSpPr>
        <p:spPr>
          <a:xfrm>
            <a:off x="8471590" y="3163200"/>
            <a:ext cx="24046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3200" b="1" i="1" dirty="0">
                <a:solidFill>
                  <a:schemeClr val="bg1"/>
                </a:solidFill>
              </a:rPr>
              <a:t>创新驱动</a:t>
            </a:r>
            <a:endParaRPr lang="zh-CN" altLang="en-US" sz="3200" b="1" i="1" dirty="0">
              <a:solidFill>
                <a:schemeClr val="bg1"/>
              </a:solidFill>
            </a:endParaRPr>
          </a:p>
        </p:txBody>
      </p:sp>
      <p:grpSp>
        <p:nvGrpSpPr>
          <p:cNvPr id="36" name="组合 35"/>
          <p:cNvGrpSpPr/>
          <p:nvPr userDrawn="1"/>
        </p:nvGrpSpPr>
        <p:grpSpPr>
          <a:xfrm>
            <a:off x="2352232" y="5008858"/>
            <a:ext cx="4257416" cy="1187662"/>
            <a:chOff x="7856817" y="4321042"/>
            <a:chExt cx="4257416" cy="1187662"/>
          </a:xfrm>
        </p:grpSpPr>
        <p:sp>
          <p:nvSpPr>
            <p:cNvPr id="38" name="文本框 37"/>
            <p:cNvSpPr txBox="1"/>
            <p:nvPr userDrawn="1"/>
          </p:nvSpPr>
          <p:spPr>
            <a:xfrm>
              <a:off x="8018879" y="5262483"/>
              <a:ext cx="409535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1000" b="1" dirty="0">
                  <a:solidFill>
                    <a:schemeClr val="bg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上海   北京   广州   深圳   成都   武汉   西安   青岛</a:t>
              </a:r>
              <a:endParaRPr lang="zh-CN" altLang="en-US" sz="1000" b="1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文本框 38"/>
            <p:cNvSpPr txBox="1"/>
            <p:nvPr userDrawn="1"/>
          </p:nvSpPr>
          <p:spPr>
            <a:xfrm>
              <a:off x="8012160" y="4321042"/>
              <a:ext cx="3053827" cy="8903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200" dirty="0">
                  <a:solidFill>
                    <a:schemeClr val="bg1"/>
                  </a:solidFill>
                  <a:latin typeface="+mn-ea"/>
                </a:rPr>
                <a:t>电话：</a:t>
              </a:r>
              <a:r>
                <a:rPr lang="en-US" altLang="zh-CN" sz="1200" dirty="0">
                  <a:solidFill>
                    <a:schemeClr val="bg1"/>
                  </a:solidFill>
                  <a:latin typeface="+mn-lt"/>
                </a:rPr>
                <a:t>400-8200-397</a:t>
              </a:r>
              <a:endParaRPr lang="en-US" altLang="zh-CN" sz="1200" dirty="0">
                <a:solidFill>
                  <a:schemeClr val="bg1"/>
                </a:solidFill>
                <a:latin typeface="+mn-lt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ea"/>
                  <a:cs typeface="+mn-cs"/>
                </a:rPr>
                <a:t>邮箱：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+mn-cs"/>
                </a:rPr>
                <a:t>consulting@ciicmc.com</a:t>
              </a: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cs typeface="+mn-cs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ea"/>
                  <a:cs typeface="+mn-cs"/>
                </a:rPr>
                <a:t>网站：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+mn-cs"/>
                  <a:hlinkClick r:id="rId5"/>
                </a:rPr>
                <a:t>https://www.ciicmc.com</a:t>
              </a: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cs typeface="+mn-cs"/>
              </a:endParaRPr>
            </a:p>
          </p:txBody>
        </p:sp>
        <p:sp>
          <p:nvSpPr>
            <p:cNvPr id="40" name="任意多边形: 形状 39"/>
            <p:cNvSpPr>
              <a:spLocks noChangeAspect="1"/>
            </p:cNvSpPr>
            <p:nvPr userDrawn="1"/>
          </p:nvSpPr>
          <p:spPr>
            <a:xfrm>
              <a:off x="7870270" y="5275319"/>
              <a:ext cx="148609" cy="164264"/>
            </a:xfrm>
            <a:custGeom>
              <a:avLst/>
              <a:gdLst>
                <a:gd name="connsiteX0" fmla="*/ 1274975 w 1493107"/>
                <a:gd name="connsiteY0" fmla="*/ 1194696 h 1650397"/>
                <a:gd name="connsiteX1" fmla="*/ 1336575 w 1493107"/>
                <a:gd name="connsiteY1" fmla="*/ 1221295 h 1650397"/>
                <a:gd name="connsiteX2" fmla="*/ 1339243 w 1493107"/>
                <a:gd name="connsiteY2" fmla="*/ 1225486 h 1650397"/>
                <a:gd name="connsiteX3" fmla="*/ 1475768 w 1493107"/>
                <a:gd name="connsiteY3" fmla="*/ 1459389 h 1650397"/>
                <a:gd name="connsiteX4" fmla="*/ 1430109 w 1493107"/>
                <a:gd name="connsiteY4" fmla="*/ 1633093 h 1650397"/>
                <a:gd name="connsiteX5" fmla="*/ 1373850 w 1493107"/>
                <a:gd name="connsiteY5" fmla="*/ 1650174 h 1650397"/>
                <a:gd name="connsiteX6" fmla="*/ 1365373 w 1493107"/>
                <a:gd name="connsiteY6" fmla="*/ 1650397 h 1650397"/>
                <a:gd name="connsiteX7" fmla="*/ 126297 w 1493107"/>
                <a:gd name="connsiteY7" fmla="*/ 1643634 h 1650397"/>
                <a:gd name="connsiteX8" fmla="*/ 1 w 1493107"/>
                <a:gd name="connsiteY8" fmla="*/ 1515934 h 1650397"/>
                <a:gd name="connsiteX9" fmla="*/ 13458 w 1493107"/>
                <a:gd name="connsiteY9" fmla="*/ 1459738 h 1650397"/>
                <a:gd name="connsiteX10" fmla="*/ 17427 w 1493107"/>
                <a:gd name="connsiteY10" fmla="*/ 1452404 h 1650397"/>
                <a:gd name="connsiteX11" fmla="*/ 147538 w 1493107"/>
                <a:gd name="connsiteY11" fmla="*/ 1230535 h 1650397"/>
                <a:gd name="connsiteX12" fmla="*/ 234369 w 1493107"/>
                <a:gd name="connsiteY12" fmla="*/ 1207624 h 1650397"/>
                <a:gd name="connsiteX13" fmla="*/ 259457 w 1493107"/>
                <a:gd name="connsiteY13" fmla="*/ 1290383 h 1650397"/>
                <a:gd name="connsiteX14" fmla="*/ 257107 w 1493107"/>
                <a:gd name="connsiteY14" fmla="*/ 1294765 h 1650397"/>
                <a:gd name="connsiteX15" fmla="*/ 126996 w 1493107"/>
                <a:gd name="connsiteY15" fmla="*/ 1516634 h 1650397"/>
                <a:gd name="connsiteX16" fmla="*/ 1366071 w 1493107"/>
                <a:gd name="connsiteY16" fmla="*/ 1523397 h 1650397"/>
                <a:gd name="connsiteX17" fmla="*/ 1229546 w 1493107"/>
                <a:gd name="connsiteY17" fmla="*/ 1289494 h 1650397"/>
                <a:gd name="connsiteX18" fmla="*/ 1252406 w 1493107"/>
                <a:gd name="connsiteY18" fmla="*/ 1202658 h 1650397"/>
                <a:gd name="connsiteX19" fmla="*/ 1274975 w 1493107"/>
                <a:gd name="connsiteY19" fmla="*/ 1194696 h 1650397"/>
                <a:gd name="connsiteX20" fmla="*/ 746756 w 1493107"/>
                <a:gd name="connsiteY20" fmla="*/ 453834 h 1650397"/>
                <a:gd name="connsiteX21" fmla="*/ 619692 w 1493107"/>
                <a:gd name="connsiteY21" fmla="*/ 580834 h 1650397"/>
                <a:gd name="connsiteX22" fmla="*/ 746692 w 1493107"/>
                <a:gd name="connsiteY22" fmla="*/ 707898 h 1650397"/>
                <a:gd name="connsiteX23" fmla="*/ 873756 w 1493107"/>
                <a:gd name="connsiteY23" fmla="*/ 580898 h 1650397"/>
                <a:gd name="connsiteX24" fmla="*/ 746756 w 1493107"/>
                <a:gd name="connsiteY24" fmla="*/ 453834 h 1650397"/>
                <a:gd name="connsiteX25" fmla="*/ 746756 w 1493107"/>
                <a:gd name="connsiteY25" fmla="*/ 326834 h 1650397"/>
                <a:gd name="connsiteX26" fmla="*/ 1000819 w 1493107"/>
                <a:gd name="connsiteY26" fmla="*/ 580834 h 1650397"/>
                <a:gd name="connsiteX27" fmla="*/ 746819 w 1493107"/>
                <a:gd name="connsiteY27" fmla="*/ 834898 h 1650397"/>
                <a:gd name="connsiteX28" fmla="*/ 492756 w 1493107"/>
                <a:gd name="connsiteY28" fmla="*/ 580898 h 1650397"/>
                <a:gd name="connsiteX29" fmla="*/ 746756 w 1493107"/>
                <a:gd name="connsiteY29" fmla="*/ 326834 h 1650397"/>
                <a:gd name="connsiteX30" fmla="*/ 746279 w 1493107"/>
                <a:gd name="connsiteY30" fmla="*/ 127000 h 1650397"/>
                <a:gd name="connsiteX31" fmla="*/ 287682 w 1493107"/>
                <a:gd name="connsiteY31" fmla="*/ 569436 h 1650397"/>
                <a:gd name="connsiteX32" fmla="*/ 368264 w 1493107"/>
                <a:gd name="connsiteY32" fmla="*/ 820166 h 1650397"/>
                <a:gd name="connsiteX33" fmla="*/ 370105 w 1493107"/>
                <a:gd name="connsiteY33" fmla="*/ 822865 h 1650397"/>
                <a:gd name="connsiteX34" fmla="*/ 373693 w 1493107"/>
                <a:gd name="connsiteY34" fmla="*/ 828802 h 1650397"/>
                <a:gd name="connsiteX35" fmla="*/ 746120 w 1493107"/>
                <a:gd name="connsiteY35" fmla="*/ 1261936 h 1650397"/>
                <a:gd name="connsiteX36" fmla="*/ 1116325 w 1493107"/>
                <a:gd name="connsiteY36" fmla="*/ 828866 h 1650397"/>
                <a:gd name="connsiteX37" fmla="*/ 1121818 w 1493107"/>
                <a:gd name="connsiteY37" fmla="*/ 820166 h 1650397"/>
                <a:gd name="connsiteX38" fmla="*/ 1203638 w 1493107"/>
                <a:gd name="connsiteY38" fmla="*/ 569436 h 1650397"/>
                <a:gd name="connsiteX39" fmla="*/ 746279 w 1493107"/>
                <a:gd name="connsiteY39" fmla="*/ 127000 h 1650397"/>
                <a:gd name="connsiteX40" fmla="*/ 746279 w 1493107"/>
                <a:gd name="connsiteY40" fmla="*/ 0 h 1650397"/>
                <a:gd name="connsiteX41" fmla="*/ 1330638 w 1493107"/>
                <a:gd name="connsiteY41" fmla="*/ 570198 h 1650397"/>
                <a:gd name="connsiteX42" fmla="*/ 1226784 w 1493107"/>
                <a:gd name="connsiteY42" fmla="*/ 891635 h 1650397"/>
                <a:gd name="connsiteX43" fmla="*/ 1223386 w 1493107"/>
                <a:gd name="connsiteY43" fmla="*/ 897223 h 1650397"/>
                <a:gd name="connsiteX44" fmla="*/ 1220529 w 1493107"/>
                <a:gd name="connsiteY44" fmla="*/ 901605 h 1650397"/>
                <a:gd name="connsiteX45" fmla="*/ 1210591 w 1493107"/>
                <a:gd name="connsiteY45" fmla="*/ 913924 h 1650397"/>
                <a:gd name="connsiteX46" fmla="*/ 1213036 w 1493107"/>
                <a:gd name="connsiteY46" fmla="*/ 911225 h 1650397"/>
                <a:gd name="connsiteX47" fmla="*/ 842672 w 1493107"/>
                <a:gd name="connsiteY47" fmla="*/ 1344422 h 1650397"/>
                <a:gd name="connsiteX48" fmla="*/ 828955 w 1493107"/>
                <a:gd name="connsiteY48" fmla="*/ 1358184 h 1650397"/>
                <a:gd name="connsiteX49" fmla="*/ 649854 w 1493107"/>
                <a:gd name="connsiteY49" fmla="*/ 1344740 h 1650397"/>
                <a:gd name="connsiteX50" fmla="*/ 277459 w 1493107"/>
                <a:gd name="connsiteY50" fmla="*/ 911606 h 1650397"/>
                <a:gd name="connsiteX51" fmla="*/ 275998 w 1493107"/>
                <a:gd name="connsiteY51" fmla="*/ 910019 h 1650397"/>
                <a:gd name="connsiteX52" fmla="*/ 269585 w 1493107"/>
                <a:gd name="connsiteY52" fmla="*/ 901636 h 1650397"/>
                <a:gd name="connsiteX53" fmla="*/ 266664 w 1493107"/>
                <a:gd name="connsiteY53" fmla="*/ 897192 h 1650397"/>
                <a:gd name="connsiteX54" fmla="*/ 263108 w 1493107"/>
                <a:gd name="connsiteY54" fmla="*/ 891286 h 1650397"/>
                <a:gd name="connsiteX55" fmla="*/ 256980 w 1493107"/>
                <a:gd name="connsiteY55" fmla="*/ 882555 h 1650397"/>
                <a:gd name="connsiteX56" fmla="*/ 160682 w 1493107"/>
                <a:gd name="connsiteY56" fmla="*/ 569151 h 1650397"/>
                <a:gd name="connsiteX57" fmla="*/ 746279 w 1493107"/>
                <a:gd name="connsiteY57" fmla="*/ 0 h 1650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1493107" h="1650397">
                  <a:moveTo>
                    <a:pt x="1274975" y="1194696"/>
                  </a:moveTo>
                  <a:cubicBezTo>
                    <a:pt x="1298244" y="1191209"/>
                    <a:pt x="1322404" y="1200878"/>
                    <a:pt x="1336575" y="1221295"/>
                  </a:cubicBezTo>
                  <a:lnTo>
                    <a:pt x="1339243" y="1225486"/>
                  </a:lnTo>
                  <a:lnTo>
                    <a:pt x="1475768" y="1459389"/>
                  </a:lnTo>
                  <a:cubicBezTo>
                    <a:pt x="1511127" y="1519964"/>
                    <a:pt x="1490685" y="1597734"/>
                    <a:pt x="1430109" y="1633093"/>
                  </a:cubicBezTo>
                  <a:cubicBezTo>
                    <a:pt x="1412951" y="1643109"/>
                    <a:pt x="1393681" y="1648960"/>
                    <a:pt x="1373850" y="1650174"/>
                  </a:cubicBezTo>
                  <a:lnTo>
                    <a:pt x="1365373" y="1650397"/>
                  </a:lnTo>
                  <a:lnTo>
                    <a:pt x="126297" y="1643634"/>
                  </a:lnTo>
                  <a:cubicBezTo>
                    <a:pt x="56158" y="1643246"/>
                    <a:pt x="-387" y="1586073"/>
                    <a:pt x="1" y="1515934"/>
                  </a:cubicBezTo>
                  <a:cubicBezTo>
                    <a:pt x="109" y="1496417"/>
                    <a:pt x="4714" y="1477187"/>
                    <a:pt x="13458" y="1459738"/>
                  </a:cubicBezTo>
                  <a:lnTo>
                    <a:pt x="17427" y="1452404"/>
                  </a:lnTo>
                  <a:lnTo>
                    <a:pt x="147538" y="1230535"/>
                  </a:lnTo>
                  <a:cubicBezTo>
                    <a:pt x="165189" y="1200230"/>
                    <a:pt x="204065" y="1189973"/>
                    <a:pt x="234369" y="1207624"/>
                  </a:cubicBezTo>
                  <a:cubicBezTo>
                    <a:pt x="263126" y="1224374"/>
                    <a:pt x="274073" y="1260485"/>
                    <a:pt x="259457" y="1290383"/>
                  </a:cubicBezTo>
                  <a:lnTo>
                    <a:pt x="257107" y="1294765"/>
                  </a:lnTo>
                  <a:lnTo>
                    <a:pt x="126996" y="1516634"/>
                  </a:lnTo>
                  <a:lnTo>
                    <a:pt x="1366071" y="1523397"/>
                  </a:lnTo>
                  <a:lnTo>
                    <a:pt x="1229546" y="1289494"/>
                  </a:lnTo>
                  <a:cubicBezTo>
                    <a:pt x="1211883" y="1259202"/>
                    <a:pt x="1222117" y="1220327"/>
                    <a:pt x="1252406" y="1202658"/>
                  </a:cubicBezTo>
                  <a:cubicBezTo>
                    <a:pt x="1259562" y="1198483"/>
                    <a:pt x="1267219" y="1195859"/>
                    <a:pt x="1274975" y="1194696"/>
                  </a:cubicBezTo>
                  <a:close/>
                  <a:moveTo>
                    <a:pt x="746756" y="453834"/>
                  </a:moveTo>
                  <a:cubicBezTo>
                    <a:pt x="676598" y="453816"/>
                    <a:pt x="619710" y="510676"/>
                    <a:pt x="619692" y="580834"/>
                  </a:cubicBezTo>
                  <a:cubicBezTo>
                    <a:pt x="619675" y="650992"/>
                    <a:pt x="676535" y="707880"/>
                    <a:pt x="746692" y="707898"/>
                  </a:cubicBezTo>
                  <a:cubicBezTo>
                    <a:pt x="816850" y="707915"/>
                    <a:pt x="873739" y="651055"/>
                    <a:pt x="873756" y="580898"/>
                  </a:cubicBezTo>
                  <a:cubicBezTo>
                    <a:pt x="873774" y="510740"/>
                    <a:pt x="816914" y="453852"/>
                    <a:pt x="746756" y="453834"/>
                  </a:cubicBezTo>
                  <a:close/>
                  <a:moveTo>
                    <a:pt x="746756" y="326834"/>
                  </a:moveTo>
                  <a:cubicBezTo>
                    <a:pt x="887054" y="326817"/>
                    <a:pt x="1000802" y="440536"/>
                    <a:pt x="1000819" y="580834"/>
                  </a:cubicBezTo>
                  <a:cubicBezTo>
                    <a:pt x="1000837" y="721132"/>
                    <a:pt x="887117" y="834880"/>
                    <a:pt x="746819" y="834898"/>
                  </a:cubicBezTo>
                  <a:cubicBezTo>
                    <a:pt x="606522" y="834915"/>
                    <a:pt x="492774" y="721195"/>
                    <a:pt x="492756" y="580898"/>
                  </a:cubicBezTo>
                  <a:cubicBezTo>
                    <a:pt x="492738" y="440600"/>
                    <a:pt x="606458" y="326852"/>
                    <a:pt x="746756" y="326834"/>
                  </a:cubicBezTo>
                  <a:close/>
                  <a:moveTo>
                    <a:pt x="746279" y="127000"/>
                  </a:moveTo>
                  <a:cubicBezTo>
                    <a:pt x="492660" y="127000"/>
                    <a:pt x="288793" y="324803"/>
                    <a:pt x="287682" y="569436"/>
                  </a:cubicBezTo>
                  <a:cubicBezTo>
                    <a:pt x="287543" y="659402"/>
                    <a:pt x="315737" y="747127"/>
                    <a:pt x="368264" y="820166"/>
                  </a:cubicBezTo>
                  <a:lnTo>
                    <a:pt x="370105" y="822865"/>
                  </a:lnTo>
                  <a:lnTo>
                    <a:pt x="373693" y="828802"/>
                  </a:lnTo>
                  <a:lnTo>
                    <a:pt x="746120" y="1261936"/>
                  </a:lnTo>
                  <a:lnTo>
                    <a:pt x="1116325" y="828866"/>
                  </a:lnTo>
                  <a:lnTo>
                    <a:pt x="1121818" y="820166"/>
                  </a:lnTo>
                  <a:cubicBezTo>
                    <a:pt x="1174208" y="746983"/>
                    <a:pt x="1202777" y="659435"/>
                    <a:pt x="1203638" y="569436"/>
                  </a:cubicBezTo>
                  <a:cubicBezTo>
                    <a:pt x="1203638" y="325311"/>
                    <a:pt x="999231" y="127000"/>
                    <a:pt x="746279" y="127000"/>
                  </a:cubicBezTo>
                  <a:close/>
                  <a:moveTo>
                    <a:pt x="746279" y="0"/>
                  </a:moveTo>
                  <a:cubicBezTo>
                    <a:pt x="1068541" y="0"/>
                    <a:pt x="1330638" y="254286"/>
                    <a:pt x="1330638" y="570198"/>
                  </a:cubicBezTo>
                  <a:cubicBezTo>
                    <a:pt x="1329273" y="688054"/>
                    <a:pt x="1292443" y="799878"/>
                    <a:pt x="1226784" y="891635"/>
                  </a:cubicBezTo>
                  <a:cubicBezTo>
                    <a:pt x="1226847" y="891508"/>
                    <a:pt x="1224561" y="895382"/>
                    <a:pt x="1223386" y="897223"/>
                  </a:cubicBezTo>
                  <a:lnTo>
                    <a:pt x="1220529" y="901605"/>
                  </a:lnTo>
                  <a:cubicBezTo>
                    <a:pt x="1217570" y="905984"/>
                    <a:pt x="1214245" y="910105"/>
                    <a:pt x="1210591" y="913924"/>
                  </a:cubicBezTo>
                  <a:lnTo>
                    <a:pt x="1213036" y="911225"/>
                  </a:lnTo>
                  <a:lnTo>
                    <a:pt x="842672" y="1344422"/>
                  </a:lnTo>
                  <a:cubicBezTo>
                    <a:pt x="838458" y="1349353"/>
                    <a:pt x="833872" y="1353954"/>
                    <a:pt x="828955" y="1358184"/>
                  </a:cubicBezTo>
                  <a:cubicBezTo>
                    <a:pt x="775786" y="1403929"/>
                    <a:pt x="695599" y="1397910"/>
                    <a:pt x="649854" y="1344740"/>
                  </a:cubicBezTo>
                  <a:lnTo>
                    <a:pt x="277459" y="911606"/>
                  </a:lnTo>
                  <a:lnTo>
                    <a:pt x="275998" y="910019"/>
                  </a:lnTo>
                  <a:cubicBezTo>
                    <a:pt x="273649" y="907288"/>
                    <a:pt x="271553" y="904526"/>
                    <a:pt x="269585" y="901636"/>
                  </a:cubicBezTo>
                  <a:lnTo>
                    <a:pt x="266664" y="897192"/>
                  </a:lnTo>
                  <a:lnTo>
                    <a:pt x="263108" y="891286"/>
                  </a:lnTo>
                  <a:lnTo>
                    <a:pt x="256980" y="882555"/>
                  </a:lnTo>
                  <a:cubicBezTo>
                    <a:pt x="194401" y="790353"/>
                    <a:pt x="160682" y="682466"/>
                    <a:pt x="160682" y="569151"/>
                  </a:cubicBezTo>
                  <a:cubicBezTo>
                    <a:pt x="162079" y="253587"/>
                    <a:pt x="423477" y="0"/>
                    <a:pt x="746279" y="0"/>
                  </a:cubicBezTo>
                  <a:close/>
                </a:path>
              </a:pathLst>
            </a:custGeom>
            <a:solidFill>
              <a:schemeClr val="accent4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任意多边形: 形状 40"/>
            <p:cNvSpPr>
              <a:spLocks noChangeAspect="1"/>
            </p:cNvSpPr>
            <p:nvPr userDrawn="1"/>
          </p:nvSpPr>
          <p:spPr>
            <a:xfrm>
              <a:off x="7856817" y="5003831"/>
              <a:ext cx="143695" cy="144000"/>
            </a:xfrm>
            <a:custGeom>
              <a:avLst/>
              <a:gdLst>
                <a:gd name="connsiteX0" fmla="*/ 244344 w 1900047"/>
                <a:gd name="connsiteY0" fmla="*/ 1297037 h 1904070"/>
                <a:gd name="connsiteX1" fmla="*/ 152443 w 1900047"/>
                <a:gd name="connsiteY1" fmla="*/ 1687897 h 1904070"/>
                <a:gd name="connsiteX2" fmla="*/ 343501 w 1900047"/>
                <a:gd name="connsiteY2" fmla="*/ 1827609 h 1904070"/>
                <a:gd name="connsiteX3" fmla="*/ 611950 w 1900047"/>
                <a:gd name="connsiteY3" fmla="*/ 1741847 h 1904070"/>
                <a:gd name="connsiteX4" fmla="*/ 244344 w 1900047"/>
                <a:gd name="connsiteY4" fmla="*/ 1297037 h 1904070"/>
                <a:gd name="connsiteX5" fmla="*/ 1075921 w 1900047"/>
                <a:gd name="connsiteY5" fmla="*/ 651681 h 1904070"/>
                <a:gd name="connsiteX6" fmla="*/ 899746 w 1900047"/>
                <a:gd name="connsiteY6" fmla="*/ 711212 h 1904070"/>
                <a:gd name="connsiteX7" fmla="*/ 861609 w 1900047"/>
                <a:gd name="connsiteY7" fmla="*/ 750837 h 1904070"/>
                <a:gd name="connsiteX8" fmla="*/ 1274607 w 1900047"/>
                <a:gd name="connsiteY8" fmla="*/ 750837 h 1904070"/>
                <a:gd name="connsiteX9" fmla="*/ 1235911 w 1900047"/>
                <a:gd name="connsiteY9" fmla="*/ 705817 h 1904070"/>
                <a:gd name="connsiteX10" fmla="*/ 1075921 w 1900047"/>
                <a:gd name="connsiteY10" fmla="*/ 651681 h 1904070"/>
                <a:gd name="connsiteX11" fmla="*/ 1075921 w 1900047"/>
                <a:gd name="connsiteY11" fmla="*/ 532618 h 1904070"/>
                <a:gd name="connsiteX12" fmla="*/ 1428458 w 1900047"/>
                <a:gd name="connsiteY12" fmla="*/ 869900 h 1904070"/>
                <a:gd name="connsiteX13" fmla="*/ 699758 w 1900047"/>
                <a:gd name="connsiteY13" fmla="*/ 869900 h 1904070"/>
                <a:gd name="connsiteX14" fmla="*/ 1075921 w 1900047"/>
                <a:gd name="connsiteY14" fmla="*/ 532618 h 1904070"/>
                <a:gd name="connsiteX15" fmla="*/ 1184380 w 1900047"/>
                <a:gd name="connsiteY15" fmla="*/ 247613 h 1904070"/>
                <a:gd name="connsiteX16" fmla="*/ 954440 w 1900047"/>
                <a:gd name="connsiteY16" fmla="*/ 377093 h 1904070"/>
                <a:gd name="connsiteX17" fmla="*/ 725803 w 1900047"/>
                <a:gd name="connsiteY17" fmla="*/ 532991 h 1904070"/>
                <a:gd name="connsiteX18" fmla="*/ 725803 w 1900047"/>
                <a:gd name="connsiteY18" fmla="*/ 533363 h 1904070"/>
                <a:gd name="connsiteX19" fmla="*/ 695107 w 1900047"/>
                <a:gd name="connsiteY19" fmla="*/ 559408 h 1904070"/>
                <a:gd name="connsiteX20" fmla="*/ 407683 w 1900047"/>
                <a:gd name="connsiteY20" fmla="*/ 890178 h 1904070"/>
                <a:gd name="connsiteX21" fmla="*/ 283225 w 1900047"/>
                <a:gd name="connsiteY21" fmla="*/ 1100584 h 1904070"/>
                <a:gd name="connsiteX22" fmla="*/ 352245 w 1900047"/>
                <a:gd name="connsiteY22" fmla="*/ 1246250 h 1904070"/>
                <a:gd name="connsiteX23" fmla="*/ 489910 w 1900047"/>
                <a:gd name="connsiteY23" fmla="*/ 1479166 h 1904070"/>
                <a:gd name="connsiteX24" fmla="*/ 670179 w 1900047"/>
                <a:gd name="connsiteY24" fmla="*/ 1638040 h 1904070"/>
                <a:gd name="connsiteX25" fmla="*/ 734361 w 1900047"/>
                <a:gd name="connsiteY25" fmla="*/ 1673944 h 1904070"/>
                <a:gd name="connsiteX26" fmla="*/ 975276 w 1900047"/>
                <a:gd name="connsiteY26" fmla="*/ 1737754 h 1904070"/>
                <a:gd name="connsiteX27" fmla="*/ 1047458 w 1900047"/>
                <a:gd name="connsiteY27" fmla="*/ 1740359 h 1904070"/>
                <a:gd name="connsiteX28" fmla="*/ 1299908 w 1900047"/>
                <a:gd name="connsiteY28" fmla="*/ 1701664 h 1904070"/>
                <a:gd name="connsiteX29" fmla="*/ 1497849 w 1900047"/>
                <a:gd name="connsiteY29" fmla="*/ 1597484 h 1904070"/>
                <a:gd name="connsiteX30" fmla="*/ 1671978 w 1900047"/>
                <a:gd name="connsiteY30" fmla="*/ 1402705 h 1904070"/>
                <a:gd name="connsiteX31" fmla="*/ 1457665 w 1900047"/>
                <a:gd name="connsiteY31" fmla="*/ 1402705 h 1904070"/>
                <a:gd name="connsiteX32" fmla="*/ 1058992 w 1900047"/>
                <a:gd name="connsiteY32" fmla="*/ 1600833 h 1904070"/>
                <a:gd name="connsiteX33" fmla="*/ 998531 w 1900047"/>
                <a:gd name="connsiteY33" fmla="*/ 1597298 h 1904070"/>
                <a:gd name="connsiteX34" fmla="*/ 571766 w 1900047"/>
                <a:gd name="connsiteY34" fmla="*/ 1116025 h 1904070"/>
                <a:gd name="connsiteX35" fmla="*/ 563766 w 1900047"/>
                <a:gd name="connsiteY35" fmla="*/ 991009 h 1904070"/>
                <a:gd name="connsiteX36" fmla="*/ 688968 w 1900047"/>
                <a:gd name="connsiteY36" fmla="*/ 989335 h 1904070"/>
                <a:gd name="connsiteX37" fmla="*/ 877794 w 1900047"/>
                <a:gd name="connsiteY37" fmla="*/ 988219 h 1904070"/>
                <a:gd name="connsiteX38" fmla="*/ 1142150 w 1900047"/>
                <a:gd name="connsiteY38" fmla="*/ 989149 h 1904070"/>
                <a:gd name="connsiteX39" fmla="*/ 1418040 w 1900047"/>
                <a:gd name="connsiteY39" fmla="*/ 990265 h 1904070"/>
                <a:gd name="connsiteX40" fmla="*/ 1780809 w 1900047"/>
                <a:gd name="connsiteY40" fmla="*/ 986172 h 1904070"/>
                <a:gd name="connsiteX41" fmla="*/ 1699697 w 1900047"/>
                <a:gd name="connsiteY41" fmla="*/ 635682 h 1904070"/>
                <a:gd name="connsiteX42" fmla="*/ 1679791 w 1900047"/>
                <a:gd name="connsiteY42" fmla="*/ 595685 h 1904070"/>
                <a:gd name="connsiteX43" fmla="*/ 1677373 w 1900047"/>
                <a:gd name="connsiteY43" fmla="*/ 592522 h 1904070"/>
                <a:gd name="connsiteX44" fmla="*/ 1519801 w 1900047"/>
                <a:gd name="connsiteY44" fmla="*/ 421184 h 1904070"/>
                <a:gd name="connsiteX45" fmla="*/ 1322232 w 1900047"/>
                <a:gd name="connsiteY45" fmla="*/ 302679 h 1904070"/>
                <a:gd name="connsiteX46" fmla="*/ 1609284 w 1900047"/>
                <a:gd name="connsiteY46" fmla="*/ 126318 h 1904070"/>
                <a:gd name="connsiteX47" fmla="*/ 1366508 w 1900047"/>
                <a:gd name="connsiteY47" fmla="*/ 192174 h 1904070"/>
                <a:gd name="connsiteX48" fmla="*/ 1773553 w 1900047"/>
                <a:gd name="connsiteY48" fmla="*/ 522201 h 1904070"/>
                <a:gd name="connsiteX49" fmla="*/ 1826201 w 1900047"/>
                <a:gd name="connsiteY49" fmla="*/ 306772 h 1904070"/>
                <a:gd name="connsiteX50" fmla="*/ 1609284 w 1900047"/>
                <a:gd name="connsiteY50" fmla="*/ 126318 h 1904070"/>
                <a:gd name="connsiteX51" fmla="*/ 1580449 w 1900047"/>
                <a:gd name="connsiteY51" fmla="*/ 0 h 1904070"/>
                <a:gd name="connsiteX52" fmla="*/ 1780250 w 1900047"/>
                <a:gd name="connsiteY52" fmla="*/ 57299 h 1904070"/>
                <a:gd name="connsiteX53" fmla="*/ 1806481 w 1900047"/>
                <a:gd name="connsiteY53" fmla="*/ 582848 h 1904070"/>
                <a:gd name="connsiteX54" fmla="*/ 1891872 w 1900047"/>
                <a:gd name="connsiteY54" fmla="*/ 1101700 h 1904070"/>
                <a:gd name="connsiteX55" fmla="*/ 1418226 w 1900047"/>
                <a:gd name="connsiteY55" fmla="*/ 1109514 h 1904070"/>
                <a:gd name="connsiteX56" fmla="*/ 878166 w 1900047"/>
                <a:gd name="connsiteY56" fmla="*/ 1107281 h 1904070"/>
                <a:gd name="connsiteX57" fmla="*/ 690828 w 1900047"/>
                <a:gd name="connsiteY57" fmla="*/ 1108398 h 1904070"/>
                <a:gd name="connsiteX58" fmla="*/ 1012483 w 1900047"/>
                <a:gd name="connsiteY58" fmla="*/ 1478793 h 1904070"/>
                <a:gd name="connsiteX59" fmla="*/ 1059178 w 1900047"/>
                <a:gd name="connsiteY59" fmla="*/ 1481584 h 1904070"/>
                <a:gd name="connsiteX60" fmla="*/ 1399622 w 1900047"/>
                <a:gd name="connsiteY60" fmla="*/ 1283457 h 1904070"/>
                <a:gd name="connsiteX61" fmla="*/ 1858943 w 1900047"/>
                <a:gd name="connsiteY61" fmla="*/ 1283457 h 1904070"/>
                <a:gd name="connsiteX62" fmla="*/ 1047272 w 1900047"/>
                <a:gd name="connsiteY62" fmla="*/ 1859235 h 1904070"/>
                <a:gd name="connsiteX63" fmla="*/ 966347 w 1900047"/>
                <a:gd name="connsiteY63" fmla="*/ 1856259 h 1904070"/>
                <a:gd name="connsiteX64" fmla="*/ 683945 w 1900047"/>
                <a:gd name="connsiteY64" fmla="*/ 1782031 h 1904070"/>
                <a:gd name="connsiteX65" fmla="*/ 268343 w 1900047"/>
                <a:gd name="connsiteY65" fmla="*/ 1904070 h 1904070"/>
                <a:gd name="connsiteX66" fmla="*/ 53844 w 1900047"/>
                <a:gd name="connsiteY66" fmla="*/ 1815703 h 1904070"/>
                <a:gd name="connsiteX67" fmla="*/ 73564 w 1900047"/>
                <a:gd name="connsiteY67" fmla="*/ 1283643 h 1904070"/>
                <a:gd name="connsiteX68" fmla="*/ 571952 w 1900047"/>
                <a:gd name="connsiteY68" fmla="*/ 509736 h 1904070"/>
                <a:gd name="connsiteX69" fmla="*/ 618647 w 1900047"/>
                <a:gd name="connsiteY69" fmla="*/ 468251 h 1904070"/>
                <a:gd name="connsiteX70" fmla="*/ 621623 w 1900047"/>
                <a:gd name="connsiteY70" fmla="*/ 462855 h 1904070"/>
                <a:gd name="connsiteX71" fmla="*/ 625158 w 1900047"/>
                <a:gd name="connsiteY71" fmla="*/ 454856 h 1904070"/>
                <a:gd name="connsiteX72" fmla="*/ 211602 w 1900047"/>
                <a:gd name="connsiteY72" fmla="*/ 805160 h 1904070"/>
                <a:gd name="connsiteX73" fmla="*/ 986066 w 1900047"/>
                <a:gd name="connsiteY73" fmla="*/ 138224 h 1904070"/>
                <a:gd name="connsiteX74" fmla="*/ 1091176 w 1900047"/>
                <a:gd name="connsiteY74" fmla="*/ 131527 h 1904070"/>
                <a:gd name="connsiteX75" fmla="*/ 1189589 w 1900047"/>
                <a:gd name="connsiteY75" fmla="*/ 90971 h 1904070"/>
                <a:gd name="connsiteX76" fmla="*/ 1580449 w 1900047"/>
                <a:gd name="connsiteY76" fmla="*/ 0 h 190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1900047" h="1904070">
                  <a:moveTo>
                    <a:pt x="244344" y="1297037"/>
                  </a:moveTo>
                  <a:cubicBezTo>
                    <a:pt x="203974" y="1396938"/>
                    <a:pt x="128258" y="1550789"/>
                    <a:pt x="152443" y="1687897"/>
                  </a:cubicBezTo>
                  <a:cubicBezTo>
                    <a:pt x="170488" y="1790588"/>
                    <a:pt x="250855" y="1827609"/>
                    <a:pt x="343501" y="1827609"/>
                  </a:cubicBezTo>
                  <a:cubicBezTo>
                    <a:pt x="438007" y="1827609"/>
                    <a:pt x="545349" y="1788914"/>
                    <a:pt x="611950" y="1741847"/>
                  </a:cubicBezTo>
                  <a:cubicBezTo>
                    <a:pt x="439123" y="1645109"/>
                    <a:pt x="331409" y="1481770"/>
                    <a:pt x="244344" y="1297037"/>
                  </a:cubicBezTo>
                  <a:close/>
                  <a:moveTo>
                    <a:pt x="1075921" y="651681"/>
                  </a:moveTo>
                  <a:cubicBezTo>
                    <a:pt x="1010623" y="651681"/>
                    <a:pt x="946441" y="673261"/>
                    <a:pt x="899746" y="711212"/>
                  </a:cubicBezTo>
                  <a:cubicBezTo>
                    <a:pt x="885049" y="723118"/>
                    <a:pt x="872399" y="736327"/>
                    <a:pt x="861609" y="750837"/>
                  </a:cubicBezTo>
                  <a:lnTo>
                    <a:pt x="1274607" y="750837"/>
                  </a:lnTo>
                  <a:cubicBezTo>
                    <a:pt x="1264003" y="733908"/>
                    <a:pt x="1251166" y="718839"/>
                    <a:pt x="1235911" y="705817"/>
                  </a:cubicBezTo>
                  <a:cubicBezTo>
                    <a:pt x="1194798" y="670842"/>
                    <a:pt x="1138057" y="651681"/>
                    <a:pt x="1075921" y="651681"/>
                  </a:cubicBezTo>
                  <a:close/>
                  <a:moveTo>
                    <a:pt x="1075921" y="532618"/>
                  </a:moveTo>
                  <a:cubicBezTo>
                    <a:pt x="1248934" y="532618"/>
                    <a:pt x="1418226" y="640518"/>
                    <a:pt x="1428458" y="869900"/>
                  </a:cubicBezTo>
                  <a:lnTo>
                    <a:pt x="699758" y="869900"/>
                  </a:lnTo>
                  <a:cubicBezTo>
                    <a:pt x="711478" y="650006"/>
                    <a:pt x="895653" y="532618"/>
                    <a:pt x="1075921" y="532618"/>
                  </a:cubicBezTo>
                  <a:close/>
                  <a:moveTo>
                    <a:pt x="1184380" y="247613"/>
                  </a:moveTo>
                  <a:cubicBezTo>
                    <a:pt x="1106059" y="287424"/>
                    <a:pt x="1028854" y="330957"/>
                    <a:pt x="954440" y="377093"/>
                  </a:cubicBezTo>
                  <a:cubicBezTo>
                    <a:pt x="876306" y="425462"/>
                    <a:pt x="799659" y="477738"/>
                    <a:pt x="725803" y="532991"/>
                  </a:cubicBezTo>
                  <a:lnTo>
                    <a:pt x="725803" y="533363"/>
                  </a:lnTo>
                  <a:lnTo>
                    <a:pt x="695107" y="559408"/>
                  </a:lnTo>
                  <a:cubicBezTo>
                    <a:pt x="597253" y="642007"/>
                    <a:pt x="497910" y="756419"/>
                    <a:pt x="407683" y="890178"/>
                  </a:cubicBezTo>
                  <a:cubicBezTo>
                    <a:pt x="361918" y="958267"/>
                    <a:pt x="320060" y="1028960"/>
                    <a:pt x="283225" y="1100584"/>
                  </a:cubicBezTo>
                  <a:lnTo>
                    <a:pt x="352245" y="1246250"/>
                  </a:lnTo>
                  <a:cubicBezTo>
                    <a:pt x="398009" y="1343546"/>
                    <a:pt x="441727" y="1417588"/>
                    <a:pt x="489910" y="1479166"/>
                  </a:cubicBezTo>
                  <a:cubicBezTo>
                    <a:pt x="544047" y="1548557"/>
                    <a:pt x="603020" y="1600461"/>
                    <a:pt x="670179" y="1638040"/>
                  </a:cubicBezTo>
                  <a:lnTo>
                    <a:pt x="734361" y="1673944"/>
                  </a:lnTo>
                  <a:cubicBezTo>
                    <a:pt x="815286" y="1704826"/>
                    <a:pt x="886165" y="1731057"/>
                    <a:pt x="975276" y="1737754"/>
                  </a:cubicBezTo>
                  <a:cubicBezTo>
                    <a:pt x="999647" y="1739429"/>
                    <a:pt x="1023831" y="1740359"/>
                    <a:pt x="1047458" y="1740359"/>
                  </a:cubicBezTo>
                  <a:cubicBezTo>
                    <a:pt x="1137313" y="1740359"/>
                    <a:pt x="1222331" y="1727337"/>
                    <a:pt x="1299908" y="1701664"/>
                  </a:cubicBezTo>
                  <a:cubicBezTo>
                    <a:pt x="1372089" y="1677665"/>
                    <a:pt x="1438690" y="1642691"/>
                    <a:pt x="1497849" y="1597484"/>
                  </a:cubicBezTo>
                  <a:cubicBezTo>
                    <a:pt x="1566310" y="1545208"/>
                    <a:pt x="1625097" y="1479352"/>
                    <a:pt x="1671978" y="1402705"/>
                  </a:cubicBezTo>
                  <a:lnTo>
                    <a:pt x="1457665" y="1402705"/>
                  </a:lnTo>
                  <a:cubicBezTo>
                    <a:pt x="1347347" y="1532558"/>
                    <a:pt x="1210611" y="1600833"/>
                    <a:pt x="1058992" y="1600833"/>
                  </a:cubicBezTo>
                  <a:cubicBezTo>
                    <a:pt x="1039086" y="1600833"/>
                    <a:pt x="1018808" y="1599716"/>
                    <a:pt x="998531" y="1597298"/>
                  </a:cubicBezTo>
                  <a:cubicBezTo>
                    <a:pt x="759661" y="1569579"/>
                    <a:pt x="588137" y="1376102"/>
                    <a:pt x="571766" y="1116025"/>
                  </a:cubicBezTo>
                  <a:lnTo>
                    <a:pt x="563766" y="991009"/>
                  </a:lnTo>
                  <a:lnTo>
                    <a:pt x="688968" y="989335"/>
                  </a:lnTo>
                  <a:cubicBezTo>
                    <a:pt x="745151" y="988591"/>
                    <a:pt x="806914" y="988219"/>
                    <a:pt x="877794" y="988219"/>
                  </a:cubicBezTo>
                  <a:cubicBezTo>
                    <a:pt x="963928" y="988219"/>
                    <a:pt x="1054527" y="988591"/>
                    <a:pt x="1142150" y="989149"/>
                  </a:cubicBezTo>
                  <a:cubicBezTo>
                    <a:pt x="1232749" y="989707"/>
                    <a:pt x="1326139" y="990265"/>
                    <a:pt x="1418040" y="990265"/>
                  </a:cubicBezTo>
                  <a:cubicBezTo>
                    <a:pt x="1559055" y="990265"/>
                    <a:pt x="1677001" y="988963"/>
                    <a:pt x="1780809" y="986172"/>
                  </a:cubicBezTo>
                  <a:cubicBezTo>
                    <a:pt x="1781553" y="827670"/>
                    <a:pt x="1732811" y="702283"/>
                    <a:pt x="1699697" y="635682"/>
                  </a:cubicBezTo>
                  <a:lnTo>
                    <a:pt x="1679791" y="595685"/>
                  </a:lnTo>
                  <a:lnTo>
                    <a:pt x="1677373" y="592522"/>
                  </a:lnTo>
                  <a:cubicBezTo>
                    <a:pt x="1626771" y="523689"/>
                    <a:pt x="1575240" y="467692"/>
                    <a:pt x="1519801" y="421184"/>
                  </a:cubicBezTo>
                  <a:cubicBezTo>
                    <a:pt x="1458968" y="370210"/>
                    <a:pt x="1394227" y="331515"/>
                    <a:pt x="1322232" y="302679"/>
                  </a:cubicBezTo>
                  <a:close/>
                  <a:moveTo>
                    <a:pt x="1609284" y="126318"/>
                  </a:moveTo>
                  <a:cubicBezTo>
                    <a:pt x="1525196" y="126318"/>
                    <a:pt x="1433295" y="152921"/>
                    <a:pt x="1366508" y="192174"/>
                  </a:cubicBezTo>
                  <a:cubicBezTo>
                    <a:pt x="1541567" y="261938"/>
                    <a:pt x="1669187" y="380256"/>
                    <a:pt x="1773553" y="522201"/>
                  </a:cubicBezTo>
                  <a:cubicBezTo>
                    <a:pt x="1796435" y="450205"/>
                    <a:pt x="1828620" y="390488"/>
                    <a:pt x="1826201" y="306772"/>
                  </a:cubicBezTo>
                  <a:cubicBezTo>
                    <a:pt x="1822480" y="174873"/>
                    <a:pt x="1722952" y="126318"/>
                    <a:pt x="1609284" y="126318"/>
                  </a:cubicBezTo>
                  <a:close/>
                  <a:moveTo>
                    <a:pt x="1580449" y="0"/>
                  </a:moveTo>
                  <a:cubicBezTo>
                    <a:pt x="1656351" y="0"/>
                    <a:pt x="1727416" y="15441"/>
                    <a:pt x="1780250" y="57299"/>
                  </a:cubicBezTo>
                  <a:cubicBezTo>
                    <a:pt x="1912521" y="162037"/>
                    <a:pt x="1888151" y="416719"/>
                    <a:pt x="1806481" y="582848"/>
                  </a:cubicBezTo>
                  <a:cubicBezTo>
                    <a:pt x="1871780" y="714189"/>
                    <a:pt x="1919963" y="897062"/>
                    <a:pt x="1891872" y="1101700"/>
                  </a:cubicBezTo>
                  <a:cubicBezTo>
                    <a:pt x="1740997" y="1107839"/>
                    <a:pt x="1580263" y="1109514"/>
                    <a:pt x="1418226" y="1109514"/>
                  </a:cubicBezTo>
                  <a:cubicBezTo>
                    <a:pt x="1235912" y="1109514"/>
                    <a:pt x="1051923" y="1107467"/>
                    <a:pt x="878166" y="1107281"/>
                  </a:cubicBezTo>
                  <a:cubicBezTo>
                    <a:pt x="814170" y="1107281"/>
                    <a:pt x="751476" y="1107653"/>
                    <a:pt x="690828" y="1108398"/>
                  </a:cubicBezTo>
                  <a:cubicBezTo>
                    <a:pt x="703293" y="1305967"/>
                    <a:pt x="827750" y="1457399"/>
                    <a:pt x="1012483" y="1478793"/>
                  </a:cubicBezTo>
                  <a:cubicBezTo>
                    <a:pt x="1028482" y="1480654"/>
                    <a:pt x="1044109" y="1481584"/>
                    <a:pt x="1059178" y="1481584"/>
                  </a:cubicBezTo>
                  <a:cubicBezTo>
                    <a:pt x="1214704" y="1481584"/>
                    <a:pt x="1324836" y="1387822"/>
                    <a:pt x="1399622" y="1283457"/>
                  </a:cubicBezTo>
                  <a:lnTo>
                    <a:pt x="1858943" y="1283457"/>
                  </a:lnTo>
                  <a:cubicBezTo>
                    <a:pt x="1746578" y="1605297"/>
                    <a:pt x="1471060" y="1859235"/>
                    <a:pt x="1047272" y="1859235"/>
                  </a:cubicBezTo>
                  <a:cubicBezTo>
                    <a:pt x="1020855" y="1859235"/>
                    <a:pt x="993880" y="1858305"/>
                    <a:pt x="966347" y="1856259"/>
                  </a:cubicBezTo>
                  <a:cubicBezTo>
                    <a:pt x="859376" y="1848259"/>
                    <a:pt x="776219" y="1817191"/>
                    <a:pt x="683945" y="1782031"/>
                  </a:cubicBezTo>
                  <a:cubicBezTo>
                    <a:pt x="586835" y="1834865"/>
                    <a:pt x="415682" y="1904070"/>
                    <a:pt x="268343" y="1904070"/>
                  </a:cubicBezTo>
                  <a:cubicBezTo>
                    <a:pt x="182022" y="1904070"/>
                    <a:pt x="103888" y="1880443"/>
                    <a:pt x="53844" y="1815703"/>
                  </a:cubicBezTo>
                  <a:cubicBezTo>
                    <a:pt x="-49033" y="1682874"/>
                    <a:pt x="17195" y="1441214"/>
                    <a:pt x="73564" y="1283643"/>
                  </a:cubicBezTo>
                  <a:cubicBezTo>
                    <a:pt x="179604" y="987661"/>
                    <a:pt x="374197" y="694283"/>
                    <a:pt x="571952" y="509736"/>
                  </a:cubicBezTo>
                  <a:cubicBezTo>
                    <a:pt x="587579" y="495226"/>
                    <a:pt x="603020" y="481459"/>
                    <a:pt x="618647" y="468251"/>
                  </a:cubicBezTo>
                  <a:cubicBezTo>
                    <a:pt x="619205" y="466018"/>
                    <a:pt x="620321" y="464344"/>
                    <a:pt x="621623" y="462855"/>
                  </a:cubicBezTo>
                  <a:cubicBezTo>
                    <a:pt x="623298" y="460809"/>
                    <a:pt x="625158" y="458763"/>
                    <a:pt x="625158" y="454856"/>
                  </a:cubicBezTo>
                  <a:cubicBezTo>
                    <a:pt x="456796" y="540432"/>
                    <a:pt x="343501" y="682377"/>
                    <a:pt x="211602" y="805160"/>
                  </a:cubicBezTo>
                  <a:cubicBezTo>
                    <a:pt x="319130" y="437741"/>
                    <a:pt x="555023" y="175617"/>
                    <a:pt x="986066" y="138224"/>
                  </a:cubicBezTo>
                  <a:cubicBezTo>
                    <a:pt x="1015646" y="135620"/>
                    <a:pt x="1057318" y="137852"/>
                    <a:pt x="1091176" y="131527"/>
                  </a:cubicBezTo>
                  <a:cubicBezTo>
                    <a:pt x="1120384" y="125946"/>
                    <a:pt x="1155916" y="104924"/>
                    <a:pt x="1189589" y="90971"/>
                  </a:cubicBezTo>
                  <a:cubicBezTo>
                    <a:pt x="1278514" y="54508"/>
                    <a:pt x="1438132" y="0"/>
                    <a:pt x="1580449" y="0"/>
                  </a:cubicBezTo>
                  <a:close/>
                </a:path>
              </a:pathLst>
            </a:custGeom>
            <a:solidFill>
              <a:schemeClr val="accent4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2" name="图形 10"/>
            <p:cNvSpPr>
              <a:spLocks noChangeAspect="1"/>
            </p:cNvSpPr>
            <p:nvPr userDrawn="1"/>
          </p:nvSpPr>
          <p:spPr>
            <a:xfrm>
              <a:off x="7861797" y="4453453"/>
              <a:ext cx="143644" cy="144000"/>
            </a:xfrm>
            <a:custGeom>
              <a:avLst/>
              <a:gdLst>
                <a:gd name="connsiteX0" fmla="*/ 249486 w 1772714"/>
                <a:gd name="connsiteY0" fmla="*/ 122826 h 1777102"/>
                <a:gd name="connsiteX1" fmla="*/ 602777 w 1772714"/>
                <a:gd name="connsiteY1" fmla="*/ 183656 h 1777102"/>
                <a:gd name="connsiteX2" fmla="*/ 766780 w 1772714"/>
                <a:gd name="connsiteY2" fmla="*/ 404506 h 1777102"/>
                <a:gd name="connsiteX3" fmla="*/ 752190 w 1772714"/>
                <a:gd name="connsiteY3" fmla="*/ 717359 h 1777102"/>
                <a:gd name="connsiteX4" fmla="*/ 724827 w 1772714"/>
                <a:gd name="connsiteY4" fmla="*/ 747796 h 1777102"/>
                <a:gd name="connsiteX5" fmla="*/ 720021 w 1772714"/>
                <a:gd name="connsiteY5" fmla="*/ 799188 h 1777102"/>
                <a:gd name="connsiteX6" fmla="*/ 820424 w 1772714"/>
                <a:gd name="connsiteY6" fmla="*/ 926780 h 1777102"/>
                <a:gd name="connsiteX7" fmla="*/ 998801 w 1772714"/>
                <a:gd name="connsiteY7" fmla="*/ 1067317 h 1777102"/>
                <a:gd name="connsiteX8" fmla="*/ 1053916 w 1772714"/>
                <a:gd name="connsiteY8" fmla="*/ 1062121 h 1777102"/>
                <a:gd name="connsiteX9" fmla="*/ 1170164 w 1772714"/>
                <a:gd name="connsiteY9" fmla="*/ 976656 h 1777102"/>
                <a:gd name="connsiteX10" fmla="*/ 1615328 w 1772714"/>
                <a:gd name="connsiteY10" fmla="*/ 1191921 h 1777102"/>
                <a:gd name="connsiteX11" fmla="*/ 1641738 w 1772714"/>
                <a:gd name="connsiteY11" fmla="*/ 1215993 h 1777102"/>
                <a:gd name="connsiteX12" fmla="*/ 1659489 w 1772714"/>
                <a:gd name="connsiteY12" fmla="*/ 1580931 h 1777102"/>
                <a:gd name="connsiteX13" fmla="*/ 1648362 w 1772714"/>
                <a:gd name="connsiteY13" fmla="*/ 1593226 h 1777102"/>
                <a:gd name="connsiteX14" fmla="*/ 1496958 w 1772714"/>
                <a:gd name="connsiteY14" fmla="*/ 1720342 h 1777102"/>
                <a:gd name="connsiteX15" fmla="*/ 1271562 w 1772714"/>
                <a:gd name="connsiteY15" fmla="*/ 1777016 h 1777102"/>
                <a:gd name="connsiteX16" fmla="*/ 1244286 w 1772714"/>
                <a:gd name="connsiteY16" fmla="*/ 1777102 h 1777102"/>
                <a:gd name="connsiteX17" fmla="*/ 436956 w 1772714"/>
                <a:gd name="connsiteY17" fmla="*/ 1302714 h 1777102"/>
                <a:gd name="connsiteX18" fmla="*/ 2096 w 1772714"/>
                <a:gd name="connsiteY18" fmla="*/ 534306 h 1777102"/>
                <a:gd name="connsiteX19" fmla="*/ 158046 w 1772714"/>
                <a:gd name="connsiteY19" fmla="*/ 184089 h 1777102"/>
                <a:gd name="connsiteX20" fmla="*/ 463712 w 1772714"/>
                <a:gd name="connsiteY20" fmla="*/ 286916 h 1777102"/>
                <a:gd name="connsiteX21" fmla="*/ 345949 w 1772714"/>
                <a:gd name="connsiteY21" fmla="*/ 266654 h 1777102"/>
                <a:gd name="connsiteX22" fmla="*/ 254162 w 1772714"/>
                <a:gd name="connsiteY22" fmla="*/ 328133 h 1777102"/>
                <a:gd name="connsiteX23" fmla="*/ 174239 w 1772714"/>
                <a:gd name="connsiteY23" fmla="*/ 515126 h 1777102"/>
                <a:gd name="connsiteX24" fmla="*/ 530820 w 1772714"/>
                <a:gd name="connsiteY24" fmla="*/ 1150227 h 1777102"/>
                <a:gd name="connsiteX25" fmla="*/ 561733 w 1772714"/>
                <a:gd name="connsiteY25" fmla="*/ 1182612 h 1777102"/>
                <a:gd name="connsiteX26" fmla="*/ 1244373 w 1772714"/>
                <a:gd name="connsiteY26" fmla="*/ 1603920 h 1777102"/>
                <a:gd name="connsiteX27" fmla="*/ 1393396 w 1772714"/>
                <a:gd name="connsiteY27" fmla="*/ 1578852 h 1777102"/>
                <a:gd name="connsiteX28" fmla="*/ 1417078 w 1772714"/>
                <a:gd name="connsiteY28" fmla="*/ 1566730 h 1777102"/>
                <a:gd name="connsiteX29" fmla="*/ 1502370 w 1772714"/>
                <a:gd name="connsiteY29" fmla="*/ 1495725 h 1777102"/>
                <a:gd name="connsiteX30" fmla="*/ 1520338 w 1772714"/>
                <a:gd name="connsiteY30" fmla="*/ 1476589 h 1777102"/>
                <a:gd name="connsiteX31" fmla="*/ 1530729 w 1772714"/>
                <a:gd name="connsiteY31" fmla="*/ 1465115 h 1777102"/>
                <a:gd name="connsiteX32" fmla="*/ 1524667 w 1772714"/>
                <a:gd name="connsiteY32" fmla="*/ 1343585 h 1777102"/>
                <a:gd name="connsiteX33" fmla="*/ 1298838 w 1772714"/>
                <a:gd name="connsiteY33" fmla="*/ 1163173 h 1777102"/>
                <a:gd name="connsiteX34" fmla="*/ 1241385 w 1772714"/>
                <a:gd name="connsiteY34" fmla="*/ 1135594 h 1777102"/>
                <a:gd name="connsiteX35" fmla="*/ 1240693 w 1772714"/>
                <a:gd name="connsiteY35" fmla="*/ 1135420 h 1777102"/>
                <a:gd name="connsiteX36" fmla="*/ 1236623 w 1772714"/>
                <a:gd name="connsiteY36" fmla="*/ 1137715 h 1777102"/>
                <a:gd name="connsiteX37" fmla="*/ 1187785 w 1772714"/>
                <a:gd name="connsiteY37" fmla="*/ 1173650 h 1777102"/>
                <a:gd name="connsiteX38" fmla="*/ 1169125 w 1772714"/>
                <a:gd name="connsiteY38" fmla="*/ 1191488 h 1777102"/>
                <a:gd name="connsiteX39" fmla="*/ 901213 w 1772714"/>
                <a:gd name="connsiteY39" fmla="*/ 1210365 h 1777102"/>
                <a:gd name="connsiteX40" fmla="*/ 699456 w 1772714"/>
                <a:gd name="connsiteY40" fmla="*/ 1050778 h 1777102"/>
                <a:gd name="connsiteX41" fmla="*/ 571908 w 1772714"/>
                <a:gd name="connsiteY41" fmla="*/ 888983 h 1777102"/>
                <a:gd name="connsiteX42" fmla="*/ 596023 w 1772714"/>
                <a:gd name="connsiteY42" fmla="*/ 632067 h 1777102"/>
                <a:gd name="connsiteX43" fmla="*/ 623386 w 1772714"/>
                <a:gd name="connsiteY43" fmla="*/ 601631 h 1777102"/>
                <a:gd name="connsiteX44" fmla="*/ 627759 w 1772714"/>
                <a:gd name="connsiteY44" fmla="*/ 507766 h 1777102"/>
                <a:gd name="connsiteX45" fmla="*/ 1099030 w 1772714"/>
                <a:gd name="connsiteY45" fmla="*/ 385889 h 1777102"/>
                <a:gd name="connsiteX46" fmla="*/ 1418247 w 1772714"/>
                <a:gd name="connsiteY46" fmla="*/ 724330 h 1777102"/>
                <a:gd name="connsiteX47" fmla="*/ 1348260 w 1772714"/>
                <a:gd name="connsiteY47" fmla="*/ 824840 h 1777102"/>
                <a:gd name="connsiteX48" fmla="*/ 1247750 w 1772714"/>
                <a:gd name="connsiteY48" fmla="*/ 754853 h 1777102"/>
                <a:gd name="connsiteX49" fmla="*/ 1065909 w 1772714"/>
                <a:gd name="connsiteY49" fmla="*/ 555867 h 1777102"/>
                <a:gd name="connsiteX50" fmla="*/ 998396 w 1772714"/>
                <a:gd name="connsiteY50" fmla="*/ 453701 h 1777102"/>
                <a:gd name="connsiteX51" fmla="*/ 1099030 w 1772714"/>
                <a:gd name="connsiteY51" fmla="*/ 385889 h 1777102"/>
                <a:gd name="connsiteX52" fmla="*/ 1105697 w 1772714"/>
                <a:gd name="connsiteY52" fmla="*/ 1339 h 1777102"/>
                <a:gd name="connsiteX53" fmla="*/ 1771062 w 1772714"/>
                <a:gd name="connsiteY53" fmla="*/ 686490 h 1777102"/>
                <a:gd name="connsiteX54" fmla="*/ 1702850 w 1772714"/>
                <a:gd name="connsiteY54" fmla="*/ 788212 h 1777102"/>
                <a:gd name="connsiteX55" fmla="*/ 1601127 w 1772714"/>
                <a:gd name="connsiteY55" fmla="*/ 720000 h 1777102"/>
                <a:gd name="connsiteX56" fmla="*/ 1075520 w 1772714"/>
                <a:gd name="connsiteY56" fmla="*/ 171880 h 1777102"/>
                <a:gd name="connsiteX57" fmla="*/ 1005338 w 1772714"/>
                <a:gd name="connsiteY57" fmla="*/ 71521 h 1777102"/>
                <a:gd name="connsiteX58" fmla="*/ 1105697 w 1772714"/>
                <a:gd name="connsiteY58" fmla="*/ 1339 h 1777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1772714" h="1777102">
                  <a:moveTo>
                    <a:pt x="249486" y="122826"/>
                  </a:moveTo>
                  <a:cubicBezTo>
                    <a:pt x="364614" y="45577"/>
                    <a:pt x="520115" y="72351"/>
                    <a:pt x="602777" y="183656"/>
                  </a:cubicBezTo>
                  <a:lnTo>
                    <a:pt x="766780" y="404506"/>
                  </a:lnTo>
                  <a:cubicBezTo>
                    <a:pt x="836950" y="498986"/>
                    <a:pt x="830849" y="629821"/>
                    <a:pt x="752190" y="717359"/>
                  </a:cubicBezTo>
                  <a:lnTo>
                    <a:pt x="724827" y="747796"/>
                  </a:lnTo>
                  <a:cubicBezTo>
                    <a:pt x="712073" y="761995"/>
                    <a:pt x="710121" y="782871"/>
                    <a:pt x="720021" y="799188"/>
                  </a:cubicBezTo>
                  <a:cubicBezTo>
                    <a:pt x="747949" y="845800"/>
                    <a:pt x="781687" y="888673"/>
                    <a:pt x="820424" y="926780"/>
                  </a:cubicBezTo>
                  <a:cubicBezTo>
                    <a:pt x="862637" y="967997"/>
                    <a:pt x="922211" y="1015016"/>
                    <a:pt x="998801" y="1067317"/>
                  </a:cubicBezTo>
                  <a:cubicBezTo>
                    <a:pt x="1016025" y="1079091"/>
                    <a:pt x="1039196" y="1076906"/>
                    <a:pt x="1053916" y="1062121"/>
                  </a:cubicBezTo>
                  <a:cubicBezTo>
                    <a:pt x="1087996" y="1027774"/>
                    <a:pt x="1127215" y="998940"/>
                    <a:pt x="1170164" y="976656"/>
                  </a:cubicBezTo>
                  <a:cubicBezTo>
                    <a:pt x="1270610" y="924571"/>
                    <a:pt x="1402661" y="1000165"/>
                    <a:pt x="1615328" y="1191921"/>
                  </a:cubicBezTo>
                  <a:lnTo>
                    <a:pt x="1641738" y="1215993"/>
                  </a:lnTo>
                  <a:cubicBezTo>
                    <a:pt x="1746587" y="1312256"/>
                    <a:pt x="1754500" y="1474947"/>
                    <a:pt x="1659489" y="1580931"/>
                  </a:cubicBezTo>
                  <a:lnTo>
                    <a:pt x="1648362" y="1593226"/>
                  </a:lnTo>
                  <a:cubicBezTo>
                    <a:pt x="1592425" y="1654230"/>
                    <a:pt x="1542895" y="1696443"/>
                    <a:pt x="1496958" y="1720342"/>
                  </a:cubicBezTo>
                  <a:cubicBezTo>
                    <a:pt x="1406557" y="1767318"/>
                    <a:pt x="1374605" y="1776020"/>
                    <a:pt x="1271562" y="1777016"/>
                  </a:cubicBezTo>
                  <a:lnTo>
                    <a:pt x="1244286" y="1777102"/>
                  </a:lnTo>
                  <a:cubicBezTo>
                    <a:pt x="1066039" y="1777016"/>
                    <a:pt x="712531" y="1589070"/>
                    <a:pt x="436956" y="1302714"/>
                  </a:cubicBezTo>
                  <a:cubicBezTo>
                    <a:pt x="137611" y="991636"/>
                    <a:pt x="32316" y="797802"/>
                    <a:pt x="2096" y="534306"/>
                  </a:cubicBezTo>
                  <a:cubicBezTo>
                    <a:pt x="-13490" y="389699"/>
                    <a:pt x="59766" y="249639"/>
                    <a:pt x="158046" y="184089"/>
                  </a:cubicBezTo>
                  <a:close/>
                  <a:moveTo>
                    <a:pt x="463712" y="286916"/>
                  </a:moveTo>
                  <a:cubicBezTo>
                    <a:pt x="436154" y="249819"/>
                    <a:pt x="384321" y="240901"/>
                    <a:pt x="345949" y="266654"/>
                  </a:cubicBezTo>
                  <a:lnTo>
                    <a:pt x="254162" y="328133"/>
                  </a:lnTo>
                  <a:cubicBezTo>
                    <a:pt x="207273" y="359393"/>
                    <a:pt x="165969" y="438407"/>
                    <a:pt x="174239" y="515126"/>
                  </a:cubicBezTo>
                  <a:cubicBezTo>
                    <a:pt x="198614" y="727880"/>
                    <a:pt x="280183" y="884480"/>
                    <a:pt x="530820" y="1150227"/>
                  </a:cubicBezTo>
                  <a:lnTo>
                    <a:pt x="561733" y="1182612"/>
                  </a:lnTo>
                  <a:cubicBezTo>
                    <a:pt x="807478" y="1438012"/>
                    <a:pt x="1119508" y="1603877"/>
                    <a:pt x="1244373" y="1603920"/>
                  </a:cubicBezTo>
                  <a:cubicBezTo>
                    <a:pt x="1331396" y="1604007"/>
                    <a:pt x="1344125" y="1603617"/>
                    <a:pt x="1393396" y="1578852"/>
                  </a:cubicBezTo>
                  <a:lnTo>
                    <a:pt x="1417078" y="1566730"/>
                  </a:lnTo>
                  <a:cubicBezTo>
                    <a:pt x="1438206" y="1555689"/>
                    <a:pt x="1467301" y="1531877"/>
                    <a:pt x="1502370" y="1495725"/>
                  </a:cubicBezTo>
                  <a:lnTo>
                    <a:pt x="1520338" y="1476589"/>
                  </a:lnTo>
                  <a:lnTo>
                    <a:pt x="1530729" y="1465115"/>
                  </a:lnTo>
                  <a:cubicBezTo>
                    <a:pt x="1562309" y="1429773"/>
                    <a:pt x="1559607" y="1375609"/>
                    <a:pt x="1524667" y="1343585"/>
                  </a:cubicBezTo>
                  <a:cubicBezTo>
                    <a:pt x="1431063" y="1257730"/>
                    <a:pt x="1355296" y="1197376"/>
                    <a:pt x="1298838" y="1163173"/>
                  </a:cubicBezTo>
                  <a:cubicBezTo>
                    <a:pt x="1274203" y="1148236"/>
                    <a:pt x="1254634" y="1139144"/>
                    <a:pt x="1241385" y="1135594"/>
                  </a:cubicBezTo>
                  <a:lnTo>
                    <a:pt x="1240693" y="1135420"/>
                  </a:lnTo>
                  <a:lnTo>
                    <a:pt x="1236623" y="1137715"/>
                  </a:lnTo>
                  <a:cubicBezTo>
                    <a:pt x="1219140" y="1147966"/>
                    <a:pt x="1202773" y="1160009"/>
                    <a:pt x="1187785" y="1173650"/>
                  </a:cubicBezTo>
                  <a:lnTo>
                    <a:pt x="1169125" y="1191488"/>
                  </a:lnTo>
                  <a:cubicBezTo>
                    <a:pt x="1094990" y="1259114"/>
                    <a:pt x="984098" y="1266927"/>
                    <a:pt x="901213" y="1210365"/>
                  </a:cubicBezTo>
                  <a:cubicBezTo>
                    <a:pt x="816917" y="1152825"/>
                    <a:pt x="749765" y="1099831"/>
                    <a:pt x="699456" y="1050778"/>
                  </a:cubicBezTo>
                  <a:cubicBezTo>
                    <a:pt x="650261" y="1002464"/>
                    <a:pt x="607402" y="948097"/>
                    <a:pt x="571908" y="888983"/>
                  </a:cubicBezTo>
                  <a:cubicBezTo>
                    <a:pt x="522449" y="807388"/>
                    <a:pt x="532244" y="703033"/>
                    <a:pt x="596023" y="632067"/>
                  </a:cubicBezTo>
                  <a:lnTo>
                    <a:pt x="623386" y="601631"/>
                  </a:lnTo>
                  <a:cubicBezTo>
                    <a:pt x="646990" y="575368"/>
                    <a:pt x="648819" y="536110"/>
                    <a:pt x="627759" y="507766"/>
                  </a:cubicBezTo>
                  <a:close/>
                  <a:moveTo>
                    <a:pt x="1099030" y="385889"/>
                  </a:moveTo>
                  <a:cubicBezTo>
                    <a:pt x="1268185" y="418881"/>
                    <a:pt x="1387118" y="550499"/>
                    <a:pt x="1418247" y="724330"/>
                  </a:cubicBezTo>
                  <a:cubicBezTo>
                    <a:pt x="1426676" y="771412"/>
                    <a:pt x="1395342" y="816412"/>
                    <a:pt x="1348260" y="824840"/>
                  </a:cubicBezTo>
                  <a:cubicBezTo>
                    <a:pt x="1301178" y="833269"/>
                    <a:pt x="1256178" y="801935"/>
                    <a:pt x="1247750" y="754853"/>
                  </a:cubicBezTo>
                  <a:cubicBezTo>
                    <a:pt x="1228743" y="648693"/>
                    <a:pt x="1161765" y="574571"/>
                    <a:pt x="1065909" y="555867"/>
                  </a:cubicBezTo>
                  <a:cubicBezTo>
                    <a:pt x="1019053" y="546298"/>
                    <a:pt x="988826" y="500557"/>
                    <a:pt x="998396" y="453701"/>
                  </a:cubicBezTo>
                  <a:cubicBezTo>
                    <a:pt x="1007843" y="407442"/>
                    <a:pt x="1052607" y="377277"/>
                    <a:pt x="1099030" y="385889"/>
                  </a:cubicBezTo>
                  <a:close/>
                  <a:moveTo>
                    <a:pt x="1105697" y="1339"/>
                  </a:moveTo>
                  <a:cubicBezTo>
                    <a:pt x="1452667" y="62689"/>
                    <a:pt x="1700230" y="327267"/>
                    <a:pt x="1771062" y="686490"/>
                  </a:cubicBezTo>
                  <a:cubicBezTo>
                    <a:pt x="1780316" y="733416"/>
                    <a:pt x="1749776" y="778959"/>
                    <a:pt x="1702850" y="788212"/>
                  </a:cubicBezTo>
                  <a:cubicBezTo>
                    <a:pt x="1655924" y="797466"/>
                    <a:pt x="1610381" y="766927"/>
                    <a:pt x="1601127" y="720000"/>
                  </a:cubicBezTo>
                  <a:cubicBezTo>
                    <a:pt x="1543631" y="428189"/>
                    <a:pt x="1349018" y="220241"/>
                    <a:pt x="1075520" y="171880"/>
                  </a:cubicBezTo>
                  <a:cubicBezTo>
                    <a:pt x="1028427" y="163547"/>
                    <a:pt x="997005" y="118615"/>
                    <a:pt x="1005338" y="71521"/>
                  </a:cubicBezTo>
                  <a:cubicBezTo>
                    <a:pt x="1013671" y="24428"/>
                    <a:pt x="1058604" y="-6994"/>
                    <a:pt x="1105697" y="1339"/>
                  </a:cubicBezTo>
                  <a:close/>
                </a:path>
              </a:pathLst>
            </a:custGeom>
            <a:solidFill>
              <a:schemeClr val="accent4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图形 12"/>
            <p:cNvSpPr>
              <a:spLocks noChangeAspect="1"/>
            </p:cNvSpPr>
            <p:nvPr userDrawn="1"/>
          </p:nvSpPr>
          <p:spPr>
            <a:xfrm>
              <a:off x="7861797" y="4756638"/>
              <a:ext cx="157082" cy="108000"/>
            </a:xfrm>
            <a:custGeom>
              <a:avLst/>
              <a:gdLst>
                <a:gd name="connsiteX0" fmla="*/ 1745579 w 1904884"/>
                <a:gd name="connsiteY0" fmla="*/ 0 h 1309687"/>
                <a:gd name="connsiteX1" fmla="*/ 159547 w 1904884"/>
                <a:gd name="connsiteY1" fmla="*/ 0 h 1309687"/>
                <a:gd name="connsiteX2" fmla="*/ 4 w 1904884"/>
                <a:gd name="connsiteY2" fmla="*/ 161806 h 1309687"/>
                <a:gd name="connsiteX3" fmla="*/ 4 w 1904884"/>
                <a:gd name="connsiteY3" fmla="*/ 1148001 h 1309687"/>
                <a:gd name="connsiteX4" fmla="*/ 159428 w 1904884"/>
                <a:gd name="connsiteY4" fmla="*/ 1309688 h 1309687"/>
                <a:gd name="connsiteX5" fmla="*/ 1745460 w 1904884"/>
                <a:gd name="connsiteY5" fmla="*/ 1309688 h 1309687"/>
                <a:gd name="connsiteX6" fmla="*/ 1904885 w 1904884"/>
                <a:gd name="connsiteY6" fmla="*/ 1148001 h 1309687"/>
                <a:gd name="connsiteX7" fmla="*/ 1904885 w 1904884"/>
                <a:gd name="connsiteY7" fmla="*/ 161925 h 1309687"/>
                <a:gd name="connsiteX8" fmla="*/ 1745460 w 1904884"/>
                <a:gd name="connsiteY8" fmla="*/ 119 h 1309687"/>
                <a:gd name="connsiteX9" fmla="*/ 1707479 w 1904884"/>
                <a:gd name="connsiteY9" fmla="*/ 115848 h 1309687"/>
                <a:gd name="connsiteX10" fmla="*/ 1074900 w 1904884"/>
                <a:gd name="connsiteY10" fmla="*/ 684609 h 1309687"/>
                <a:gd name="connsiteX11" fmla="*/ 952504 w 1904884"/>
                <a:gd name="connsiteY11" fmla="*/ 759262 h 1309687"/>
                <a:gd name="connsiteX12" fmla="*/ 830107 w 1904884"/>
                <a:gd name="connsiteY12" fmla="*/ 684609 h 1309687"/>
                <a:gd name="connsiteX13" fmla="*/ 197528 w 1904884"/>
                <a:gd name="connsiteY13" fmla="*/ 115848 h 1309687"/>
                <a:gd name="connsiteX14" fmla="*/ 1707360 w 1904884"/>
                <a:gd name="connsiteY14" fmla="*/ 115848 h 1309687"/>
                <a:gd name="connsiteX15" fmla="*/ 118590 w 1904884"/>
                <a:gd name="connsiteY15" fmla="*/ 1112044 h 1309687"/>
                <a:gd name="connsiteX16" fmla="*/ 118590 w 1904884"/>
                <a:gd name="connsiteY16" fmla="*/ 220861 h 1309687"/>
                <a:gd name="connsiteX17" fmla="*/ 612580 w 1904884"/>
                <a:gd name="connsiteY17" fmla="*/ 660202 h 1309687"/>
                <a:gd name="connsiteX18" fmla="*/ 118471 w 1904884"/>
                <a:gd name="connsiteY18" fmla="*/ 1112044 h 1309687"/>
                <a:gd name="connsiteX19" fmla="*/ 201577 w 1904884"/>
                <a:gd name="connsiteY19" fmla="*/ 1193840 h 1309687"/>
                <a:gd name="connsiteX20" fmla="*/ 697472 w 1904884"/>
                <a:gd name="connsiteY20" fmla="*/ 747355 h 1309687"/>
                <a:gd name="connsiteX21" fmla="*/ 778792 w 1904884"/>
                <a:gd name="connsiteY21" fmla="*/ 819626 h 1309687"/>
                <a:gd name="connsiteX22" fmla="*/ 952504 w 1904884"/>
                <a:gd name="connsiteY22" fmla="*/ 882968 h 1309687"/>
                <a:gd name="connsiteX23" fmla="*/ 1126335 w 1904884"/>
                <a:gd name="connsiteY23" fmla="*/ 819626 h 1309687"/>
                <a:gd name="connsiteX24" fmla="*/ 1207655 w 1904884"/>
                <a:gd name="connsiteY24" fmla="*/ 747355 h 1309687"/>
                <a:gd name="connsiteX25" fmla="*/ 1703550 w 1904884"/>
                <a:gd name="connsiteY25" fmla="*/ 1193840 h 1309687"/>
                <a:gd name="connsiteX26" fmla="*/ 201577 w 1904884"/>
                <a:gd name="connsiteY26" fmla="*/ 1193840 h 1309687"/>
                <a:gd name="connsiteX27" fmla="*/ 1786537 w 1904884"/>
                <a:gd name="connsiteY27" fmla="*/ 1112044 h 1309687"/>
                <a:gd name="connsiteX28" fmla="*/ 1292427 w 1904884"/>
                <a:gd name="connsiteY28" fmla="*/ 660321 h 1309687"/>
                <a:gd name="connsiteX29" fmla="*/ 1786537 w 1904884"/>
                <a:gd name="connsiteY29" fmla="*/ 220980 h 1309687"/>
                <a:gd name="connsiteX30" fmla="*/ 1786537 w 1904884"/>
                <a:gd name="connsiteY30" fmla="*/ 1112044 h 1309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904884" h="1309687">
                  <a:moveTo>
                    <a:pt x="1745579" y="0"/>
                  </a:moveTo>
                  <a:lnTo>
                    <a:pt x="159547" y="0"/>
                  </a:lnTo>
                  <a:cubicBezTo>
                    <a:pt x="70822" y="655"/>
                    <a:pt x="-590" y="73080"/>
                    <a:pt x="4" y="161806"/>
                  </a:cubicBezTo>
                  <a:lnTo>
                    <a:pt x="4" y="1148001"/>
                  </a:lnTo>
                  <a:cubicBezTo>
                    <a:pt x="4" y="1237298"/>
                    <a:pt x="71441" y="1309688"/>
                    <a:pt x="159428" y="1309688"/>
                  </a:cubicBezTo>
                  <a:lnTo>
                    <a:pt x="1745460" y="1309688"/>
                  </a:lnTo>
                  <a:cubicBezTo>
                    <a:pt x="1833685" y="1309688"/>
                    <a:pt x="1904885" y="1237417"/>
                    <a:pt x="1904885" y="1148001"/>
                  </a:cubicBezTo>
                  <a:lnTo>
                    <a:pt x="1904885" y="161925"/>
                  </a:lnTo>
                  <a:cubicBezTo>
                    <a:pt x="1904885" y="72628"/>
                    <a:pt x="1833685" y="119"/>
                    <a:pt x="1745460" y="119"/>
                  </a:cubicBezTo>
                  <a:close/>
                  <a:moveTo>
                    <a:pt x="1707479" y="115848"/>
                  </a:moveTo>
                  <a:lnTo>
                    <a:pt x="1074900" y="684609"/>
                  </a:lnTo>
                  <a:cubicBezTo>
                    <a:pt x="1019774" y="734497"/>
                    <a:pt x="978816" y="759262"/>
                    <a:pt x="952504" y="759262"/>
                  </a:cubicBezTo>
                  <a:cubicBezTo>
                    <a:pt x="926191" y="759262"/>
                    <a:pt x="885233" y="734497"/>
                    <a:pt x="830107" y="684609"/>
                  </a:cubicBezTo>
                  <a:lnTo>
                    <a:pt x="197528" y="115848"/>
                  </a:lnTo>
                  <a:lnTo>
                    <a:pt x="1707360" y="115848"/>
                  </a:lnTo>
                  <a:close/>
                  <a:moveTo>
                    <a:pt x="118590" y="1112044"/>
                  </a:moveTo>
                  <a:lnTo>
                    <a:pt x="118590" y="220861"/>
                  </a:lnTo>
                  <a:lnTo>
                    <a:pt x="612580" y="660202"/>
                  </a:lnTo>
                  <a:lnTo>
                    <a:pt x="118471" y="1112044"/>
                  </a:lnTo>
                  <a:close/>
                  <a:moveTo>
                    <a:pt x="201577" y="1193840"/>
                  </a:moveTo>
                  <a:lnTo>
                    <a:pt x="697472" y="747355"/>
                  </a:lnTo>
                  <a:lnTo>
                    <a:pt x="778792" y="819626"/>
                  </a:lnTo>
                  <a:cubicBezTo>
                    <a:pt x="825940" y="861417"/>
                    <a:pt x="884162" y="882968"/>
                    <a:pt x="952504" y="882968"/>
                  </a:cubicBezTo>
                  <a:cubicBezTo>
                    <a:pt x="1021203" y="882968"/>
                    <a:pt x="1079067" y="861536"/>
                    <a:pt x="1126335" y="819626"/>
                  </a:cubicBezTo>
                  <a:lnTo>
                    <a:pt x="1207655" y="747355"/>
                  </a:lnTo>
                  <a:lnTo>
                    <a:pt x="1703550" y="1193840"/>
                  </a:lnTo>
                  <a:lnTo>
                    <a:pt x="201577" y="1193840"/>
                  </a:lnTo>
                  <a:close/>
                  <a:moveTo>
                    <a:pt x="1786537" y="1112044"/>
                  </a:moveTo>
                  <a:lnTo>
                    <a:pt x="1292427" y="660321"/>
                  </a:lnTo>
                  <a:lnTo>
                    <a:pt x="1786537" y="220980"/>
                  </a:lnTo>
                  <a:lnTo>
                    <a:pt x="1786537" y="1112044"/>
                  </a:lnTo>
                  <a:close/>
                </a:path>
              </a:pathLst>
            </a:custGeom>
            <a:solidFill>
              <a:schemeClr val="accent4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7" name="文本框 36"/>
          <p:cNvSpPr txBox="1"/>
          <p:nvPr userDrawn="1"/>
        </p:nvSpPr>
        <p:spPr>
          <a:xfrm>
            <a:off x="2352232" y="4548564"/>
            <a:ext cx="2957431" cy="458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cs typeface="+mn-cs"/>
              </a:rPr>
              <a:t>中智管理咨询有限公司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cs typeface="+mn-cs"/>
            </a:endParaRPr>
          </a:p>
        </p:txBody>
      </p:sp>
      <p:sp>
        <p:nvSpPr>
          <p:cNvPr id="32" name="椭圆 31"/>
          <p:cNvSpPr/>
          <p:nvPr userDrawn="1"/>
        </p:nvSpPr>
        <p:spPr>
          <a:xfrm>
            <a:off x="6904788" y="1668952"/>
            <a:ext cx="1718401" cy="1718401"/>
          </a:xfrm>
          <a:prstGeom prst="ellipse">
            <a:avLst/>
          </a:prstGeom>
          <a:gradFill>
            <a:gsLst>
              <a:gs pos="100000">
                <a:schemeClr val="bg1">
                  <a:alpha val="0"/>
                </a:schemeClr>
              </a:gs>
              <a:gs pos="0">
                <a:srgbClr val="FF2F00">
                  <a:alpha val="20309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399" y="0"/>
            <a:ext cx="10858500" cy="10287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 defTabSz="914400"/>
            <a:r>
              <a:rPr lang="zh-CN" altLang="en-US" dirty="0"/>
              <a:t>单击此处编辑标题样式</a:t>
            </a:r>
            <a:r>
              <a:rPr lang="en-US" altLang="zh-CN" dirty="0"/>
              <a:t>-24pt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cxnSp>
        <p:nvCxnSpPr>
          <p:cNvPr id="4" name="直接连接符 6"/>
          <p:cNvCxnSpPr/>
          <p:nvPr userDrawn="1"/>
        </p:nvCxnSpPr>
        <p:spPr>
          <a:xfrm>
            <a:off x="669924" y="1125443"/>
            <a:ext cx="10850563" cy="0"/>
          </a:xfrm>
          <a:prstGeom prst="line">
            <a:avLst/>
          </a:prstGeom>
          <a:ln w="19050">
            <a:gradFill>
              <a:gsLst>
                <a:gs pos="0">
                  <a:schemeClr val="bg1"/>
                </a:gs>
                <a:gs pos="83000">
                  <a:srgbClr val="0042FF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6"/>
          <p:cNvCxnSpPr/>
          <p:nvPr userDrawn="1"/>
        </p:nvCxnSpPr>
        <p:spPr>
          <a:xfrm>
            <a:off x="669924" y="6462082"/>
            <a:ext cx="10850563" cy="0"/>
          </a:xfrm>
          <a:prstGeom prst="line">
            <a:avLst/>
          </a:prstGeom>
          <a:ln w="19050">
            <a:gradFill>
              <a:gsLst>
                <a:gs pos="0">
                  <a:schemeClr val="bg1"/>
                </a:gs>
                <a:gs pos="83000">
                  <a:srgbClr val="0042FF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 userDrawn="1"/>
        </p:nvSpPr>
        <p:spPr>
          <a:xfrm>
            <a:off x="11194812" y="6225703"/>
            <a:ext cx="240189" cy="240189"/>
          </a:xfrm>
          <a:prstGeom prst="rect">
            <a:avLst/>
          </a:prstGeom>
          <a:solidFill>
            <a:srgbClr val="FF42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110913" y="6237847"/>
            <a:ext cx="407987" cy="215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CN" altLang="en-US" sz="900" b="0" smtClean="0">
                <a:solidFill>
                  <a:schemeClr val="bg1"/>
                </a:solidFill>
              </a:defRPr>
            </a:lvl1pPr>
          </a:lstStyle>
          <a:p>
            <a:fld id="{7F65B630-C7FF-41C0-9923-C5E5E29EED81}" type="slidenum">
              <a:rPr lang="en-US" altLang="zh-CN" smtClean="0"/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altLang="en-US"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just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just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tags" Target="../tags/tag1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55320" y="1524635"/>
            <a:ext cx="6205855" cy="1434465"/>
          </a:xfrm>
        </p:spPr>
        <p:txBody>
          <a:bodyPr/>
          <a:lstStyle/>
          <a:p>
            <a:pPr algn="l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构建全链条全要素创新体系</a:t>
            </a:r>
            <a:b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支撑企业 "十五五" 高质量发展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55320" y="3027045"/>
            <a:ext cx="6483350" cy="486410"/>
          </a:xfrm>
        </p:spPr>
        <p:txBody>
          <a:bodyPr wrap="square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——</a:t>
            </a:r>
            <a:r>
              <a:rPr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科技企业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十五五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科技创新</a:t>
            </a:r>
            <a:r>
              <a:rPr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战略规划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660400" y="4753169"/>
            <a:ext cx="3153286" cy="312420"/>
          </a:xfrm>
        </p:spPr>
        <p:txBody>
          <a:bodyPr/>
          <a:lstStyle/>
          <a:p>
            <a:r>
              <a:rPr lang="zh-CN" altLang="en-US" dirty="0"/>
              <a:t>中智咨询</a:t>
            </a:r>
            <a:r>
              <a:rPr dirty="0"/>
              <a:t>-</a:t>
            </a:r>
            <a:r>
              <a:rPr lang="zh-CN" altLang="en-US" dirty="0"/>
              <a:t>张婉媚</a:t>
            </a:r>
            <a:r>
              <a:rPr dirty="0"/>
              <a:t>-20260525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/>
          <p:cNvGrpSpPr/>
          <p:nvPr/>
        </p:nvGrpSpPr>
        <p:grpSpPr>
          <a:xfrm>
            <a:off x="2845644" y="4007095"/>
            <a:ext cx="6851808" cy="540000"/>
            <a:chOff x="2845644" y="4007095"/>
            <a:chExt cx="6851808" cy="540000"/>
          </a:xfrm>
        </p:grpSpPr>
        <p:sp>
          <p:nvSpPr>
            <p:cNvPr id="15" name="Title 1"/>
            <p:cNvSpPr txBox="1"/>
            <p:nvPr/>
          </p:nvSpPr>
          <p:spPr>
            <a:xfrm>
              <a:off x="3785815" y="4072670"/>
              <a:ext cx="5911637" cy="398780"/>
            </a:xfrm>
            <a:prstGeom prst="rect">
              <a:avLst/>
            </a:prstGeom>
            <a:noFill/>
          </p:spPr>
          <p:txBody>
            <a:bodyPr wrap="square" anchor="ctr" anchorCtr="0">
              <a:sp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+mj-lt"/>
                <a:buNone/>
                <a:defRPr lang="zh-CN" altLang="en-US" sz="2000" kern="1200" dirty="0">
                  <a:solidFill>
                    <a:srgbClr val="0042FF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+mj-ea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57300" indent="-3429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+mj-lt"/>
                <a:buAutoNum type="alphaLcParenR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b="1" dirty="0">
                  <a:solidFill>
                    <a:schemeClr val="tx1"/>
                  </a:solidFill>
                </a:rPr>
                <a:t>保障机制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9" name="Rectangle 4"/>
            <p:cNvSpPr>
              <a:spLocks noChangeAspect="1"/>
            </p:cNvSpPr>
            <p:nvPr/>
          </p:nvSpPr>
          <p:spPr>
            <a:xfrm>
              <a:off x="3162183" y="4093274"/>
              <a:ext cx="345073" cy="345162"/>
            </a:xfrm>
            <a:prstGeom prst="rect">
              <a:avLst/>
            </a:prstGeom>
            <a:solidFill>
              <a:srgbClr val="FF42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just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3D7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0" name="文本占位符 10"/>
            <p:cNvSpPr txBox="1"/>
            <p:nvPr/>
          </p:nvSpPr>
          <p:spPr>
            <a:xfrm>
              <a:off x="2845644" y="4007095"/>
              <a:ext cx="978150" cy="540000"/>
            </a:xfrm>
            <a:prstGeom prst="rect">
              <a:avLst/>
            </a:prstGeom>
          </p:spPr>
          <p:txBody>
            <a:bodyPr anchor="ctr" anchorCtr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lang="zh-CN" altLang="en-US" sz="1800" b="1" kern="1200" dirty="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dirty="0"/>
                <a:t>4</a:t>
              </a:r>
              <a:endParaRPr lang="en-US" dirty="0"/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2845644" y="1889139"/>
            <a:ext cx="6851808" cy="540000"/>
            <a:chOff x="2845644" y="1889139"/>
            <a:chExt cx="6851808" cy="540000"/>
          </a:xfrm>
        </p:grpSpPr>
        <p:sp>
          <p:nvSpPr>
            <p:cNvPr id="12" name="Title 1"/>
            <p:cNvSpPr txBox="1"/>
            <p:nvPr/>
          </p:nvSpPr>
          <p:spPr>
            <a:xfrm>
              <a:off x="3785815" y="1949111"/>
              <a:ext cx="5911637" cy="398780"/>
            </a:xfrm>
            <a:prstGeom prst="rect">
              <a:avLst/>
            </a:prstGeom>
            <a:noFill/>
          </p:spPr>
          <p:txBody>
            <a:bodyPr wrap="square" anchor="ctr" anchorCtr="0">
              <a:sp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+mj-lt"/>
                <a:buNone/>
                <a:defRPr lang="zh-CN" altLang="en-US" sz="2000" kern="1200" dirty="0">
                  <a:solidFill>
                    <a:srgbClr val="0042FF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+mj-ea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57300" indent="-3429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+mj-lt"/>
                <a:buAutoNum type="alphaLcParenR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b="1" dirty="0">
                  <a:solidFill>
                    <a:schemeClr val="tx1"/>
                  </a:solidFill>
                </a:rPr>
                <a:t>规划背景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6" name="Rectangle 4"/>
            <p:cNvSpPr>
              <a:spLocks noChangeAspect="1"/>
            </p:cNvSpPr>
            <p:nvPr/>
          </p:nvSpPr>
          <p:spPr>
            <a:xfrm>
              <a:off x="3162183" y="1977413"/>
              <a:ext cx="345073" cy="345162"/>
            </a:xfrm>
            <a:prstGeom prst="rect">
              <a:avLst/>
            </a:prstGeom>
            <a:solidFill>
              <a:srgbClr val="FF42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just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3D7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1" name="文本占位符 10"/>
            <p:cNvSpPr txBox="1"/>
            <p:nvPr/>
          </p:nvSpPr>
          <p:spPr>
            <a:xfrm>
              <a:off x="2845644" y="1889139"/>
              <a:ext cx="978150" cy="540000"/>
            </a:xfrm>
            <a:prstGeom prst="rect">
              <a:avLst/>
            </a:prstGeom>
          </p:spPr>
          <p:txBody>
            <a:bodyPr anchor="ctr" anchorCtr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lang="zh-CN" altLang="en-US" sz="1800" b="1" kern="1200" dirty="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dirty="0"/>
                <a:t>1</a:t>
              </a:r>
              <a:endParaRPr lang="en-US" dirty="0"/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2845644" y="2611488"/>
            <a:ext cx="6851808" cy="490909"/>
            <a:chOff x="2845644" y="2611488"/>
            <a:chExt cx="6851808" cy="490909"/>
          </a:xfrm>
        </p:grpSpPr>
        <p:sp>
          <p:nvSpPr>
            <p:cNvPr id="13" name="Title 1"/>
            <p:cNvSpPr txBox="1"/>
            <p:nvPr/>
          </p:nvSpPr>
          <p:spPr>
            <a:xfrm>
              <a:off x="3785815" y="2657552"/>
              <a:ext cx="5911637" cy="398780"/>
            </a:xfrm>
            <a:prstGeom prst="rect">
              <a:avLst/>
            </a:prstGeom>
            <a:noFill/>
          </p:spPr>
          <p:txBody>
            <a:bodyPr wrap="square" anchor="ctr" anchorCtr="0">
              <a:sp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+mj-lt"/>
                <a:buNone/>
                <a:defRPr lang="zh-CN" altLang="en-US" sz="2000" kern="1200" dirty="0">
                  <a:solidFill>
                    <a:srgbClr val="0042FF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+mj-ea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57300" indent="-3429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+mj-lt"/>
                <a:buAutoNum type="alphaLcParenR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b="1" dirty="0">
                  <a:solidFill>
                    <a:schemeClr val="tx1"/>
                  </a:solidFill>
                </a:rPr>
                <a:t>顶层设计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7" name="Rectangle 4"/>
            <p:cNvSpPr>
              <a:spLocks noChangeAspect="1"/>
            </p:cNvSpPr>
            <p:nvPr/>
          </p:nvSpPr>
          <p:spPr>
            <a:xfrm>
              <a:off x="3162183" y="2673131"/>
              <a:ext cx="345073" cy="345162"/>
            </a:xfrm>
            <a:prstGeom prst="rect">
              <a:avLst/>
            </a:prstGeom>
            <a:solidFill>
              <a:srgbClr val="FF42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just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3D7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2" name="文本占位符 10"/>
            <p:cNvSpPr txBox="1"/>
            <p:nvPr/>
          </p:nvSpPr>
          <p:spPr>
            <a:xfrm>
              <a:off x="2845644" y="2611488"/>
              <a:ext cx="978150" cy="490909"/>
            </a:xfrm>
            <a:prstGeom prst="rect">
              <a:avLst/>
            </a:prstGeom>
          </p:spPr>
          <p:txBody>
            <a:bodyPr anchor="ctr" anchorCtr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lang="zh-CN" altLang="en-US" sz="1800" b="1" kern="1200" dirty="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dirty="0"/>
                <a:t>2</a:t>
              </a:r>
              <a:endParaRPr lang="en-US" dirty="0"/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2845644" y="3284746"/>
            <a:ext cx="6851808" cy="540000"/>
            <a:chOff x="2845644" y="3284746"/>
            <a:chExt cx="6851808" cy="540000"/>
          </a:xfrm>
        </p:grpSpPr>
        <p:grpSp>
          <p:nvGrpSpPr>
            <p:cNvPr id="6" name="组合 5"/>
            <p:cNvGrpSpPr/>
            <p:nvPr/>
          </p:nvGrpSpPr>
          <p:grpSpPr>
            <a:xfrm>
              <a:off x="3162183" y="3356160"/>
              <a:ext cx="6535269" cy="398780"/>
              <a:chOff x="3162183" y="3356160"/>
              <a:chExt cx="6535269" cy="398780"/>
            </a:xfrm>
          </p:grpSpPr>
          <p:sp>
            <p:nvSpPr>
              <p:cNvPr id="14" name="Title 1"/>
              <p:cNvSpPr txBox="1"/>
              <p:nvPr/>
            </p:nvSpPr>
            <p:spPr>
              <a:xfrm>
                <a:off x="3785815" y="3356160"/>
                <a:ext cx="5911637" cy="398780"/>
              </a:xfrm>
              <a:prstGeom prst="rect">
                <a:avLst/>
              </a:prstGeom>
              <a:noFill/>
            </p:spPr>
            <p:txBody>
              <a:bodyPr wrap="square" anchor="ctr" anchorCtr="0">
                <a:sp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buFont typeface="+mj-lt"/>
                  <a:buNone/>
                  <a:defRPr lang="zh-CN" altLang="en-US" sz="2000" kern="1200" dirty="0">
                    <a:solidFill>
                      <a:srgbClr val="0042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+mj-ea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57300" indent="-3429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b="1" dirty="0">
                    <a:solidFill>
                      <a:schemeClr val="tx1"/>
                    </a:solidFill>
                  </a:rPr>
                  <a:t>重点任务</a:t>
                </a:r>
                <a:endParaRPr lang="zh-CN" altLang="en-US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Rectangle 4"/>
              <p:cNvSpPr>
                <a:spLocks noChangeAspect="1"/>
              </p:cNvSpPr>
              <p:nvPr/>
            </p:nvSpPr>
            <p:spPr>
              <a:xfrm>
                <a:off x="3162183" y="3370925"/>
                <a:ext cx="345073" cy="345162"/>
              </a:xfrm>
              <a:prstGeom prst="rect">
                <a:avLst/>
              </a:prstGeom>
              <a:solidFill>
                <a:srgbClr val="FF42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just" defTabSz="914400" rtl="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03D7E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23" name="文本占位符 10"/>
            <p:cNvSpPr txBox="1"/>
            <p:nvPr/>
          </p:nvSpPr>
          <p:spPr>
            <a:xfrm>
              <a:off x="2845644" y="3284746"/>
              <a:ext cx="978150" cy="540000"/>
            </a:xfrm>
            <a:prstGeom prst="rect">
              <a:avLst/>
            </a:prstGeom>
          </p:spPr>
          <p:txBody>
            <a:bodyPr anchor="ctr" anchorCtr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lang="zh-CN" altLang="en-US" sz="1800" b="1" kern="1200" dirty="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dirty="0"/>
                <a:t>3</a:t>
              </a:r>
              <a:endParaRPr lang="en-US" dirty="0"/>
            </a:p>
          </p:txBody>
        </p:sp>
      </p:grpSp>
      <p:sp>
        <p:nvSpPr>
          <p:cNvPr id="7" name="Content Placeholder 2"/>
          <p:cNvSpPr>
            <a:spLocks noGrp="1"/>
          </p:cNvSpPr>
          <p:nvPr>
            <p:ph type="body" sz="quarter" idx="13" hasCustomPrompt="1"/>
          </p:nvPr>
        </p:nvSpPr>
        <p:spPr/>
        <p:txBody>
          <a:bodyPr vert="horz" wrap="none" lIns="91440" tIns="90000" rIns="91440" bIns="90000" rtlCol="0" anchor="ctr" anchorCtr="0">
            <a:spAutoFit/>
          </a:bodyPr>
          <a:lstStyle>
            <a:lvl1pPr marL="0" indent="0">
              <a:buNone/>
              <a:defRPr lang="en-US" altLang="zh-CN" sz="4000" b="1" kern="1200" spc="0" baseline="0" dirty="0">
                <a:solidFill>
                  <a:srgbClr val="E2ECFB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altLang="zh-CN" dirty="0"/>
              <a:t>CONTENTS</a:t>
            </a:r>
            <a:endParaRPr lang="zh-CN" altLang="en-US" dirty="0"/>
          </a:p>
        </p:txBody>
      </p:sp>
      <p:sp>
        <p:nvSpPr>
          <p:cNvPr id="8" name="标题 1"/>
          <p:cNvSpPr>
            <a:spLocks noGrp="1"/>
          </p:cNvSpPr>
          <p:nvPr>
            <p:ph type="title" hasCustomPrompt="1"/>
          </p:nvPr>
        </p:nvSpPr>
        <p:spPr/>
        <p:txBody>
          <a:bodyPr wrap="none" anchor="ctr" anchorCtr="0">
            <a:sp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zh-CN" altLang="en-US" dirty="0"/>
              <a:t>目  录</a:t>
            </a:r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2846279" y="4707500"/>
            <a:ext cx="6851808" cy="540000"/>
            <a:chOff x="2845644" y="4007095"/>
            <a:chExt cx="6851808" cy="540000"/>
          </a:xfrm>
        </p:grpSpPr>
        <p:sp>
          <p:nvSpPr>
            <p:cNvPr id="3" name="Title 1"/>
            <p:cNvSpPr txBox="1"/>
            <p:nvPr/>
          </p:nvSpPr>
          <p:spPr>
            <a:xfrm>
              <a:off x="3785815" y="4072670"/>
              <a:ext cx="5911637" cy="398780"/>
            </a:xfrm>
            <a:prstGeom prst="rect">
              <a:avLst/>
            </a:prstGeom>
            <a:noFill/>
          </p:spPr>
          <p:txBody>
            <a:bodyPr wrap="square" anchor="ctr" anchorCtr="0">
              <a:sp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+mj-lt"/>
                <a:buNone/>
                <a:defRPr lang="zh-CN" altLang="en-US" sz="2000" kern="1200" dirty="0">
                  <a:solidFill>
                    <a:srgbClr val="0042FF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+mj-ea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57300" indent="-3429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+mj-lt"/>
                <a:buAutoNum type="alphaLcParenR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b="1" dirty="0">
                  <a:solidFill>
                    <a:schemeClr val="tx1"/>
                  </a:solidFill>
                </a:rPr>
                <a:t>实施路径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4" name="Rectangle 4"/>
            <p:cNvSpPr>
              <a:spLocks noChangeAspect="1"/>
            </p:cNvSpPr>
            <p:nvPr/>
          </p:nvSpPr>
          <p:spPr>
            <a:xfrm>
              <a:off x="3162183" y="4093274"/>
              <a:ext cx="345073" cy="345162"/>
            </a:xfrm>
            <a:prstGeom prst="rect">
              <a:avLst/>
            </a:prstGeom>
            <a:solidFill>
              <a:srgbClr val="FF42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just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3D7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" name="文本占位符 10"/>
            <p:cNvSpPr txBox="1"/>
            <p:nvPr/>
          </p:nvSpPr>
          <p:spPr>
            <a:xfrm>
              <a:off x="2845644" y="4007095"/>
              <a:ext cx="978150" cy="540000"/>
            </a:xfrm>
            <a:prstGeom prst="rect">
              <a:avLst/>
            </a:prstGeom>
          </p:spPr>
          <p:txBody>
            <a:bodyPr anchor="ctr" anchorCtr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lang="zh-CN" altLang="en-US" sz="1800" b="1" kern="1200" dirty="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dirty="0"/>
                <a:t>5</a:t>
              </a:r>
              <a:endParaRPr lang="en-US"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五边形 62"/>
          <p:cNvSpPr/>
          <p:nvPr/>
        </p:nvSpPr>
        <p:spPr>
          <a:xfrm>
            <a:off x="234461" y="1864360"/>
            <a:ext cx="8380583" cy="4531995"/>
          </a:xfrm>
          <a:prstGeom prst="homePlate">
            <a:avLst>
              <a:gd name="adj" fmla="val 6347"/>
            </a:avLst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660399" y="89535"/>
            <a:ext cx="10858500" cy="10287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200"/>
              <a:t>国际新形势</a:t>
            </a:r>
            <a:r>
              <a:rPr lang="en-US" altLang="zh-CN" sz="2200"/>
              <a:t> 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en-US" altLang="zh-CN" sz="2200"/>
              <a:t> </a:t>
            </a:r>
            <a:r>
              <a:rPr lang="zh-CN" altLang="en-US" sz="2200"/>
              <a:t>全球创新重心东移形成中美双极引领格局，竞争范式从单点技术突破升级为全链条体系化对抗，驱动</a:t>
            </a:r>
            <a:r>
              <a:rPr lang="zh-CN" altLang="en-US" sz="2200"/>
              <a:t>科技企业从规模扩张向质量提升转型</a:t>
            </a:r>
            <a:endParaRPr lang="zh-CN" altLang="en-US" sz="220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/>
          </p:nvPr>
        </p:nvSpPr>
        <p:spPr>
          <a:xfrm>
            <a:off x="566420" y="1118235"/>
            <a:ext cx="11135995" cy="838200"/>
          </a:xfrm>
        </p:spPr>
        <p:txBody>
          <a:bodyPr/>
          <a:lstStyle/>
          <a:p>
            <a:pPr marL="285750" indent="-285750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全球创新进入中美双极引领、全链条对抗、融合式突破的新阶段，中国首次跻身全球创新前十，科技企业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正处于从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跟跑并跑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向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并跑领跑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跨越的关键节点，必须以系统性创新规划把握机遇、破解挑战，抢占未来产业制高点。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6"/>
          </p:nvPr>
        </p:nvSpPr>
        <p:spPr>
          <a:xfrm>
            <a:off x="669925" y="6476365"/>
            <a:ext cx="10046970" cy="36576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t>注：全球创新指数排名来源于</a:t>
            </a:r>
            <a:r>
              <a:rPr lang="zh-CN" altLang="en-US"/>
              <a:t>世界知识产权组织（</a:t>
            </a:r>
            <a:r>
              <a:rPr lang="en-US" altLang="zh-CN"/>
              <a:t>WIPO）</a:t>
            </a:r>
            <a:r>
              <a:rPr lang="zh-CN" altLang="en-US"/>
              <a:t>发布的《2025年全球创新指数（</a:t>
            </a:r>
            <a:r>
              <a:rPr lang="en-US" altLang="zh-CN"/>
              <a:t>GII）》</a:t>
            </a:r>
            <a:r>
              <a:rPr lang="zh-CN" altLang="en-US"/>
              <a:t>报告；国家创新指数排名来源于国家科学技术战略发展研究院在2026中关村论坛发布《国家创新指数报告2025》；五大关键技术领域得分排名来源于哈佛大学发布的《2025全球关键和新兴技术指数报告》。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</a:fld>
            <a:endParaRPr lang="en-US" altLang="zh-CN" dirty="0"/>
          </a:p>
        </p:txBody>
      </p:sp>
      <p:sp>
        <p:nvSpPr>
          <p:cNvPr id="38" name="圆角矩形 37"/>
          <p:cNvSpPr/>
          <p:nvPr/>
        </p:nvSpPr>
        <p:spPr>
          <a:xfrm>
            <a:off x="386080" y="1956435"/>
            <a:ext cx="3514090" cy="4378325"/>
          </a:xfrm>
          <a:prstGeom prst="roundRect">
            <a:avLst>
              <a:gd name="adj" fmla="val 9597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4093210" y="1956435"/>
            <a:ext cx="4206875" cy="2474595"/>
          </a:xfrm>
          <a:prstGeom prst="roundRect">
            <a:avLst>
              <a:gd name="adj" fmla="val 9597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4093210" y="4584065"/>
            <a:ext cx="4206240" cy="1756410"/>
          </a:xfrm>
          <a:prstGeom prst="roundRect">
            <a:avLst>
              <a:gd name="adj" fmla="val 9597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693420" y="2023745"/>
            <a:ext cx="2900045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accent1"/>
                </a:solidFill>
              </a:rPr>
              <a:t>创新重心东移，双极竞争格局固化</a:t>
            </a:r>
            <a:endParaRPr lang="zh-CN" altLang="en-US" sz="1400" b="1">
              <a:solidFill>
                <a:schemeClr val="accent1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465455" y="2273300"/>
            <a:ext cx="3434715" cy="115506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171450" indent="-171450" algn="just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p"/>
            </a:pPr>
            <a:r>
              <a:rPr lang="zh-CN" altLang="en-US" sz="12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全球创新第一梯队呈现</a:t>
            </a:r>
            <a:r>
              <a:rPr lang="en-US" altLang="zh-CN" sz="1200" b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1200" b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欧洲主导、亚太崛起、北美领跑</a:t>
            </a:r>
            <a:r>
              <a:rPr lang="en-US" altLang="zh-CN" sz="1200" b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12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的分布特征；</a:t>
            </a:r>
            <a:endParaRPr lang="zh-CN" altLang="en-US" sz="1200" b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71450" indent="-171450" algn="just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p"/>
            </a:pPr>
            <a:r>
              <a:rPr lang="zh-CN" altLang="en-US" sz="12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全球创新数据显示，</a:t>
            </a:r>
            <a:r>
              <a:rPr lang="zh-CN" altLang="en-US" sz="1200" b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中国首次历史性跻身全球前十</a:t>
            </a:r>
            <a:r>
              <a:rPr lang="zh-CN" altLang="en-US" sz="12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，成为榜单中唯一的中等收入经济体；</a:t>
            </a:r>
            <a:endParaRPr lang="zh-CN" altLang="en-US" sz="1200" b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71450" indent="-171450" algn="just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p"/>
            </a:pPr>
            <a:r>
              <a:rPr lang="zh-CN" altLang="en-US" sz="12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中美双极竞争成为全球科技博弈的主线。</a:t>
            </a:r>
            <a:endParaRPr lang="zh-CN" altLang="en-US" sz="1200" b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995" y="3782060"/>
            <a:ext cx="3108325" cy="2456180"/>
          </a:xfrm>
          <a:prstGeom prst="rect">
            <a:avLst/>
          </a:prstGeom>
        </p:spPr>
      </p:pic>
      <p:sp>
        <p:nvSpPr>
          <p:cNvPr id="45" name="文本框 44"/>
          <p:cNvSpPr txBox="1"/>
          <p:nvPr/>
        </p:nvSpPr>
        <p:spPr>
          <a:xfrm>
            <a:off x="644525" y="3508375"/>
            <a:ext cx="3009265" cy="2914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000" b="1" dirty="0">
                <a:latin typeface="+mn-ea"/>
              </a:rPr>
              <a:t>表</a:t>
            </a:r>
            <a:r>
              <a:rPr lang="en-US" altLang="zh-CN" sz="1000" b="1" dirty="0">
                <a:latin typeface="+mn-ea"/>
              </a:rPr>
              <a:t>1</a:t>
            </a:r>
            <a:r>
              <a:rPr lang="zh-CN" altLang="en-US" sz="1000" b="1" dirty="0">
                <a:latin typeface="+mn-ea"/>
              </a:rPr>
              <a:t>：</a:t>
            </a:r>
            <a:r>
              <a:rPr lang="en-US" altLang="zh-CN" sz="1000" b="1" dirty="0">
                <a:latin typeface="+mn-ea"/>
              </a:rPr>
              <a:t>2025</a:t>
            </a:r>
            <a:r>
              <a:rPr lang="zh-CN" altLang="en-US" sz="1000" b="1" dirty="0">
                <a:latin typeface="+mn-ea"/>
              </a:rPr>
              <a:t>年全球</a:t>
            </a:r>
            <a:r>
              <a:rPr lang="en-US" altLang="zh-CN" sz="1000" b="1" dirty="0">
                <a:latin typeface="+mn-ea"/>
              </a:rPr>
              <a:t>/</a:t>
            </a:r>
            <a:r>
              <a:rPr lang="zh-CN" altLang="en-US" sz="1000" b="1" dirty="0">
                <a:latin typeface="+mn-ea"/>
              </a:rPr>
              <a:t>国家创新指数排行</a:t>
            </a:r>
            <a:r>
              <a:rPr lang="en-US" altLang="zh-CN" sz="1000" b="1" dirty="0">
                <a:latin typeface="+mn-ea"/>
              </a:rPr>
              <a:t>TOP10</a:t>
            </a:r>
            <a:r>
              <a:rPr lang="zh-CN" altLang="en-US" sz="1000" b="1" dirty="0">
                <a:latin typeface="+mn-ea"/>
              </a:rPr>
              <a:t>国家</a:t>
            </a:r>
            <a:endParaRPr lang="zh-CN" altLang="en-US" sz="1000" b="1" dirty="0">
              <a:latin typeface="+mn-ea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4563745" y="2023745"/>
            <a:ext cx="3265805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accent1"/>
                </a:solidFill>
              </a:rPr>
              <a:t>竞争范式升级，全链条体系化对抗加剧</a:t>
            </a:r>
            <a:endParaRPr lang="zh-CN" altLang="en-US" sz="1400" b="1">
              <a:solidFill>
                <a:schemeClr val="accent1"/>
              </a:solidFill>
            </a:endParaRPr>
          </a:p>
        </p:txBody>
      </p:sp>
      <p:grpSp>
        <p:nvGrpSpPr>
          <p:cNvPr id="57" name="组合 56"/>
          <p:cNvGrpSpPr/>
          <p:nvPr/>
        </p:nvGrpSpPr>
        <p:grpSpPr>
          <a:xfrm>
            <a:off x="4246880" y="3072765"/>
            <a:ext cx="3899535" cy="1102995"/>
            <a:chOff x="9103" y="4380"/>
            <a:chExt cx="7800" cy="2040"/>
          </a:xfrm>
        </p:grpSpPr>
        <p:pic>
          <p:nvPicPr>
            <p:cNvPr id="47" name="图片 4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03" y="4380"/>
              <a:ext cx="7800" cy="2040"/>
            </a:xfrm>
            <a:prstGeom prst="rect">
              <a:avLst/>
            </a:prstGeom>
          </p:spPr>
        </p:pic>
        <p:pic>
          <p:nvPicPr>
            <p:cNvPr id="48" name="图片 4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211" y="4968"/>
              <a:ext cx="1692" cy="1452"/>
            </a:xfrm>
            <a:prstGeom prst="rect">
              <a:avLst/>
            </a:prstGeom>
          </p:spPr>
        </p:pic>
      </p:grpSp>
      <p:sp>
        <p:nvSpPr>
          <p:cNvPr id="58" name="文本框 57"/>
          <p:cNvSpPr txBox="1"/>
          <p:nvPr/>
        </p:nvSpPr>
        <p:spPr>
          <a:xfrm>
            <a:off x="4236403" y="4679950"/>
            <a:ext cx="3919855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accent1"/>
                </a:solidFill>
              </a:rPr>
              <a:t>技术融合与商业化并行，产业变革周期大幅压缩</a:t>
            </a:r>
            <a:endParaRPr lang="zh-CN" altLang="en-US" sz="1400" b="1">
              <a:solidFill>
                <a:schemeClr val="accent1"/>
              </a:solidFill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4093210" y="4927600"/>
            <a:ext cx="4231005" cy="115506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171450" indent="-171450" algn="just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p"/>
            </a:pPr>
            <a:r>
              <a:rPr lang="zh-CN" altLang="en-US" sz="1200" b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跨领域技术融合成为创新主流</a:t>
            </a:r>
            <a:r>
              <a:rPr lang="zh-CN" altLang="en-US" sz="12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，重构全球产业边界，</a:t>
            </a:r>
            <a:r>
              <a:rPr lang="en-US" altLang="zh-CN" sz="12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AI</a:t>
            </a:r>
            <a:r>
              <a:rPr lang="zh-CN" altLang="en-US" sz="12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作为通用技术全面渗透五大关键领域，与多领域深度交叉；</a:t>
            </a:r>
            <a:endParaRPr lang="zh-CN" altLang="en-US" sz="1200" b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71450" indent="-171450" algn="just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p"/>
            </a:pPr>
            <a:r>
              <a:rPr lang="zh-CN" altLang="en-US" sz="12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技术商业化速度指数级提升，</a:t>
            </a:r>
            <a:r>
              <a:rPr lang="zh-CN" altLang="en-US" sz="1200" b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创新窗口期大幅缩短</a:t>
            </a:r>
            <a:r>
              <a:rPr lang="zh-CN" altLang="en-US" sz="12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；</a:t>
            </a:r>
            <a:endParaRPr lang="zh-CN" altLang="en-US" sz="1200" b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71450" indent="-171450" algn="just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p"/>
            </a:pPr>
            <a:r>
              <a:rPr lang="zh-CN" altLang="en-US" sz="12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创新模式从</a:t>
            </a:r>
            <a:r>
              <a:rPr lang="en-US" altLang="zh-CN" sz="12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12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实验室驱动</a:t>
            </a:r>
            <a:r>
              <a:rPr lang="en-US" altLang="zh-CN" sz="12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12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转向</a:t>
            </a:r>
            <a:r>
              <a:rPr lang="en-US" altLang="zh-CN" sz="12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12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场景驱动</a:t>
            </a:r>
            <a:r>
              <a:rPr lang="en-US" altLang="zh-CN" sz="12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12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zh-CN" altLang="en-US" sz="1200" b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市场需求成为创新核心牵引力</a:t>
            </a:r>
            <a:r>
              <a:rPr lang="zh-CN" altLang="en-US" sz="12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1200" b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4077970" y="2273935"/>
            <a:ext cx="4222115" cy="115506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171450" indent="-171450" algn="just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p"/>
            </a:pPr>
            <a:r>
              <a:rPr lang="zh-CN" altLang="en-US" sz="12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中美两国在人工智能、量子、半导体、生物技术、太空五大战略领域综合实力遥遥领先，</a:t>
            </a:r>
            <a:r>
              <a:rPr lang="zh-CN" altLang="en-US" sz="1200" b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形成</a:t>
            </a:r>
            <a:r>
              <a:rPr lang="zh-CN" altLang="en-US" sz="12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中美双寡头垄断格局</a:t>
            </a:r>
            <a:r>
              <a:rPr lang="zh-CN" altLang="en-US" sz="12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；</a:t>
            </a:r>
            <a:endParaRPr lang="zh-CN" altLang="en-US" sz="12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171450" indent="-171450" algn="just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p"/>
            </a:pPr>
            <a:r>
              <a:rPr lang="zh-CN" altLang="en-US" sz="12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竞争维度全面升级，</a:t>
            </a:r>
            <a:r>
              <a:rPr lang="zh-CN" altLang="en-US" sz="12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从单点技术突破转向全生态体系对抗</a:t>
            </a:r>
            <a:r>
              <a:rPr lang="zh-CN" altLang="en-US" sz="12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 lang="en-US" altLang="zh-CN" sz="12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4798695" y="4156710"/>
            <a:ext cx="2795905" cy="2914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000" b="1" dirty="0">
                <a:latin typeface="+mn-ea"/>
              </a:rPr>
              <a:t>图</a:t>
            </a:r>
            <a:r>
              <a:rPr lang="en-US" altLang="zh-CN" sz="1000" b="1" dirty="0">
                <a:latin typeface="+mn-ea"/>
              </a:rPr>
              <a:t>1</a:t>
            </a:r>
            <a:r>
              <a:rPr lang="zh-CN" altLang="en-US" sz="1000" b="1" dirty="0">
                <a:latin typeface="+mn-ea"/>
              </a:rPr>
              <a:t>：五大关键技术领域得分排行</a:t>
            </a:r>
            <a:r>
              <a:rPr lang="en-US" altLang="zh-CN" sz="1000" b="1" dirty="0">
                <a:latin typeface="+mn-ea"/>
              </a:rPr>
              <a:t>TOP5</a:t>
            </a:r>
            <a:r>
              <a:rPr lang="zh-CN" altLang="en-US" sz="1000" b="1" dirty="0">
                <a:latin typeface="+mn-ea"/>
              </a:rPr>
              <a:t>国家</a:t>
            </a:r>
            <a:endParaRPr lang="zh-CN" altLang="en-US" sz="1000" b="1" dirty="0">
              <a:latin typeface="+mn-ea"/>
            </a:endParaRPr>
          </a:p>
        </p:txBody>
      </p:sp>
      <p:grpSp>
        <p:nvGrpSpPr>
          <p:cNvPr id="70" name="组合 69"/>
          <p:cNvGrpSpPr/>
          <p:nvPr/>
        </p:nvGrpSpPr>
        <p:grpSpPr>
          <a:xfrm>
            <a:off x="8615045" y="1864360"/>
            <a:ext cx="3255010" cy="631825"/>
            <a:chOff x="726" y="2692"/>
            <a:chExt cx="17760" cy="2060"/>
          </a:xfrm>
        </p:grpSpPr>
        <p:sp>
          <p:nvSpPr>
            <p:cNvPr id="64" name="圆角矩形 63"/>
            <p:cNvSpPr/>
            <p:nvPr/>
          </p:nvSpPr>
          <p:spPr>
            <a:xfrm>
              <a:off x="1326" y="2692"/>
              <a:ext cx="16560" cy="1921"/>
            </a:xfrm>
            <a:prstGeom prst="roundRect">
              <a:avLst>
                <a:gd name="adj" fmla="val 9356"/>
              </a:avLst>
            </a:prstGeom>
            <a:solidFill>
              <a:srgbClr val="FFFFFF"/>
            </a:solidFill>
            <a:ln w="15875" cap="flat">
              <a:solidFill>
                <a:srgbClr val="0142FF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65" name="矩形 64"/>
            <p:cNvSpPr/>
            <p:nvPr/>
          </p:nvSpPr>
          <p:spPr>
            <a:xfrm>
              <a:off x="726" y="4404"/>
              <a:ext cx="17760" cy="348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100000">
                  <a:srgbClr val="B2CFF1"/>
                </a:gs>
              </a:gsLst>
              <a:lin ang="0" scaled="1"/>
              <a:tileRect/>
            </a:gradFill>
            <a:ln w="7620" cap="flat">
              <a:noFill/>
              <a:prstDash val="solid"/>
              <a:miter/>
            </a:ln>
          </p:spPr>
          <p:txBody>
            <a:bodyPr anchor="ctr"/>
            <a:lstStyle/>
            <a:p>
              <a:endParaRPr lang="zh-CN" altLang="en-US" sz="1600">
                <a:latin typeface="Alibaba PuHuiTi" pitchFamily="18" charset="-122"/>
                <a:ea typeface="Alibaba PuHuiTi" pitchFamily="18" charset="-122"/>
                <a:cs typeface="Alibaba PuHuiTi" pitchFamily="18" charset="-122"/>
              </a:endParaRPr>
            </a:p>
          </p:txBody>
        </p:sp>
        <p:sp>
          <p:nvSpPr>
            <p:cNvPr id="66" name="任意形状 11"/>
            <p:cNvSpPr/>
            <p:nvPr/>
          </p:nvSpPr>
          <p:spPr>
            <a:xfrm>
              <a:off x="726" y="3500"/>
              <a:ext cx="600" cy="904"/>
            </a:xfrm>
            <a:custGeom>
              <a:avLst/>
              <a:gdLst>
                <a:gd name="csX0" fmla="*/ 381000 w 381000"/>
                <a:gd name="csY0" fmla="*/ 0 h 609600"/>
                <a:gd name="csX1" fmla="*/ 381000 w 381000"/>
                <a:gd name="csY1" fmla="*/ 609600 h 609600"/>
                <a:gd name="csX2" fmla="*/ 0 w 381000"/>
                <a:gd name="csY2" fmla="*/ 609600 h 609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81000" h="609600">
                  <a:moveTo>
                    <a:pt x="381000" y="0"/>
                  </a:moveTo>
                  <a:lnTo>
                    <a:pt x="381000" y="609600"/>
                  </a:lnTo>
                  <a:lnTo>
                    <a:pt x="0" y="609600"/>
                  </a:lnTo>
                </a:path>
              </a:pathLst>
            </a:custGeom>
            <a:solidFill>
              <a:srgbClr val="013597">
                <a:lumMod val="75000"/>
              </a:srgbClr>
            </a:solidFill>
            <a:ln w="7620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任意形状 12"/>
            <p:cNvSpPr/>
            <p:nvPr/>
          </p:nvSpPr>
          <p:spPr>
            <a:xfrm>
              <a:off x="17886" y="3500"/>
              <a:ext cx="600" cy="904"/>
            </a:xfrm>
            <a:custGeom>
              <a:avLst/>
              <a:gdLst>
                <a:gd name="csX0" fmla="*/ 381000 w 381000"/>
                <a:gd name="csY0" fmla="*/ 609600 h 609600"/>
                <a:gd name="csX1" fmla="*/ 0 w 381000"/>
                <a:gd name="csY1" fmla="*/ 609600 h 609600"/>
                <a:gd name="csX2" fmla="*/ 0 w 381000"/>
                <a:gd name="csY2" fmla="*/ 0 h 609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81000" h="609600">
                  <a:moveTo>
                    <a:pt x="381000" y="609600"/>
                  </a:moveTo>
                  <a:lnTo>
                    <a:pt x="0" y="609600"/>
                  </a:lnTo>
                  <a:lnTo>
                    <a:pt x="0" y="0"/>
                  </a:lnTo>
                </a:path>
              </a:pathLst>
            </a:custGeom>
            <a:solidFill>
              <a:srgbClr val="013597">
                <a:lumMod val="75000"/>
              </a:srgbClr>
            </a:solidFill>
            <a:ln w="7620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1" name="文本框 70"/>
          <p:cNvSpPr txBox="1"/>
          <p:nvPr/>
        </p:nvSpPr>
        <p:spPr>
          <a:xfrm>
            <a:off x="8739505" y="1911350"/>
            <a:ext cx="3096260" cy="4108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600" b="1" dirty="0">
                <a:solidFill>
                  <a:schemeClr val="accent1">
                    <a:lumMod val="50000"/>
                  </a:schemeClr>
                </a:solidFill>
                <a:latin typeface="+mn-ea"/>
              </a:rPr>
              <a:t>中国科技企业面临的机遇与挑战</a:t>
            </a:r>
            <a:endParaRPr lang="zh-CN" altLang="en-US" sz="1600" b="1" dirty="0">
              <a:solidFill>
                <a:schemeClr val="accent1">
                  <a:lumMod val="50000"/>
                </a:schemeClr>
              </a:solidFill>
              <a:latin typeface="+mn-ea"/>
            </a:endParaRPr>
          </a:p>
        </p:txBody>
      </p:sp>
      <p:grpSp>
        <p:nvGrpSpPr>
          <p:cNvPr id="77" name="组合 76"/>
          <p:cNvGrpSpPr/>
          <p:nvPr/>
        </p:nvGrpSpPr>
        <p:grpSpPr>
          <a:xfrm>
            <a:off x="8615045" y="2590800"/>
            <a:ext cx="3254375" cy="878840"/>
            <a:chOff x="13807" y="4080"/>
            <a:chExt cx="5013" cy="1870"/>
          </a:xfrm>
        </p:grpSpPr>
        <p:sp>
          <p:nvSpPr>
            <p:cNvPr id="72" name="矩形 71"/>
            <p:cNvSpPr/>
            <p:nvPr/>
          </p:nvSpPr>
          <p:spPr>
            <a:xfrm>
              <a:off x="13807" y="4080"/>
              <a:ext cx="5013" cy="187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7620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" name="任意形状 14"/>
            <p:cNvSpPr/>
            <p:nvPr/>
          </p:nvSpPr>
          <p:spPr>
            <a:xfrm>
              <a:off x="13924" y="4178"/>
              <a:ext cx="4792" cy="1654"/>
            </a:xfrm>
            <a:custGeom>
              <a:avLst/>
              <a:gdLst>
                <a:gd name="csX0" fmla="*/ 1963675 w 2039874"/>
                <a:gd name="csY0" fmla="*/ 963168 h 963167"/>
                <a:gd name="csX1" fmla="*/ 76200 w 2039874"/>
                <a:gd name="csY1" fmla="*/ 963168 h 963167"/>
                <a:gd name="csX2" fmla="*/ 0 w 2039874"/>
                <a:gd name="csY2" fmla="*/ 886968 h 963167"/>
                <a:gd name="csX3" fmla="*/ 0 w 2039874"/>
                <a:gd name="csY3" fmla="*/ 76200 h 963167"/>
                <a:gd name="csX4" fmla="*/ 76200 w 2039874"/>
                <a:gd name="csY4" fmla="*/ 0 h 963167"/>
                <a:gd name="csX5" fmla="*/ 1963675 w 2039874"/>
                <a:gd name="csY5" fmla="*/ 0 h 963167"/>
                <a:gd name="csX6" fmla="*/ 2039875 w 2039874"/>
                <a:gd name="csY6" fmla="*/ 76200 h 963167"/>
                <a:gd name="csX7" fmla="*/ 2039875 w 2039874"/>
                <a:gd name="csY7" fmla="*/ 887730 h 963167"/>
                <a:gd name="csX8" fmla="*/ 1963675 w 2039874"/>
                <a:gd name="csY8" fmla="*/ 963168 h 9631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039874" h="963167">
                  <a:moveTo>
                    <a:pt x="1963675" y="963168"/>
                  </a:moveTo>
                  <a:lnTo>
                    <a:pt x="76200" y="963168"/>
                  </a:lnTo>
                  <a:cubicBezTo>
                    <a:pt x="34290" y="963168"/>
                    <a:pt x="0" y="928878"/>
                    <a:pt x="0" y="886968"/>
                  </a:cubicBezTo>
                  <a:lnTo>
                    <a:pt x="0" y="76200"/>
                  </a:lnTo>
                  <a:cubicBezTo>
                    <a:pt x="0" y="34290"/>
                    <a:pt x="34290" y="0"/>
                    <a:pt x="76200" y="0"/>
                  </a:cubicBezTo>
                  <a:lnTo>
                    <a:pt x="1963675" y="0"/>
                  </a:lnTo>
                  <a:cubicBezTo>
                    <a:pt x="2005585" y="0"/>
                    <a:pt x="2039875" y="34290"/>
                    <a:pt x="2039875" y="76200"/>
                  </a:cubicBezTo>
                  <a:lnTo>
                    <a:pt x="2039875" y="887730"/>
                  </a:lnTo>
                  <a:cubicBezTo>
                    <a:pt x="2039875" y="929640"/>
                    <a:pt x="2005585" y="963168"/>
                    <a:pt x="1963675" y="963168"/>
                  </a:cubicBezTo>
                  <a:close/>
                </a:path>
              </a:pathLst>
            </a:custGeom>
            <a:solidFill>
              <a:schemeClr val="bg1"/>
            </a:solidFill>
            <a:ln w="7620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6" name="三角形 38"/>
          <p:cNvSpPr/>
          <p:nvPr/>
        </p:nvSpPr>
        <p:spPr>
          <a:xfrm>
            <a:off x="11594566" y="2744492"/>
            <a:ext cx="136358" cy="117550"/>
          </a:xfrm>
          <a:prstGeom prst="triangle">
            <a:avLst/>
          </a:prstGeom>
          <a:solidFill>
            <a:srgbClr val="BBCCFE"/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kumimoji="1" lang="zh-CN" altLang="en-US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grpSp>
        <p:nvGrpSpPr>
          <p:cNvPr id="78" name="组合 77"/>
          <p:cNvGrpSpPr/>
          <p:nvPr/>
        </p:nvGrpSpPr>
        <p:grpSpPr>
          <a:xfrm>
            <a:off x="8615680" y="3564890"/>
            <a:ext cx="3253740" cy="878840"/>
            <a:chOff x="13807" y="4080"/>
            <a:chExt cx="5013" cy="1870"/>
          </a:xfrm>
        </p:grpSpPr>
        <p:sp>
          <p:nvSpPr>
            <p:cNvPr id="79" name="矩形 78"/>
            <p:cNvSpPr/>
            <p:nvPr/>
          </p:nvSpPr>
          <p:spPr>
            <a:xfrm>
              <a:off x="13807" y="4080"/>
              <a:ext cx="5013" cy="1870"/>
            </a:xfrm>
            <a:prstGeom prst="rect">
              <a:avLst/>
            </a:prstGeom>
            <a:solidFill>
              <a:srgbClr val="D8E7FB"/>
            </a:solidFill>
            <a:ln w="7620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" name="任意形状 14"/>
            <p:cNvSpPr/>
            <p:nvPr/>
          </p:nvSpPr>
          <p:spPr>
            <a:xfrm>
              <a:off x="13924" y="4178"/>
              <a:ext cx="4792" cy="1654"/>
            </a:xfrm>
            <a:custGeom>
              <a:avLst/>
              <a:gdLst>
                <a:gd name="csX0" fmla="*/ 1963675 w 2039874"/>
                <a:gd name="csY0" fmla="*/ 963168 h 963167"/>
                <a:gd name="csX1" fmla="*/ 76200 w 2039874"/>
                <a:gd name="csY1" fmla="*/ 963168 h 963167"/>
                <a:gd name="csX2" fmla="*/ 0 w 2039874"/>
                <a:gd name="csY2" fmla="*/ 886968 h 963167"/>
                <a:gd name="csX3" fmla="*/ 0 w 2039874"/>
                <a:gd name="csY3" fmla="*/ 76200 h 963167"/>
                <a:gd name="csX4" fmla="*/ 76200 w 2039874"/>
                <a:gd name="csY4" fmla="*/ 0 h 963167"/>
                <a:gd name="csX5" fmla="*/ 1963675 w 2039874"/>
                <a:gd name="csY5" fmla="*/ 0 h 963167"/>
                <a:gd name="csX6" fmla="*/ 2039875 w 2039874"/>
                <a:gd name="csY6" fmla="*/ 76200 h 963167"/>
                <a:gd name="csX7" fmla="*/ 2039875 w 2039874"/>
                <a:gd name="csY7" fmla="*/ 887730 h 963167"/>
                <a:gd name="csX8" fmla="*/ 1963675 w 2039874"/>
                <a:gd name="csY8" fmla="*/ 963168 h 9631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039874" h="963167">
                  <a:moveTo>
                    <a:pt x="1963675" y="963168"/>
                  </a:moveTo>
                  <a:lnTo>
                    <a:pt x="76200" y="963168"/>
                  </a:lnTo>
                  <a:cubicBezTo>
                    <a:pt x="34290" y="963168"/>
                    <a:pt x="0" y="928878"/>
                    <a:pt x="0" y="886968"/>
                  </a:cubicBezTo>
                  <a:lnTo>
                    <a:pt x="0" y="76200"/>
                  </a:lnTo>
                  <a:cubicBezTo>
                    <a:pt x="0" y="34290"/>
                    <a:pt x="34290" y="0"/>
                    <a:pt x="76200" y="0"/>
                  </a:cubicBezTo>
                  <a:lnTo>
                    <a:pt x="1963675" y="0"/>
                  </a:lnTo>
                  <a:cubicBezTo>
                    <a:pt x="2005585" y="0"/>
                    <a:pt x="2039875" y="34290"/>
                    <a:pt x="2039875" y="76200"/>
                  </a:cubicBezTo>
                  <a:lnTo>
                    <a:pt x="2039875" y="887730"/>
                  </a:lnTo>
                  <a:cubicBezTo>
                    <a:pt x="2039875" y="929640"/>
                    <a:pt x="2005585" y="963168"/>
                    <a:pt x="1963675" y="963168"/>
                  </a:cubicBezTo>
                  <a:close/>
                </a:path>
              </a:pathLst>
            </a:custGeom>
            <a:solidFill>
              <a:schemeClr val="bg1"/>
            </a:solidFill>
            <a:ln w="7620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1" name="三角形 38"/>
          <p:cNvSpPr/>
          <p:nvPr/>
        </p:nvSpPr>
        <p:spPr>
          <a:xfrm>
            <a:off x="11594566" y="3709692"/>
            <a:ext cx="136358" cy="117550"/>
          </a:xfrm>
          <a:prstGeom prst="triangle">
            <a:avLst/>
          </a:prstGeom>
          <a:solidFill>
            <a:schemeClr val="accent3">
              <a:lumMod val="40000"/>
              <a:lumOff val="60000"/>
            </a:schemeClr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kumimoji="1" lang="zh-CN" altLang="en-US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grpSp>
        <p:nvGrpSpPr>
          <p:cNvPr id="82" name="组合 81"/>
          <p:cNvGrpSpPr/>
          <p:nvPr/>
        </p:nvGrpSpPr>
        <p:grpSpPr>
          <a:xfrm>
            <a:off x="8615680" y="4538980"/>
            <a:ext cx="3253740" cy="878840"/>
            <a:chOff x="13807" y="4080"/>
            <a:chExt cx="5013" cy="1870"/>
          </a:xfrm>
        </p:grpSpPr>
        <p:sp>
          <p:nvSpPr>
            <p:cNvPr id="83" name="矩形 82"/>
            <p:cNvSpPr/>
            <p:nvPr/>
          </p:nvSpPr>
          <p:spPr>
            <a:xfrm>
              <a:off x="13807" y="4080"/>
              <a:ext cx="5013" cy="187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7620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" name="任意形状 14"/>
            <p:cNvSpPr/>
            <p:nvPr/>
          </p:nvSpPr>
          <p:spPr>
            <a:xfrm>
              <a:off x="13924" y="4178"/>
              <a:ext cx="4792" cy="1654"/>
            </a:xfrm>
            <a:custGeom>
              <a:avLst/>
              <a:gdLst>
                <a:gd name="csX0" fmla="*/ 1963675 w 2039874"/>
                <a:gd name="csY0" fmla="*/ 963168 h 963167"/>
                <a:gd name="csX1" fmla="*/ 76200 w 2039874"/>
                <a:gd name="csY1" fmla="*/ 963168 h 963167"/>
                <a:gd name="csX2" fmla="*/ 0 w 2039874"/>
                <a:gd name="csY2" fmla="*/ 886968 h 963167"/>
                <a:gd name="csX3" fmla="*/ 0 w 2039874"/>
                <a:gd name="csY3" fmla="*/ 76200 h 963167"/>
                <a:gd name="csX4" fmla="*/ 76200 w 2039874"/>
                <a:gd name="csY4" fmla="*/ 0 h 963167"/>
                <a:gd name="csX5" fmla="*/ 1963675 w 2039874"/>
                <a:gd name="csY5" fmla="*/ 0 h 963167"/>
                <a:gd name="csX6" fmla="*/ 2039875 w 2039874"/>
                <a:gd name="csY6" fmla="*/ 76200 h 963167"/>
                <a:gd name="csX7" fmla="*/ 2039875 w 2039874"/>
                <a:gd name="csY7" fmla="*/ 887730 h 963167"/>
                <a:gd name="csX8" fmla="*/ 1963675 w 2039874"/>
                <a:gd name="csY8" fmla="*/ 963168 h 9631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039874" h="963167">
                  <a:moveTo>
                    <a:pt x="1963675" y="963168"/>
                  </a:moveTo>
                  <a:lnTo>
                    <a:pt x="76200" y="963168"/>
                  </a:lnTo>
                  <a:cubicBezTo>
                    <a:pt x="34290" y="963168"/>
                    <a:pt x="0" y="928878"/>
                    <a:pt x="0" y="886968"/>
                  </a:cubicBezTo>
                  <a:lnTo>
                    <a:pt x="0" y="76200"/>
                  </a:lnTo>
                  <a:cubicBezTo>
                    <a:pt x="0" y="34290"/>
                    <a:pt x="34290" y="0"/>
                    <a:pt x="76200" y="0"/>
                  </a:cubicBezTo>
                  <a:lnTo>
                    <a:pt x="1963675" y="0"/>
                  </a:lnTo>
                  <a:cubicBezTo>
                    <a:pt x="2005585" y="0"/>
                    <a:pt x="2039875" y="34290"/>
                    <a:pt x="2039875" y="76200"/>
                  </a:cubicBezTo>
                  <a:lnTo>
                    <a:pt x="2039875" y="887730"/>
                  </a:lnTo>
                  <a:cubicBezTo>
                    <a:pt x="2039875" y="929640"/>
                    <a:pt x="2005585" y="963168"/>
                    <a:pt x="1963675" y="963168"/>
                  </a:cubicBezTo>
                  <a:close/>
                </a:path>
              </a:pathLst>
            </a:custGeom>
            <a:solidFill>
              <a:schemeClr val="bg1"/>
            </a:solidFill>
            <a:ln w="7620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5" name="三角形 38"/>
          <p:cNvSpPr/>
          <p:nvPr/>
        </p:nvSpPr>
        <p:spPr>
          <a:xfrm rot="10800000">
            <a:off x="11565991" y="4712357"/>
            <a:ext cx="136358" cy="117550"/>
          </a:xfrm>
          <a:prstGeom prst="triangle">
            <a:avLst/>
          </a:prstGeom>
          <a:solidFill>
            <a:srgbClr val="FFB399"/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kumimoji="1" lang="zh-CN" altLang="en-US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grpSp>
        <p:nvGrpSpPr>
          <p:cNvPr id="86" name="组合 85"/>
          <p:cNvGrpSpPr/>
          <p:nvPr/>
        </p:nvGrpSpPr>
        <p:grpSpPr>
          <a:xfrm>
            <a:off x="8616315" y="5513070"/>
            <a:ext cx="3253105" cy="878840"/>
            <a:chOff x="13807" y="4080"/>
            <a:chExt cx="5013" cy="1870"/>
          </a:xfrm>
        </p:grpSpPr>
        <p:sp>
          <p:nvSpPr>
            <p:cNvPr id="87" name="矩形 86"/>
            <p:cNvSpPr/>
            <p:nvPr/>
          </p:nvSpPr>
          <p:spPr>
            <a:xfrm>
              <a:off x="13807" y="4080"/>
              <a:ext cx="5013" cy="187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7620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" name="任意形状 14"/>
            <p:cNvSpPr/>
            <p:nvPr/>
          </p:nvSpPr>
          <p:spPr>
            <a:xfrm>
              <a:off x="13924" y="4178"/>
              <a:ext cx="4792" cy="1654"/>
            </a:xfrm>
            <a:custGeom>
              <a:avLst/>
              <a:gdLst>
                <a:gd name="csX0" fmla="*/ 1963675 w 2039874"/>
                <a:gd name="csY0" fmla="*/ 963168 h 963167"/>
                <a:gd name="csX1" fmla="*/ 76200 w 2039874"/>
                <a:gd name="csY1" fmla="*/ 963168 h 963167"/>
                <a:gd name="csX2" fmla="*/ 0 w 2039874"/>
                <a:gd name="csY2" fmla="*/ 886968 h 963167"/>
                <a:gd name="csX3" fmla="*/ 0 w 2039874"/>
                <a:gd name="csY3" fmla="*/ 76200 h 963167"/>
                <a:gd name="csX4" fmla="*/ 76200 w 2039874"/>
                <a:gd name="csY4" fmla="*/ 0 h 963167"/>
                <a:gd name="csX5" fmla="*/ 1963675 w 2039874"/>
                <a:gd name="csY5" fmla="*/ 0 h 963167"/>
                <a:gd name="csX6" fmla="*/ 2039875 w 2039874"/>
                <a:gd name="csY6" fmla="*/ 76200 h 963167"/>
                <a:gd name="csX7" fmla="*/ 2039875 w 2039874"/>
                <a:gd name="csY7" fmla="*/ 887730 h 963167"/>
                <a:gd name="csX8" fmla="*/ 1963675 w 2039874"/>
                <a:gd name="csY8" fmla="*/ 963168 h 9631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039874" h="963167">
                  <a:moveTo>
                    <a:pt x="1963675" y="963168"/>
                  </a:moveTo>
                  <a:lnTo>
                    <a:pt x="76200" y="963168"/>
                  </a:lnTo>
                  <a:cubicBezTo>
                    <a:pt x="34290" y="963168"/>
                    <a:pt x="0" y="928878"/>
                    <a:pt x="0" y="886968"/>
                  </a:cubicBezTo>
                  <a:lnTo>
                    <a:pt x="0" y="76200"/>
                  </a:lnTo>
                  <a:cubicBezTo>
                    <a:pt x="0" y="34290"/>
                    <a:pt x="34290" y="0"/>
                    <a:pt x="76200" y="0"/>
                  </a:cubicBezTo>
                  <a:lnTo>
                    <a:pt x="1963675" y="0"/>
                  </a:lnTo>
                  <a:cubicBezTo>
                    <a:pt x="2005585" y="0"/>
                    <a:pt x="2039875" y="34290"/>
                    <a:pt x="2039875" y="76200"/>
                  </a:cubicBezTo>
                  <a:lnTo>
                    <a:pt x="2039875" y="887730"/>
                  </a:lnTo>
                  <a:cubicBezTo>
                    <a:pt x="2039875" y="929640"/>
                    <a:pt x="2005585" y="963168"/>
                    <a:pt x="1963675" y="963168"/>
                  </a:cubicBezTo>
                  <a:close/>
                </a:path>
              </a:pathLst>
            </a:custGeom>
            <a:solidFill>
              <a:schemeClr val="bg1"/>
            </a:solidFill>
            <a:ln w="7620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9" name="三角形 38"/>
          <p:cNvSpPr/>
          <p:nvPr/>
        </p:nvSpPr>
        <p:spPr>
          <a:xfrm rot="10800000">
            <a:off x="11566626" y="5686447"/>
            <a:ext cx="136358" cy="117550"/>
          </a:xfrm>
          <a:prstGeom prst="triangle">
            <a:avLst/>
          </a:prstGeom>
          <a:solidFill>
            <a:schemeClr val="tx2">
              <a:lumMod val="20000"/>
              <a:lumOff val="80000"/>
            </a:schemeClr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kumimoji="1" lang="zh-CN" altLang="en-US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8623300" y="2646680"/>
            <a:ext cx="3007995" cy="755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lnSpc>
                <a:spcPct val="120000"/>
              </a:lnSpc>
              <a:buFont typeface="Wingdings" panose="05000000000000000000" charset="0"/>
              <a:buChar char="ü"/>
            </a:pPr>
            <a:r>
              <a:rPr lang="zh-CN" altLang="en-US" sz="1200" dirty="0">
                <a:latin typeface="+mn-ea"/>
              </a:rPr>
              <a:t>跨域技术融合重构产业边界，催生全新赛道，企业可通过差异化切入快速建立先发优势。</a:t>
            </a:r>
            <a:endParaRPr lang="zh-CN" altLang="en-US" sz="1200" dirty="0">
              <a:latin typeface="+mn-ea"/>
            </a:endParaRPr>
          </a:p>
        </p:txBody>
      </p:sp>
      <p:sp>
        <p:nvSpPr>
          <p:cNvPr id="92" name="文本框 91"/>
          <p:cNvSpPr txBox="1"/>
          <p:nvPr/>
        </p:nvSpPr>
        <p:spPr>
          <a:xfrm>
            <a:off x="8620125" y="3616325"/>
            <a:ext cx="3007995" cy="755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lnSpc>
                <a:spcPct val="120000"/>
              </a:lnSpc>
              <a:buFont typeface="Wingdings" panose="05000000000000000000" charset="0"/>
              <a:buChar char="ü"/>
            </a:pPr>
            <a:r>
              <a:rPr lang="zh-CN" altLang="en-US" sz="1200" dirty="0">
                <a:latin typeface="+mn-ea"/>
              </a:rPr>
              <a:t> 场景驱动创新缩短技术验证周期，全球创新要素高效流动，企业可整合全球资源实现跨越式发展。</a:t>
            </a:r>
            <a:endParaRPr lang="zh-CN" altLang="en-US" sz="1200" dirty="0">
              <a:latin typeface="+mn-ea"/>
            </a:endParaRPr>
          </a:p>
        </p:txBody>
      </p:sp>
      <p:sp>
        <p:nvSpPr>
          <p:cNvPr id="93" name="文本框 92"/>
          <p:cNvSpPr txBox="1"/>
          <p:nvPr/>
        </p:nvSpPr>
        <p:spPr>
          <a:xfrm>
            <a:off x="8615045" y="4598670"/>
            <a:ext cx="3007995" cy="755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lnSpc>
                <a:spcPct val="120000"/>
              </a:lnSpc>
              <a:buFont typeface="Wingdings" panose="05000000000000000000" charset="0"/>
              <a:buChar char="u"/>
            </a:pPr>
            <a:r>
              <a:rPr lang="zh-CN" altLang="en-US" sz="1200" dirty="0">
                <a:latin typeface="+mn-ea"/>
              </a:rPr>
              <a:t> 中美技术博弈导致全球技术体系分裂，企业面临技术路线、市场准入与供应链安全多重不确定性。</a:t>
            </a:r>
            <a:endParaRPr lang="zh-CN" altLang="en-US" sz="1200" dirty="0">
              <a:latin typeface="+mn-ea"/>
            </a:endParaRPr>
          </a:p>
        </p:txBody>
      </p:sp>
      <p:sp>
        <p:nvSpPr>
          <p:cNvPr id="94" name="文本框 93"/>
          <p:cNvSpPr txBox="1"/>
          <p:nvPr/>
        </p:nvSpPr>
        <p:spPr>
          <a:xfrm>
            <a:off x="8630920" y="5581015"/>
            <a:ext cx="3007995" cy="755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lnSpc>
                <a:spcPct val="120000"/>
              </a:lnSpc>
              <a:buFont typeface="Wingdings" panose="05000000000000000000" charset="0"/>
              <a:buChar char="u"/>
            </a:pPr>
            <a:r>
              <a:rPr lang="zh-CN" altLang="en-US" sz="1200" dirty="0">
                <a:latin typeface="+mn-ea"/>
              </a:rPr>
              <a:t>融合创新对传统组织与人才体系形成根本性挑战，垂直化架构与单一技能储备无法支撑快速迭代的创新需求。</a:t>
            </a:r>
            <a:endParaRPr lang="zh-CN" altLang="en-US" sz="1200" dirty="0">
              <a:latin typeface="+mn-ea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7240905" y="0"/>
            <a:ext cx="4952365" cy="259080"/>
            <a:chOff x="11403" y="0"/>
            <a:chExt cx="7799" cy="408"/>
          </a:xfrm>
        </p:grpSpPr>
        <p:sp>
          <p:nvSpPr>
            <p:cNvPr id="24" name="矩形 23"/>
            <p:cNvSpPr/>
            <p:nvPr/>
          </p:nvSpPr>
          <p:spPr>
            <a:xfrm>
              <a:off x="11403" y="0"/>
              <a:ext cx="1540" cy="40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规划背景</a:t>
              </a:r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12969" y="0"/>
              <a:ext cx="1540" cy="408"/>
            </a:xfrm>
            <a:prstGeom prst="rect">
              <a:avLst/>
            </a:prstGeom>
            <a:solidFill>
              <a:schemeClr val="accent6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顶层</a:t>
              </a: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设计</a:t>
              </a:r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14534" y="0"/>
              <a:ext cx="1540" cy="408"/>
            </a:xfrm>
            <a:prstGeom prst="rect">
              <a:avLst/>
            </a:prstGeom>
            <a:solidFill>
              <a:schemeClr val="accent6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重点任务</a:t>
              </a:r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6099" y="0"/>
              <a:ext cx="1538" cy="408"/>
            </a:xfrm>
            <a:prstGeom prst="rect">
              <a:avLst/>
            </a:prstGeom>
            <a:solidFill>
              <a:schemeClr val="accent6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保障机制</a:t>
              </a:r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17662" y="0"/>
              <a:ext cx="1540" cy="408"/>
            </a:xfrm>
            <a:prstGeom prst="rect">
              <a:avLst/>
            </a:prstGeom>
            <a:solidFill>
              <a:schemeClr val="accent6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实施路径</a:t>
              </a:r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0399" y="89535"/>
            <a:ext cx="10858500" cy="102870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政策新导向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| 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“十五五”将科技创新置于现代化建设全局核心，以新质生产力为主线强化企业主体地位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，科技企业需精准解码战略要求，转化为可执行的创新发展行动方案</a:t>
            </a:r>
            <a:endParaRPr lang="zh-CN" altLang="en-US" sz="2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占位符 9"/>
          <p:cNvSpPr>
            <a:spLocks noGrp="1"/>
          </p:cNvSpPr>
          <p:nvPr/>
        </p:nvSpPr>
        <p:spPr>
          <a:xfrm>
            <a:off x="566420" y="1118235"/>
            <a:ext cx="11149330" cy="838200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noAutofit/>
          </a:bodyPr>
          <a:lstStyle>
            <a:lvl1pPr marL="0" indent="0" algn="just" defTabSz="914400" rtl="0" eaLnBrk="1" latinLnBrk="0" hangingPunct="1">
              <a:lnSpc>
                <a:spcPct val="120000"/>
              </a:lnSpc>
              <a:spcBef>
                <a:spcPts val="0"/>
              </a:spcBef>
              <a:buFontTx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十五五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以发展新质生产力为主线，推动科技创新从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跟跑并跑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向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并跑领跑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跨越，科技企业需精准承接国家战略部署，将政策红利转化为创新动能，打造支撑高质量发展的核心竞争力。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6520" y="2473325"/>
            <a:ext cx="33718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zh-CN" altLang="en-US" sz="16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国家政策锚点</a:t>
            </a:r>
            <a:endParaRPr lang="zh-CN" altLang="en-US" sz="16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任意形状 9"/>
          <p:cNvSpPr/>
          <p:nvPr/>
        </p:nvSpPr>
        <p:spPr>
          <a:xfrm>
            <a:off x="567055" y="1928495"/>
            <a:ext cx="2819400" cy="429895"/>
          </a:xfrm>
          <a:custGeom>
            <a:avLst/>
            <a:gdLst>
              <a:gd name="connsiteX0" fmla="*/ 2819400 w 2819400"/>
              <a:gd name="connsiteY0" fmla="*/ 214884 h 429767"/>
              <a:gd name="connsiteX1" fmla="*/ 2683764 w 2819400"/>
              <a:gd name="connsiteY1" fmla="*/ 429768 h 429767"/>
              <a:gd name="connsiteX2" fmla="*/ 0 w 2819400"/>
              <a:gd name="connsiteY2" fmla="*/ 429768 h 429767"/>
              <a:gd name="connsiteX3" fmla="*/ 0 w 2819400"/>
              <a:gd name="connsiteY3" fmla="*/ 0 h 429767"/>
              <a:gd name="connsiteX4" fmla="*/ 2683764 w 2819400"/>
              <a:gd name="connsiteY4" fmla="*/ 0 h 429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19400" h="429767">
                <a:moveTo>
                  <a:pt x="2819400" y="214884"/>
                </a:moveTo>
                <a:lnTo>
                  <a:pt x="2683764" y="429768"/>
                </a:lnTo>
                <a:lnTo>
                  <a:pt x="0" y="429768"/>
                </a:lnTo>
                <a:lnTo>
                  <a:pt x="0" y="0"/>
                </a:lnTo>
                <a:lnTo>
                  <a:pt x="2683764" y="0"/>
                </a:lnTo>
                <a:close/>
              </a:path>
            </a:pathLst>
          </a:custGeom>
          <a:solidFill>
            <a:schemeClr val="accent1"/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8" name="任意形状 10"/>
          <p:cNvSpPr/>
          <p:nvPr/>
        </p:nvSpPr>
        <p:spPr>
          <a:xfrm>
            <a:off x="3389630" y="1928495"/>
            <a:ext cx="2816225" cy="429895"/>
          </a:xfrm>
          <a:custGeom>
            <a:avLst/>
            <a:gdLst>
              <a:gd name="connsiteX0" fmla="*/ 2816352 w 2816352"/>
              <a:gd name="connsiteY0" fmla="*/ 214884 h 429767"/>
              <a:gd name="connsiteX1" fmla="*/ 2680716 w 2816352"/>
              <a:gd name="connsiteY1" fmla="*/ 429768 h 429767"/>
              <a:gd name="connsiteX2" fmla="*/ 0 w 2816352"/>
              <a:gd name="connsiteY2" fmla="*/ 429768 h 429767"/>
              <a:gd name="connsiteX3" fmla="*/ 135636 w 2816352"/>
              <a:gd name="connsiteY3" fmla="*/ 214884 h 429767"/>
              <a:gd name="connsiteX4" fmla="*/ 0 w 2816352"/>
              <a:gd name="connsiteY4" fmla="*/ 0 h 429767"/>
              <a:gd name="connsiteX5" fmla="*/ 2680716 w 2816352"/>
              <a:gd name="connsiteY5" fmla="*/ 0 h 429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16352" h="429767">
                <a:moveTo>
                  <a:pt x="2816352" y="214884"/>
                </a:moveTo>
                <a:lnTo>
                  <a:pt x="2680716" y="429768"/>
                </a:lnTo>
                <a:lnTo>
                  <a:pt x="0" y="429768"/>
                </a:lnTo>
                <a:lnTo>
                  <a:pt x="135636" y="214884"/>
                </a:lnTo>
                <a:lnTo>
                  <a:pt x="0" y="0"/>
                </a:lnTo>
                <a:lnTo>
                  <a:pt x="2680716" y="0"/>
                </a:lnTo>
                <a:close/>
              </a:path>
            </a:pathLst>
          </a:custGeom>
          <a:solidFill>
            <a:schemeClr val="accent2"/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15" name="任意形状 11"/>
          <p:cNvSpPr/>
          <p:nvPr/>
        </p:nvSpPr>
        <p:spPr>
          <a:xfrm>
            <a:off x="9028430" y="1928495"/>
            <a:ext cx="2816225" cy="429895"/>
          </a:xfrm>
          <a:custGeom>
            <a:avLst/>
            <a:gdLst>
              <a:gd name="connsiteX0" fmla="*/ 2816352 w 2816351"/>
              <a:gd name="connsiteY0" fmla="*/ 214884 h 429767"/>
              <a:gd name="connsiteX1" fmla="*/ 2680716 w 2816351"/>
              <a:gd name="connsiteY1" fmla="*/ 429768 h 429767"/>
              <a:gd name="connsiteX2" fmla="*/ 0 w 2816351"/>
              <a:gd name="connsiteY2" fmla="*/ 429768 h 429767"/>
              <a:gd name="connsiteX3" fmla="*/ 135635 w 2816351"/>
              <a:gd name="connsiteY3" fmla="*/ 214884 h 429767"/>
              <a:gd name="connsiteX4" fmla="*/ 0 w 2816351"/>
              <a:gd name="connsiteY4" fmla="*/ 0 h 429767"/>
              <a:gd name="connsiteX5" fmla="*/ 2680716 w 2816351"/>
              <a:gd name="connsiteY5" fmla="*/ 0 h 429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16351" h="429767">
                <a:moveTo>
                  <a:pt x="2816352" y="214884"/>
                </a:moveTo>
                <a:lnTo>
                  <a:pt x="2680716" y="429768"/>
                </a:lnTo>
                <a:lnTo>
                  <a:pt x="0" y="429768"/>
                </a:lnTo>
                <a:lnTo>
                  <a:pt x="135635" y="214884"/>
                </a:lnTo>
                <a:lnTo>
                  <a:pt x="0" y="0"/>
                </a:lnTo>
                <a:lnTo>
                  <a:pt x="2680716" y="0"/>
                </a:lnTo>
                <a:close/>
              </a:path>
            </a:pathLst>
          </a:custGeom>
          <a:solidFill>
            <a:schemeClr val="accent4"/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16" name="任意形状 13"/>
          <p:cNvSpPr/>
          <p:nvPr/>
        </p:nvSpPr>
        <p:spPr>
          <a:xfrm>
            <a:off x="6209030" y="1928495"/>
            <a:ext cx="2816225" cy="429895"/>
          </a:xfrm>
          <a:custGeom>
            <a:avLst/>
            <a:gdLst>
              <a:gd name="connsiteX0" fmla="*/ 2816352 w 2816351"/>
              <a:gd name="connsiteY0" fmla="*/ 214884 h 429767"/>
              <a:gd name="connsiteX1" fmla="*/ 2680716 w 2816351"/>
              <a:gd name="connsiteY1" fmla="*/ 429768 h 429767"/>
              <a:gd name="connsiteX2" fmla="*/ 0 w 2816351"/>
              <a:gd name="connsiteY2" fmla="*/ 429768 h 429767"/>
              <a:gd name="connsiteX3" fmla="*/ 135636 w 2816351"/>
              <a:gd name="connsiteY3" fmla="*/ 214884 h 429767"/>
              <a:gd name="connsiteX4" fmla="*/ 0 w 2816351"/>
              <a:gd name="connsiteY4" fmla="*/ 0 h 429767"/>
              <a:gd name="connsiteX5" fmla="*/ 2680716 w 2816351"/>
              <a:gd name="connsiteY5" fmla="*/ 0 h 429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16351" h="429767">
                <a:moveTo>
                  <a:pt x="2816352" y="214884"/>
                </a:moveTo>
                <a:lnTo>
                  <a:pt x="2680716" y="429768"/>
                </a:lnTo>
                <a:lnTo>
                  <a:pt x="0" y="429768"/>
                </a:lnTo>
                <a:lnTo>
                  <a:pt x="135636" y="214884"/>
                </a:lnTo>
                <a:lnTo>
                  <a:pt x="0" y="0"/>
                </a:lnTo>
                <a:lnTo>
                  <a:pt x="2680716" y="0"/>
                </a:lnTo>
                <a:close/>
              </a:path>
            </a:pathLst>
          </a:custGeom>
          <a:solidFill>
            <a:schemeClr val="accent3"/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50" name="@紫荆的职场Point2-12"/>
          <p:cNvSpPr txBox="1"/>
          <p:nvPr/>
        </p:nvSpPr>
        <p:spPr>
          <a:xfrm>
            <a:off x="1329055" y="2020570"/>
            <a:ext cx="1219200" cy="245745"/>
          </a:xfrm>
          <a:prstGeom prst="rect">
            <a:avLst/>
          </a:prstGeom>
          <a:noFill/>
          <a:effectLst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  <a:sym typeface="+mj-ea"/>
              </a:rPr>
              <a:t>攻关导向升级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  <a:sym typeface="+mj-ea"/>
            </a:endParaRPr>
          </a:p>
        </p:txBody>
      </p:sp>
      <p:sp>
        <p:nvSpPr>
          <p:cNvPr id="90" name="任意形状 89"/>
          <p:cNvSpPr/>
          <p:nvPr/>
        </p:nvSpPr>
        <p:spPr>
          <a:xfrm>
            <a:off x="567055" y="2415540"/>
            <a:ext cx="2680970" cy="1981200"/>
          </a:xfrm>
          <a:custGeom>
            <a:avLst/>
            <a:gdLst>
              <a:gd name="connsiteX0" fmla="*/ 0 w 2680716"/>
              <a:gd name="connsiteY0" fmla="*/ 0 h 1981200"/>
              <a:gd name="connsiteX1" fmla="*/ 2680716 w 2680716"/>
              <a:gd name="connsiteY1" fmla="*/ 0 h 1981200"/>
              <a:gd name="connsiteX2" fmla="*/ 2680716 w 2680716"/>
              <a:gd name="connsiteY2" fmla="*/ 1981200 h 1981200"/>
              <a:gd name="connsiteX3" fmla="*/ 0 w 2680716"/>
              <a:gd name="connsiteY3" fmla="*/ 1981200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80716" h="1981200">
                <a:moveTo>
                  <a:pt x="0" y="0"/>
                </a:moveTo>
                <a:lnTo>
                  <a:pt x="2680716" y="0"/>
                </a:lnTo>
                <a:lnTo>
                  <a:pt x="2680716" y="1981200"/>
                </a:lnTo>
                <a:lnTo>
                  <a:pt x="0" y="1981200"/>
                </a:lnTo>
                <a:close/>
              </a:path>
            </a:pathLst>
          </a:custGeom>
          <a:solidFill>
            <a:schemeClr val="bg2"/>
          </a:solidFill>
          <a:ln w="12700" cap="flat">
            <a:solidFill>
              <a:schemeClr val="bg2">
                <a:lumMod val="9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91" name="任意形状 90"/>
          <p:cNvSpPr/>
          <p:nvPr/>
        </p:nvSpPr>
        <p:spPr>
          <a:xfrm>
            <a:off x="3389630" y="2415540"/>
            <a:ext cx="2680970" cy="1981200"/>
          </a:xfrm>
          <a:custGeom>
            <a:avLst/>
            <a:gdLst>
              <a:gd name="connsiteX0" fmla="*/ 0 w 2680716"/>
              <a:gd name="connsiteY0" fmla="*/ 0 h 1981200"/>
              <a:gd name="connsiteX1" fmla="*/ 2680716 w 2680716"/>
              <a:gd name="connsiteY1" fmla="*/ 0 h 1981200"/>
              <a:gd name="connsiteX2" fmla="*/ 2680716 w 2680716"/>
              <a:gd name="connsiteY2" fmla="*/ 1981200 h 1981200"/>
              <a:gd name="connsiteX3" fmla="*/ 0 w 2680716"/>
              <a:gd name="connsiteY3" fmla="*/ 1981200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80716" h="1981200">
                <a:moveTo>
                  <a:pt x="0" y="0"/>
                </a:moveTo>
                <a:lnTo>
                  <a:pt x="2680716" y="0"/>
                </a:lnTo>
                <a:lnTo>
                  <a:pt x="2680716" y="1981200"/>
                </a:lnTo>
                <a:lnTo>
                  <a:pt x="0" y="1981200"/>
                </a:lnTo>
                <a:close/>
              </a:path>
            </a:pathLst>
          </a:custGeom>
          <a:solidFill>
            <a:schemeClr val="bg2"/>
          </a:solidFill>
          <a:ln w="12700" cap="flat">
            <a:solidFill>
              <a:schemeClr val="bg2">
                <a:lumMod val="9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92" name="任意形状 91"/>
          <p:cNvSpPr/>
          <p:nvPr/>
        </p:nvSpPr>
        <p:spPr>
          <a:xfrm>
            <a:off x="6212205" y="2415540"/>
            <a:ext cx="2680970" cy="1981200"/>
          </a:xfrm>
          <a:custGeom>
            <a:avLst/>
            <a:gdLst>
              <a:gd name="connsiteX0" fmla="*/ 0 w 2680715"/>
              <a:gd name="connsiteY0" fmla="*/ 0 h 1981200"/>
              <a:gd name="connsiteX1" fmla="*/ 2680716 w 2680715"/>
              <a:gd name="connsiteY1" fmla="*/ 0 h 1981200"/>
              <a:gd name="connsiteX2" fmla="*/ 2680716 w 2680715"/>
              <a:gd name="connsiteY2" fmla="*/ 1981200 h 1981200"/>
              <a:gd name="connsiteX3" fmla="*/ 0 w 2680715"/>
              <a:gd name="connsiteY3" fmla="*/ 1981200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80715" h="1981200">
                <a:moveTo>
                  <a:pt x="0" y="0"/>
                </a:moveTo>
                <a:lnTo>
                  <a:pt x="2680716" y="0"/>
                </a:lnTo>
                <a:lnTo>
                  <a:pt x="2680716" y="1981200"/>
                </a:lnTo>
                <a:lnTo>
                  <a:pt x="0" y="1981200"/>
                </a:lnTo>
                <a:close/>
              </a:path>
            </a:pathLst>
          </a:custGeom>
          <a:solidFill>
            <a:schemeClr val="bg2"/>
          </a:solidFill>
          <a:ln w="12700" cap="flat">
            <a:solidFill>
              <a:schemeClr val="bg2">
                <a:lumMod val="9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93" name="任意形状 92"/>
          <p:cNvSpPr/>
          <p:nvPr/>
        </p:nvSpPr>
        <p:spPr>
          <a:xfrm>
            <a:off x="9034145" y="2415540"/>
            <a:ext cx="2680970" cy="1981200"/>
          </a:xfrm>
          <a:custGeom>
            <a:avLst/>
            <a:gdLst>
              <a:gd name="connsiteX0" fmla="*/ 0 w 2810255"/>
              <a:gd name="connsiteY0" fmla="*/ 0 h 1981200"/>
              <a:gd name="connsiteX1" fmla="*/ 2810256 w 2810255"/>
              <a:gd name="connsiteY1" fmla="*/ 0 h 1981200"/>
              <a:gd name="connsiteX2" fmla="*/ 2810256 w 2810255"/>
              <a:gd name="connsiteY2" fmla="*/ 1981200 h 1981200"/>
              <a:gd name="connsiteX3" fmla="*/ 0 w 2810255"/>
              <a:gd name="connsiteY3" fmla="*/ 1981200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10255" h="1981200">
                <a:moveTo>
                  <a:pt x="0" y="0"/>
                </a:moveTo>
                <a:lnTo>
                  <a:pt x="2810256" y="0"/>
                </a:lnTo>
                <a:lnTo>
                  <a:pt x="2810256" y="1981200"/>
                </a:lnTo>
                <a:lnTo>
                  <a:pt x="0" y="1981200"/>
                </a:lnTo>
                <a:close/>
              </a:path>
            </a:pathLst>
          </a:custGeom>
          <a:solidFill>
            <a:schemeClr val="bg2"/>
          </a:solidFill>
          <a:ln w="12700" cap="flat">
            <a:solidFill>
              <a:schemeClr val="bg2">
                <a:lumMod val="9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97" name="任意形状 96"/>
          <p:cNvSpPr/>
          <p:nvPr/>
        </p:nvSpPr>
        <p:spPr>
          <a:xfrm>
            <a:off x="661035" y="2916555"/>
            <a:ext cx="2437765" cy="1412875"/>
          </a:xfrm>
          <a:custGeom>
            <a:avLst/>
            <a:gdLst>
              <a:gd name="connsiteX0" fmla="*/ 2202180 w 2393441"/>
              <a:gd name="connsiteY0" fmla="*/ 1252728 h 1252727"/>
              <a:gd name="connsiteX1" fmla="*/ 190500 w 2393441"/>
              <a:gd name="connsiteY1" fmla="*/ 1252728 h 1252727"/>
              <a:gd name="connsiteX2" fmla="*/ 0 w 2393441"/>
              <a:gd name="connsiteY2" fmla="*/ 1062228 h 1252727"/>
              <a:gd name="connsiteX3" fmla="*/ 0 w 2393441"/>
              <a:gd name="connsiteY3" fmla="*/ 190500 h 1252727"/>
              <a:gd name="connsiteX4" fmla="*/ 190500 w 2393441"/>
              <a:gd name="connsiteY4" fmla="*/ 0 h 1252727"/>
              <a:gd name="connsiteX5" fmla="*/ 2202942 w 2393441"/>
              <a:gd name="connsiteY5" fmla="*/ 0 h 1252727"/>
              <a:gd name="connsiteX6" fmla="*/ 2393442 w 2393441"/>
              <a:gd name="connsiteY6" fmla="*/ 190500 h 1252727"/>
              <a:gd name="connsiteX7" fmla="*/ 2393442 w 2393441"/>
              <a:gd name="connsiteY7" fmla="*/ 1062228 h 1252727"/>
              <a:gd name="connsiteX8" fmla="*/ 2202180 w 2393441"/>
              <a:gd name="connsiteY8" fmla="*/ 1252728 h 12527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93441" h="1252727">
                <a:moveTo>
                  <a:pt x="2202180" y="1252728"/>
                </a:moveTo>
                <a:lnTo>
                  <a:pt x="190500" y="1252728"/>
                </a:lnTo>
                <a:cubicBezTo>
                  <a:pt x="85344" y="1252728"/>
                  <a:pt x="0" y="1167384"/>
                  <a:pt x="0" y="1062228"/>
                </a:cubicBezTo>
                <a:lnTo>
                  <a:pt x="0" y="190500"/>
                </a:lnTo>
                <a:cubicBezTo>
                  <a:pt x="0" y="85344"/>
                  <a:pt x="85344" y="0"/>
                  <a:pt x="190500" y="0"/>
                </a:cubicBezTo>
                <a:lnTo>
                  <a:pt x="2202942" y="0"/>
                </a:lnTo>
                <a:cubicBezTo>
                  <a:pt x="2308098" y="0"/>
                  <a:pt x="2393442" y="85344"/>
                  <a:pt x="2393442" y="190500"/>
                </a:cubicBezTo>
                <a:lnTo>
                  <a:pt x="2393442" y="1062228"/>
                </a:lnTo>
                <a:cubicBezTo>
                  <a:pt x="2392680" y="1167384"/>
                  <a:pt x="2307336" y="1252728"/>
                  <a:pt x="2202180" y="1252728"/>
                </a:cubicBezTo>
                <a:close/>
              </a:path>
            </a:pathLst>
          </a:custGeom>
          <a:solidFill>
            <a:schemeClr val="bg1"/>
          </a:solidFill>
          <a:ln w="6350" cap="flat">
            <a:solidFill>
              <a:schemeClr val="bg2">
                <a:lumMod val="9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marL="171450" indent="-171450" algn="just">
              <a:lnSpc>
                <a:spcPct val="14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聚焦人工智能、半导体、生物技术等战略领域，实施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揭榜挂帅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”“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赛马制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，集中力量攻克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卡脖子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技术，构建自主可控的产业链供应链。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pSp>
        <p:nvGrpSpPr>
          <p:cNvPr id="57" name="组合 56"/>
          <p:cNvGrpSpPr/>
          <p:nvPr/>
        </p:nvGrpSpPr>
        <p:grpSpPr>
          <a:xfrm>
            <a:off x="705485" y="2473325"/>
            <a:ext cx="2392680" cy="361315"/>
            <a:chOff x="1111" y="4023"/>
            <a:chExt cx="3768" cy="569"/>
          </a:xfrm>
        </p:grpSpPr>
        <p:sp>
          <p:nvSpPr>
            <p:cNvPr id="98" name="任意形状 97"/>
            <p:cNvSpPr/>
            <p:nvPr/>
          </p:nvSpPr>
          <p:spPr>
            <a:xfrm>
              <a:off x="1453" y="4023"/>
              <a:ext cx="3426" cy="569"/>
            </a:xfrm>
            <a:custGeom>
              <a:avLst/>
              <a:gdLst>
                <a:gd name="connsiteX0" fmla="*/ 2099310 w 2175510"/>
                <a:gd name="connsiteY0" fmla="*/ 361188 h 361188"/>
                <a:gd name="connsiteX1" fmla="*/ 76200 w 2175510"/>
                <a:gd name="connsiteY1" fmla="*/ 361188 h 361188"/>
                <a:gd name="connsiteX2" fmla="*/ 0 w 2175510"/>
                <a:gd name="connsiteY2" fmla="*/ 284988 h 361188"/>
                <a:gd name="connsiteX3" fmla="*/ 0 w 2175510"/>
                <a:gd name="connsiteY3" fmla="*/ 76200 h 361188"/>
                <a:gd name="connsiteX4" fmla="*/ 76200 w 2175510"/>
                <a:gd name="connsiteY4" fmla="*/ 0 h 361188"/>
                <a:gd name="connsiteX5" fmla="*/ 2099310 w 2175510"/>
                <a:gd name="connsiteY5" fmla="*/ 0 h 361188"/>
                <a:gd name="connsiteX6" fmla="*/ 2175510 w 2175510"/>
                <a:gd name="connsiteY6" fmla="*/ 76200 h 361188"/>
                <a:gd name="connsiteX7" fmla="*/ 2175510 w 2175510"/>
                <a:gd name="connsiteY7" fmla="*/ 284988 h 361188"/>
                <a:gd name="connsiteX8" fmla="*/ 2099310 w 2175510"/>
                <a:gd name="connsiteY8" fmla="*/ 361188 h 361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75510" h="361188">
                  <a:moveTo>
                    <a:pt x="2099310" y="361188"/>
                  </a:moveTo>
                  <a:lnTo>
                    <a:pt x="76200" y="361188"/>
                  </a:lnTo>
                  <a:cubicBezTo>
                    <a:pt x="34290" y="361188"/>
                    <a:pt x="0" y="326898"/>
                    <a:pt x="0" y="284988"/>
                  </a:cubicBezTo>
                  <a:lnTo>
                    <a:pt x="0" y="76200"/>
                  </a:lnTo>
                  <a:cubicBezTo>
                    <a:pt x="0" y="34290"/>
                    <a:pt x="34290" y="0"/>
                    <a:pt x="76200" y="0"/>
                  </a:cubicBezTo>
                  <a:lnTo>
                    <a:pt x="2099310" y="0"/>
                  </a:lnTo>
                  <a:cubicBezTo>
                    <a:pt x="2141220" y="0"/>
                    <a:pt x="2175510" y="34290"/>
                    <a:pt x="2175510" y="76200"/>
                  </a:cubicBezTo>
                  <a:lnTo>
                    <a:pt x="2175510" y="284988"/>
                  </a:lnTo>
                  <a:cubicBezTo>
                    <a:pt x="2175510" y="326898"/>
                    <a:pt x="2141982" y="361188"/>
                    <a:pt x="2099310" y="361188"/>
                  </a:cubicBezTo>
                  <a:close/>
                </a:path>
              </a:pathLst>
            </a:custGeom>
            <a:pattFill prst="ltUpDiag">
              <a:fgClr>
                <a:schemeClr val="bg2"/>
              </a:fgClr>
              <a:bgClr>
                <a:schemeClr val="bg1"/>
              </a:bgClr>
            </a:pattFill>
            <a:ln w="12700" cap="flat">
              <a:solidFill>
                <a:schemeClr val="bg2">
                  <a:lumMod val="9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endParaRPr>
            </a:p>
          </p:txBody>
        </p:sp>
        <p:sp>
          <p:nvSpPr>
            <p:cNvPr id="96" name="任意形状 95"/>
            <p:cNvSpPr/>
            <p:nvPr/>
          </p:nvSpPr>
          <p:spPr>
            <a:xfrm>
              <a:off x="1111" y="4023"/>
              <a:ext cx="569" cy="569"/>
            </a:xfrm>
            <a:custGeom>
              <a:avLst/>
              <a:gdLst>
                <a:gd name="connsiteX0" fmla="*/ 284988 w 361188"/>
                <a:gd name="connsiteY0" fmla="*/ 361188 h 361188"/>
                <a:gd name="connsiteX1" fmla="*/ 76200 w 361188"/>
                <a:gd name="connsiteY1" fmla="*/ 361188 h 361188"/>
                <a:gd name="connsiteX2" fmla="*/ 0 w 361188"/>
                <a:gd name="connsiteY2" fmla="*/ 284988 h 361188"/>
                <a:gd name="connsiteX3" fmla="*/ 0 w 361188"/>
                <a:gd name="connsiteY3" fmla="*/ 76200 h 361188"/>
                <a:gd name="connsiteX4" fmla="*/ 76200 w 361188"/>
                <a:gd name="connsiteY4" fmla="*/ 0 h 361188"/>
                <a:gd name="connsiteX5" fmla="*/ 284988 w 361188"/>
                <a:gd name="connsiteY5" fmla="*/ 0 h 361188"/>
                <a:gd name="connsiteX6" fmla="*/ 361188 w 361188"/>
                <a:gd name="connsiteY6" fmla="*/ 76200 h 361188"/>
                <a:gd name="connsiteX7" fmla="*/ 361188 w 361188"/>
                <a:gd name="connsiteY7" fmla="*/ 284988 h 361188"/>
                <a:gd name="connsiteX8" fmla="*/ 284988 w 361188"/>
                <a:gd name="connsiteY8" fmla="*/ 361188 h 361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1188" h="361188">
                  <a:moveTo>
                    <a:pt x="284988" y="361188"/>
                  </a:moveTo>
                  <a:lnTo>
                    <a:pt x="76200" y="361188"/>
                  </a:lnTo>
                  <a:cubicBezTo>
                    <a:pt x="34290" y="361188"/>
                    <a:pt x="0" y="326898"/>
                    <a:pt x="0" y="284988"/>
                  </a:cubicBezTo>
                  <a:lnTo>
                    <a:pt x="0" y="76200"/>
                  </a:lnTo>
                  <a:cubicBezTo>
                    <a:pt x="0" y="34290"/>
                    <a:pt x="34290" y="0"/>
                    <a:pt x="76200" y="0"/>
                  </a:cubicBezTo>
                  <a:lnTo>
                    <a:pt x="284988" y="0"/>
                  </a:lnTo>
                  <a:cubicBezTo>
                    <a:pt x="326898" y="0"/>
                    <a:pt x="361188" y="34290"/>
                    <a:pt x="361188" y="76200"/>
                  </a:cubicBezTo>
                  <a:lnTo>
                    <a:pt x="361188" y="284988"/>
                  </a:lnTo>
                  <a:cubicBezTo>
                    <a:pt x="361188" y="326898"/>
                    <a:pt x="326898" y="361188"/>
                    <a:pt x="284988" y="361188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endParaRPr>
            </a:p>
          </p:txBody>
        </p:sp>
        <p:sp>
          <p:nvSpPr>
            <p:cNvPr id="100" name="@紫荆的职场Point2-12"/>
            <p:cNvSpPr txBox="1"/>
            <p:nvPr/>
          </p:nvSpPr>
          <p:spPr>
            <a:xfrm>
              <a:off x="2084" y="4137"/>
              <a:ext cx="2240" cy="339"/>
            </a:xfrm>
            <a:prstGeom prst="rect">
              <a:avLst/>
            </a:prstGeom>
            <a:noFill/>
            <a:effectLst/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400" b="1" dirty="0">
                  <a:solidFill>
                    <a:schemeClr val="accent6">
                      <a:lumMod val="50000"/>
                    </a:schemeClr>
                  </a:solidFill>
                  <a:latin typeface="+mn-ea"/>
                  <a:sym typeface="+mn-ea"/>
                </a:rPr>
                <a:t>全链条决定性突破</a:t>
              </a:r>
              <a:endParaRPr kumimoji="0" lang="zh-CN" altLang="en-US" sz="1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  <a:sym typeface="+mj-ea"/>
              </a:endParaRPr>
            </a:p>
          </p:txBody>
        </p:sp>
        <p:grpSp>
          <p:nvGrpSpPr>
            <p:cNvPr id="101" name="Google Shape;9114;p76"/>
            <p:cNvGrpSpPr/>
            <p:nvPr/>
          </p:nvGrpSpPr>
          <p:grpSpPr>
            <a:xfrm>
              <a:off x="1219" y="4136"/>
              <a:ext cx="353" cy="342"/>
              <a:chOff x="3270550" y="832575"/>
              <a:chExt cx="499375" cy="483125"/>
            </a:xfrm>
            <a:solidFill>
              <a:schemeClr val="bg1"/>
            </a:solidFill>
          </p:grpSpPr>
          <p:sp>
            <p:nvSpPr>
              <p:cNvPr id="102" name="Google Shape;9115;p76"/>
              <p:cNvSpPr/>
              <p:nvPr/>
            </p:nvSpPr>
            <p:spPr>
              <a:xfrm>
                <a:off x="3270550" y="865975"/>
                <a:ext cx="463725" cy="449725"/>
              </a:xfrm>
              <a:custGeom>
                <a:avLst/>
                <a:gdLst/>
                <a:ahLst/>
                <a:cxnLst/>
                <a:rect l="l" t="t" r="r" b="b"/>
                <a:pathLst>
                  <a:path w="18549" h="17989" extrusionOk="0">
                    <a:moveTo>
                      <a:pt x="4823" y="1361"/>
                    </a:moveTo>
                    <a:lnTo>
                      <a:pt x="9177" y="8619"/>
                    </a:lnTo>
                    <a:cubicBezTo>
                      <a:pt x="9237" y="8716"/>
                      <a:pt x="9325" y="8794"/>
                      <a:pt x="9427" y="8843"/>
                    </a:cubicBezTo>
                    <a:lnTo>
                      <a:pt x="17136" y="12345"/>
                    </a:lnTo>
                    <a:cubicBezTo>
                      <a:pt x="15653" y="15102"/>
                      <a:pt x="12779" y="16856"/>
                      <a:pt x="9663" y="16856"/>
                    </a:cubicBezTo>
                    <a:cubicBezTo>
                      <a:pt x="4958" y="16856"/>
                      <a:pt x="1133" y="13031"/>
                      <a:pt x="1133" y="8326"/>
                    </a:cubicBezTo>
                    <a:cubicBezTo>
                      <a:pt x="1133" y="5573"/>
                      <a:pt x="2534" y="2952"/>
                      <a:pt x="4823" y="1361"/>
                    </a:cubicBezTo>
                    <a:close/>
                    <a:moveTo>
                      <a:pt x="5005" y="0"/>
                    </a:moveTo>
                    <a:cubicBezTo>
                      <a:pt x="4907" y="0"/>
                      <a:pt x="4807" y="26"/>
                      <a:pt x="4717" y="80"/>
                    </a:cubicBezTo>
                    <a:cubicBezTo>
                      <a:pt x="3313" y="926"/>
                      <a:pt x="2141" y="2106"/>
                      <a:pt x="1311" y="3516"/>
                    </a:cubicBezTo>
                    <a:cubicBezTo>
                      <a:pt x="453" y="4975"/>
                      <a:pt x="1" y="6636"/>
                      <a:pt x="1" y="8326"/>
                    </a:cubicBezTo>
                    <a:cubicBezTo>
                      <a:pt x="1" y="10896"/>
                      <a:pt x="1009" y="13321"/>
                      <a:pt x="2839" y="15150"/>
                    </a:cubicBezTo>
                    <a:cubicBezTo>
                      <a:pt x="4669" y="16980"/>
                      <a:pt x="7093" y="17989"/>
                      <a:pt x="9663" y="17989"/>
                    </a:cubicBezTo>
                    <a:cubicBezTo>
                      <a:pt x="13410" y="17989"/>
                      <a:pt x="16846" y="15757"/>
                      <a:pt x="18419" y="12306"/>
                    </a:cubicBezTo>
                    <a:cubicBezTo>
                      <a:pt x="18549" y="12022"/>
                      <a:pt x="18422" y="11687"/>
                      <a:pt x="18138" y="11557"/>
                    </a:cubicBezTo>
                    <a:lnTo>
                      <a:pt x="10058" y="7886"/>
                    </a:lnTo>
                    <a:lnTo>
                      <a:pt x="5493" y="277"/>
                    </a:lnTo>
                    <a:cubicBezTo>
                      <a:pt x="5387" y="99"/>
                      <a:pt x="5198" y="0"/>
                      <a:pt x="500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libaba PuHuiTi" pitchFamily="18" charset="-122"/>
                </a:endParaRPr>
              </a:p>
            </p:txBody>
          </p:sp>
          <p:sp>
            <p:nvSpPr>
              <p:cNvPr id="103" name="Google Shape;9116;p76"/>
              <p:cNvSpPr/>
              <p:nvPr/>
            </p:nvSpPr>
            <p:spPr>
              <a:xfrm>
                <a:off x="3562600" y="876075"/>
                <a:ext cx="207325" cy="241775"/>
              </a:xfrm>
              <a:custGeom>
                <a:avLst/>
                <a:gdLst/>
                <a:ahLst/>
                <a:cxnLst/>
                <a:rect l="l" t="t" r="r" b="b"/>
                <a:pathLst>
                  <a:path w="8293" h="9671" extrusionOk="0">
                    <a:moveTo>
                      <a:pt x="4204" y="1437"/>
                    </a:moveTo>
                    <a:cubicBezTo>
                      <a:pt x="5680" y="2826"/>
                      <a:pt x="6517" y="4764"/>
                      <a:pt x="6511" y="6790"/>
                    </a:cubicBezTo>
                    <a:cubicBezTo>
                      <a:pt x="6511" y="7300"/>
                      <a:pt x="6459" y="7811"/>
                      <a:pt x="6354" y="8309"/>
                    </a:cubicBezTo>
                    <a:lnTo>
                      <a:pt x="1468" y="6090"/>
                    </a:lnTo>
                    <a:lnTo>
                      <a:pt x="4204" y="1437"/>
                    </a:lnTo>
                    <a:close/>
                    <a:moveTo>
                      <a:pt x="4060" y="1"/>
                    </a:moveTo>
                    <a:cubicBezTo>
                      <a:pt x="3867" y="1"/>
                      <a:pt x="3677" y="99"/>
                      <a:pt x="3570" y="280"/>
                    </a:cubicBezTo>
                    <a:lnTo>
                      <a:pt x="173" y="6056"/>
                    </a:lnTo>
                    <a:cubicBezTo>
                      <a:pt x="1" y="6346"/>
                      <a:pt x="119" y="6721"/>
                      <a:pt x="427" y="6860"/>
                    </a:cubicBezTo>
                    <a:lnTo>
                      <a:pt x="6499" y="9622"/>
                    </a:lnTo>
                    <a:cubicBezTo>
                      <a:pt x="6574" y="9656"/>
                      <a:pt x="6653" y="9671"/>
                      <a:pt x="6734" y="9671"/>
                    </a:cubicBezTo>
                    <a:cubicBezTo>
                      <a:pt x="6982" y="9671"/>
                      <a:pt x="7202" y="9508"/>
                      <a:pt x="7275" y="9269"/>
                    </a:cubicBezTo>
                    <a:cubicBezTo>
                      <a:pt x="8292" y="5921"/>
                      <a:pt x="7157" y="2291"/>
                      <a:pt x="4409" y="123"/>
                    </a:cubicBezTo>
                    <a:cubicBezTo>
                      <a:pt x="4305" y="40"/>
                      <a:pt x="4182" y="1"/>
                      <a:pt x="4060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libaba PuHuiTi" pitchFamily="18" charset="-122"/>
                </a:endParaRPr>
              </a:p>
            </p:txBody>
          </p:sp>
          <p:sp>
            <p:nvSpPr>
              <p:cNvPr id="104" name="Google Shape;9117;p76"/>
              <p:cNvSpPr/>
              <p:nvPr/>
            </p:nvSpPr>
            <p:spPr>
              <a:xfrm>
                <a:off x="3443500" y="832575"/>
                <a:ext cx="187300" cy="173625"/>
              </a:xfrm>
              <a:custGeom>
                <a:avLst/>
                <a:gdLst/>
                <a:ahLst/>
                <a:cxnLst/>
                <a:rect l="l" t="t" r="r" b="b"/>
                <a:pathLst>
                  <a:path w="7492" h="6945" extrusionOk="0">
                    <a:moveTo>
                      <a:pt x="3877" y="1133"/>
                    </a:moveTo>
                    <a:cubicBezTo>
                      <a:pt x="4588" y="1133"/>
                      <a:pt x="5300" y="1235"/>
                      <a:pt x="5991" y="1440"/>
                    </a:cubicBezTo>
                    <a:lnTo>
                      <a:pt x="3735" y="5269"/>
                    </a:lnTo>
                    <a:lnTo>
                      <a:pt x="1492" y="1528"/>
                    </a:lnTo>
                    <a:cubicBezTo>
                      <a:pt x="2264" y="1265"/>
                      <a:pt x="3070" y="1133"/>
                      <a:pt x="3877" y="1133"/>
                    </a:cubicBezTo>
                    <a:close/>
                    <a:moveTo>
                      <a:pt x="3877" y="0"/>
                    </a:moveTo>
                    <a:cubicBezTo>
                      <a:pt x="2702" y="0"/>
                      <a:pt x="1528" y="243"/>
                      <a:pt x="432" y="728"/>
                    </a:cubicBezTo>
                    <a:cubicBezTo>
                      <a:pt x="121" y="867"/>
                      <a:pt x="0" y="1244"/>
                      <a:pt x="175" y="1537"/>
                    </a:cubicBezTo>
                    <a:lnTo>
                      <a:pt x="3255" y="6670"/>
                    </a:lnTo>
                    <a:cubicBezTo>
                      <a:pt x="3358" y="6839"/>
                      <a:pt x="3542" y="6945"/>
                      <a:pt x="3741" y="6945"/>
                    </a:cubicBezTo>
                    <a:lnTo>
                      <a:pt x="3744" y="6945"/>
                    </a:lnTo>
                    <a:cubicBezTo>
                      <a:pt x="3943" y="6945"/>
                      <a:pt x="4128" y="6839"/>
                      <a:pt x="4230" y="6667"/>
                    </a:cubicBezTo>
                    <a:lnTo>
                      <a:pt x="7313" y="1419"/>
                    </a:lnTo>
                    <a:cubicBezTo>
                      <a:pt x="7491" y="1120"/>
                      <a:pt x="7358" y="737"/>
                      <a:pt x="7038" y="607"/>
                    </a:cubicBezTo>
                    <a:cubicBezTo>
                      <a:pt x="6023" y="202"/>
                      <a:pt x="4950" y="0"/>
                      <a:pt x="387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libaba PuHuiTi" pitchFamily="18" charset="-122"/>
                </a:endParaRPr>
              </a:p>
            </p:txBody>
          </p:sp>
        </p:grpSp>
      </p:grpSp>
      <p:grpSp>
        <p:nvGrpSpPr>
          <p:cNvPr id="60" name="组合 59"/>
          <p:cNvGrpSpPr/>
          <p:nvPr/>
        </p:nvGrpSpPr>
        <p:grpSpPr>
          <a:xfrm>
            <a:off x="6358255" y="2473325"/>
            <a:ext cx="2392680" cy="361315"/>
            <a:chOff x="10013" y="4023"/>
            <a:chExt cx="3768" cy="569"/>
          </a:xfrm>
        </p:grpSpPr>
        <p:sp>
          <p:nvSpPr>
            <p:cNvPr id="115" name="任意形状 114"/>
            <p:cNvSpPr/>
            <p:nvPr/>
          </p:nvSpPr>
          <p:spPr>
            <a:xfrm>
              <a:off x="10355" y="4023"/>
              <a:ext cx="3426" cy="569"/>
            </a:xfrm>
            <a:custGeom>
              <a:avLst/>
              <a:gdLst>
                <a:gd name="connsiteX0" fmla="*/ 2099310 w 2175510"/>
                <a:gd name="connsiteY0" fmla="*/ 361188 h 361188"/>
                <a:gd name="connsiteX1" fmla="*/ 76200 w 2175510"/>
                <a:gd name="connsiteY1" fmla="*/ 361188 h 361188"/>
                <a:gd name="connsiteX2" fmla="*/ 0 w 2175510"/>
                <a:gd name="connsiteY2" fmla="*/ 284988 h 361188"/>
                <a:gd name="connsiteX3" fmla="*/ 0 w 2175510"/>
                <a:gd name="connsiteY3" fmla="*/ 76200 h 361188"/>
                <a:gd name="connsiteX4" fmla="*/ 76200 w 2175510"/>
                <a:gd name="connsiteY4" fmla="*/ 0 h 361188"/>
                <a:gd name="connsiteX5" fmla="*/ 2099310 w 2175510"/>
                <a:gd name="connsiteY5" fmla="*/ 0 h 361188"/>
                <a:gd name="connsiteX6" fmla="*/ 2175510 w 2175510"/>
                <a:gd name="connsiteY6" fmla="*/ 76200 h 361188"/>
                <a:gd name="connsiteX7" fmla="*/ 2175510 w 2175510"/>
                <a:gd name="connsiteY7" fmla="*/ 284988 h 361188"/>
                <a:gd name="connsiteX8" fmla="*/ 2099310 w 2175510"/>
                <a:gd name="connsiteY8" fmla="*/ 361188 h 361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75510" h="361188">
                  <a:moveTo>
                    <a:pt x="2099310" y="361188"/>
                  </a:moveTo>
                  <a:lnTo>
                    <a:pt x="76200" y="361188"/>
                  </a:lnTo>
                  <a:cubicBezTo>
                    <a:pt x="34290" y="361188"/>
                    <a:pt x="0" y="326898"/>
                    <a:pt x="0" y="284988"/>
                  </a:cubicBezTo>
                  <a:lnTo>
                    <a:pt x="0" y="76200"/>
                  </a:lnTo>
                  <a:cubicBezTo>
                    <a:pt x="0" y="34290"/>
                    <a:pt x="34290" y="0"/>
                    <a:pt x="76200" y="0"/>
                  </a:cubicBezTo>
                  <a:lnTo>
                    <a:pt x="2099310" y="0"/>
                  </a:lnTo>
                  <a:cubicBezTo>
                    <a:pt x="2141220" y="0"/>
                    <a:pt x="2175510" y="34290"/>
                    <a:pt x="2175510" y="76200"/>
                  </a:cubicBezTo>
                  <a:lnTo>
                    <a:pt x="2175510" y="284988"/>
                  </a:lnTo>
                  <a:cubicBezTo>
                    <a:pt x="2175510" y="326898"/>
                    <a:pt x="2141982" y="361188"/>
                    <a:pt x="2099310" y="361188"/>
                  </a:cubicBezTo>
                  <a:close/>
                </a:path>
              </a:pathLst>
            </a:custGeom>
            <a:pattFill prst="ltUpDiag">
              <a:fgClr>
                <a:schemeClr val="bg2"/>
              </a:fgClr>
              <a:bgClr>
                <a:schemeClr val="bg1"/>
              </a:bgClr>
            </a:pattFill>
            <a:ln w="12700" cap="flat">
              <a:solidFill>
                <a:schemeClr val="bg2">
                  <a:lumMod val="9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endParaRPr>
            </a:p>
          </p:txBody>
        </p:sp>
        <p:sp>
          <p:nvSpPr>
            <p:cNvPr id="116" name="任意形状 115"/>
            <p:cNvSpPr/>
            <p:nvPr/>
          </p:nvSpPr>
          <p:spPr>
            <a:xfrm>
              <a:off x="10013" y="4023"/>
              <a:ext cx="569" cy="569"/>
            </a:xfrm>
            <a:custGeom>
              <a:avLst/>
              <a:gdLst>
                <a:gd name="connsiteX0" fmla="*/ 284988 w 361188"/>
                <a:gd name="connsiteY0" fmla="*/ 361188 h 361188"/>
                <a:gd name="connsiteX1" fmla="*/ 76200 w 361188"/>
                <a:gd name="connsiteY1" fmla="*/ 361188 h 361188"/>
                <a:gd name="connsiteX2" fmla="*/ 0 w 361188"/>
                <a:gd name="connsiteY2" fmla="*/ 284988 h 361188"/>
                <a:gd name="connsiteX3" fmla="*/ 0 w 361188"/>
                <a:gd name="connsiteY3" fmla="*/ 76200 h 361188"/>
                <a:gd name="connsiteX4" fmla="*/ 76200 w 361188"/>
                <a:gd name="connsiteY4" fmla="*/ 0 h 361188"/>
                <a:gd name="connsiteX5" fmla="*/ 284988 w 361188"/>
                <a:gd name="connsiteY5" fmla="*/ 0 h 361188"/>
                <a:gd name="connsiteX6" fmla="*/ 361188 w 361188"/>
                <a:gd name="connsiteY6" fmla="*/ 76200 h 361188"/>
                <a:gd name="connsiteX7" fmla="*/ 361188 w 361188"/>
                <a:gd name="connsiteY7" fmla="*/ 284988 h 361188"/>
                <a:gd name="connsiteX8" fmla="*/ 284988 w 361188"/>
                <a:gd name="connsiteY8" fmla="*/ 361188 h 361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1188" h="361188">
                  <a:moveTo>
                    <a:pt x="284988" y="361188"/>
                  </a:moveTo>
                  <a:lnTo>
                    <a:pt x="76200" y="361188"/>
                  </a:lnTo>
                  <a:cubicBezTo>
                    <a:pt x="34290" y="361188"/>
                    <a:pt x="0" y="326898"/>
                    <a:pt x="0" y="284988"/>
                  </a:cubicBezTo>
                  <a:lnTo>
                    <a:pt x="0" y="76200"/>
                  </a:lnTo>
                  <a:cubicBezTo>
                    <a:pt x="0" y="34290"/>
                    <a:pt x="34290" y="0"/>
                    <a:pt x="76200" y="0"/>
                  </a:cubicBezTo>
                  <a:lnTo>
                    <a:pt x="284988" y="0"/>
                  </a:lnTo>
                  <a:cubicBezTo>
                    <a:pt x="326898" y="0"/>
                    <a:pt x="361188" y="34290"/>
                    <a:pt x="361188" y="76200"/>
                  </a:cubicBezTo>
                  <a:lnTo>
                    <a:pt x="361188" y="284988"/>
                  </a:lnTo>
                  <a:cubicBezTo>
                    <a:pt x="361188" y="326898"/>
                    <a:pt x="326898" y="361188"/>
                    <a:pt x="284988" y="361188"/>
                  </a:cubicBezTo>
                  <a:close/>
                </a:path>
              </a:pathLst>
            </a:custGeom>
            <a:solidFill>
              <a:schemeClr val="accent3"/>
            </a:solidFill>
            <a:ln w="12700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endParaRPr>
            </a:p>
          </p:txBody>
        </p:sp>
        <p:sp>
          <p:nvSpPr>
            <p:cNvPr id="118" name="@紫荆的职场Point2-12"/>
            <p:cNvSpPr txBox="1"/>
            <p:nvPr/>
          </p:nvSpPr>
          <p:spPr>
            <a:xfrm>
              <a:off x="11266" y="4137"/>
              <a:ext cx="1680" cy="339"/>
            </a:xfrm>
            <a:prstGeom prst="rect">
              <a:avLst/>
            </a:prstGeom>
            <a:noFill/>
            <a:effectLst/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6">
                      <a:lumMod val="50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libaba PuHuiTi" pitchFamily="18" charset="-122"/>
                  <a:sym typeface="+mj-ea"/>
                </a:rPr>
                <a:t>两创深度融合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  <a:sym typeface="+mj-ea"/>
              </a:endParaRPr>
            </a:p>
          </p:txBody>
        </p:sp>
        <p:grpSp>
          <p:nvGrpSpPr>
            <p:cNvPr id="31" name="Google Shape;9392;p77"/>
            <p:cNvGrpSpPr>
              <a:grpSpLocks noChangeAspect="1"/>
            </p:cNvGrpSpPr>
            <p:nvPr/>
          </p:nvGrpSpPr>
          <p:grpSpPr>
            <a:xfrm>
              <a:off x="10132" y="4150"/>
              <a:ext cx="337" cy="340"/>
              <a:chOff x="-64764500" y="2280550"/>
              <a:chExt cx="316650" cy="319800"/>
            </a:xfrm>
            <a:solidFill>
              <a:schemeClr val="bg1"/>
            </a:solidFill>
          </p:grpSpPr>
          <p:sp>
            <p:nvSpPr>
              <p:cNvPr id="32" name="Google Shape;9393;p77"/>
              <p:cNvSpPr/>
              <p:nvPr/>
            </p:nvSpPr>
            <p:spPr>
              <a:xfrm>
                <a:off x="-64764500" y="2280550"/>
                <a:ext cx="316650" cy="319800"/>
              </a:xfrm>
              <a:custGeom>
                <a:avLst/>
                <a:gdLst/>
                <a:ahLst/>
                <a:cxnLst/>
                <a:rect l="l" t="t" r="r" b="b"/>
                <a:pathLst>
                  <a:path w="12666" h="12792" extrusionOk="0">
                    <a:moveTo>
                      <a:pt x="11405" y="820"/>
                    </a:moveTo>
                    <a:cubicBezTo>
                      <a:pt x="11657" y="820"/>
                      <a:pt x="11815" y="1009"/>
                      <a:pt x="11815" y="1261"/>
                    </a:cubicBezTo>
                    <a:cubicBezTo>
                      <a:pt x="11815" y="1481"/>
                      <a:pt x="11657" y="1670"/>
                      <a:pt x="11405" y="1670"/>
                    </a:cubicBezTo>
                    <a:lnTo>
                      <a:pt x="1229" y="1670"/>
                    </a:lnTo>
                    <a:cubicBezTo>
                      <a:pt x="977" y="1670"/>
                      <a:pt x="788" y="1481"/>
                      <a:pt x="788" y="1261"/>
                    </a:cubicBezTo>
                    <a:cubicBezTo>
                      <a:pt x="788" y="1009"/>
                      <a:pt x="977" y="820"/>
                      <a:pt x="1229" y="820"/>
                    </a:cubicBezTo>
                    <a:close/>
                    <a:moveTo>
                      <a:pt x="10996" y="2521"/>
                    </a:moveTo>
                    <a:lnTo>
                      <a:pt x="10996" y="8286"/>
                    </a:lnTo>
                    <a:lnTo>
                      <a:pt x="1607" y="8286"/>
                    </a:lnTo>
                    <a:lnTo>
                      <a:pt x="1607" y="2521"/>
                    </a:lnTo>
                    <a:close/>
                    <a:moveTo>
                      <a:pt x="6302" y="11027"/>
                    </a:moveTo>
                    <a:cubicBezTo>
                      <a:pt x="6554" y="11027"/>
                      <a:pt x="6743" y="11216"/>
                      <a:pt x="6743" y="11437"/>
                    </a:cubicBezTo>
                    <a:cubicBezTo>
                      <a:pt x="6743" y="11689"/>
                      <a:pt x="6522" y="11878"/>
                      <a:pt x="6302" y="11878"/>
                    </a:cubicBezTo>
                    <a:cubicBezTo>
                      <a:pt x="6050" y="11878"/>
                      <a:pt x="5892" y="11689"/>
                      <a:pt x="5892" y="11437"/>
                    </a:cubicBezTo>
                    <a:cubicBezTo>
                      <a:pt x="5892" y="11216"/>
                      <a:pt x="6113" y="11027"/>
                      <a:pt x="6302" y="11027"/>
                    </a:cubicBezTo>
                    <a:close/>
                    <a:moveTo>
                      <a:pt x="1229" y="1"/>
                    </a:moveTo>
                    <a:cubicBezTo>
                      <a:pt x="536" y="1"/>
                      <a:pt x="1" y="536"/>
                      <a:pt x="1" y="1261"/>
                    </a:cubicBezTo>
                    <a:cubicBezTo>
                      <a:pt x="1" y="1797"/>
                      <a:pt x="347" y="2238"/>
                      <a:pt x="820" y="2427"/>
                    </a:cubicBezTo>
                    <a:lnTo>
                      <a:pt x="820" y="8286"/>
                    </a:lnTo>
                    <a:lnTo>
                      <a:pt x="442" y="8286"/>
                    </a:lnTo>
                    <a:cubicBezTo>
                      <a:pt x="190" y="8286"/>
                      <a:pt x="32" y="8507"/>
                      <a:pt x="32" y="8728"/>
                    </a:cubicBezTo>
                    <a:cubicBezTo>
                      <a:pt x="32" y="8980"/>
                      <a:pt x="221" y="9169"/>
                      <a:pt x="442" y="9169"/>
                    </a:cubicBezTo>
                    <a:lnTo>
                      <a:pt x="5955" y="9169"/>
                    </a:lnTo>
                    <a:lnTo>
                      <a:pt x="5955" y="10334"/>
                    </a:lnTo>
                    <a:cubicBezTo>
                      <a:pt x="5483" y="10492"/>
                      <a:pt x="5104" y="10964"/>
                      <a:pt x="5104" y="11531"/>
                    </a:cubicBezTo>
                    <a:cubicBezTo>
                      <a:pt x="5104" y="12193"/>
                      <a:pt x="5672" y="12792"/>
                      <a:pt x="6333" y="12792"/>
                    </a:cubicBezTo>
                    <a:cubicBezTo>
                      <a:pt x="6995" y="12792"/>
                      <a:pt x="7593" y="12225"/>
                      <a:pt x="7593" y="11531"/>
                    </a:cubicBezTo>
                    <a:cubicBezTo>
                      <a:pt x="7593" y="10964"/>
                      <a:pt x="7247" y="10555"/>
                      <a:pt x="6774" y="10334"/>
                    </a:cubicBezTo>
                    <a:lnTo>
                      <a:pt x="6774" y="9169"/>
                    </a:lnTo>
                    <a:lnTo>
                      <a:pt x="12288" y="9169"/>
                    </a:lnTo>
                    <a:cubicBezTo>
                      <a:pt x="12508" y="9169"/>
                      <a:pt x="12666" y="8980"/>
                      <a:pt x="12666" y="8728"/>
                    </a:cubicBezTo>
                    <a:cubicBezTo>
                      <a:pt x="12666" y="8507"/>
                      <a:pt x="12477" y="8286"/>
                      <a:pt x="12288" y="8286"/>
                    </a:cubicBezTo>
                    <a:lnTo>
                      <a:pt x="11847" y="8286"/>
                    </a:lnTo>
                    <a:lnTo>
                      <a:pt x="11847" y="2427"/>
                    </a:lnTo>
                    <a:cubicBezTo>
                      <a:pt x="12319" y="2238"/>
                      <a:pt x="12634" y="1797"/>
                      <a:pt x="12634" y="1261"/>
                    </a:cubicBezTo>
                    <a:cubicBezTo>
                      <a:pt x="12634" y="568"/>
                      <a:pt x="12099" y="1"/>
                      <a:pt x="1140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  <a:cs typeface="Alibaba PuHuiTi" pitchFamily="18" charset="-122"/>
                </a:endParaRPr>
              </a:p>
            </p:txBody>
          </p:sp>
          <p:sp>
            <p:nvSpPr>
              <p:cNvPr id="33" name="Google Shape;9394;p77"/>
              <p:cNvSpPr/>
              <p:nvPr/>
            </p:nvSpPr>
            <p:spPr>
              <a:xfrm>
                <a:off x="-64679425" y="2364825"/>
                <a:ext cx="146500" cy="102450"/>
              </a:xfrm>
              <a:custGeom>
                <a:avLst/>
                <a:gdLst/>
                <a:ahLst/>
                <a:cxnLst/>
                <a:rect l="l" t="t" r="r" b="b"/>
                <a:pathLst>
                  <a:path w="5860" h="4098" extrusionOk="0">
                    <a:moveTo>
                      <a:pt x="3749" y="1"/>
                    </a:moveTo>
                    <a:cubicBezTo>
                      <a:pt x="3529" y="1"/>
                      <a:pt x="3371" y="190"/>
                      <a:pt x="3371" y="442"/>
                    </a:cubicBezTo>
                    <a:cubicBezTo>
                      <a:pt x="3371" y="662"/>
                      <a:pt x="3560" y="820"/>
                      <a:pt x="3749" y="820"/>
                    </a:cubicBezTo>
                    <a:lnTo>
                      <a:pt x="4442" y="820"/>
                    </a:lnTo>
                    <a:lnTo>
                      <a:pt x="2930" y="2332"/>
                    </a:lnTo>
                    <a:lnTo>
                      <a:pt x="2395" y="1765"/>
                    </a:lnTo>
                    <a:cubicBezTo>
                      <a:pt x="2316" y="1686"/>
                      <a:pt x="2206" y="1647"/>
                      <a:pt x="2095" y="1647"/>
                    </a:cubicBezTo>
                    <a:cubicBezTo>
                      <a:pt x="1985" y="1647"/>
                      <a:pt x="1875" y="1686"/>
                      <a:pt x="1796" y="1765"/>
                    </a:cubicBezTo>
                    <a:lnTo>
                      <a:pt x="126" y="3435"/>
                    </a:lnTo>
                    <a:cubicBezTo>
                      <a:pt x="0" y="3592"/>
                      <a:pt x="0" y="3844"/>
                      <a:pt x="126" y="4033"/>
                    </a:cubicBezTo>
                    <a:cubicBezTo>
                      <a:pt x="195" y="4075"/>
                      <a:pt x="288" y="4098"/>
                      <a:pt x="384" y="4098"/>
                    </a:cubicBezTo>
                    <a:cubicBezTo>
                      <a:pt x="507" y="4098"/>
                      <a:pt x="636" y="4059"/>
                      <a:pt x="725" y="3970"/>
                    </a:cubicBezTo>
                    <a:lnTo>
                      <a:pt x="2111" y="2616"/>
                    </a:lnTo>
                    <a:lnTo>
                      <a:pt x="2647" y="3151"/>
                    </a:lnTo>
                    <a:cubicBezTo>
                      <a:pt x="2725" y="3230"/>
                      <a:pt x="2836" y="3269"/>
                      <a:pt x="2946" y="3269"/>
                    </a:cubicBezTo>
                    <a:cubicBezTo>
                      <a:pt x="3056" y="3269"/>
                      <a:pt x="3166" y="3230"/>
                      <a:pt x="3245" y="3151"/>
                    </a:cubicBezTo>
                    <a:lnTo>
                      <a:pt x="5009" y="1387"/>
                    </a:lnTo>
                    <a:lnTo>
                      <a:pt x="5009" y="2049"/>
                    </a:lnTo>
                    <a:cubicBezTo>
                      <a:pt x="5009" y="2269"/>
                      <a:pt x="5230" y="2490"/>
                      <a:pt x="5451" y="2490"/>
                    </a:cubicBezTo>
                    <a:cubicBezTo>
                      <a:pt x="5703" y="2490"/>
                      <a:pt x="5860" y="2269"/>
                      <a:pt x="5860" y="2049"/>
                    </a:cubicBezTo>
                    <a:lnTo>
                      <a:pt x="5860" y="410"/>
                    </a:lnTo>
                    <a:cubicBezTo>
                      <a:pt x="5860" y="158"/>
                      <a:pt x="5640" y="1"/>
                      <a:pt x="5419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  <a:cs typeface="Alibaba PuHuiTi" pitchFamily="18" charset="-122"/>
                </a:endParaRPr>
              </a:p>
            </p:txBody>
          </p:sp>
        </p:grpSp>
      </p:grpSp>
      <p:grpSp>
        <p:nvGrpSpPr>
          <p:cNvPr id="58" name="组合 57"/>
          <p:cNvGrpSpPr/>
          <p:nvPr/>
        </p:nvGrpSpPr>
        <p:grpSpPr>
          <a:xfrm>
            <a:off x="3542665" y="2473325"/>
            <a:ext cx="2392680" cy="361315"/>
            <a:chOff x="5579" y="4023"/>
            <a:chExt cx="3768" cy="569"/>
          </a:xfrm>
        </p:grpSpPr>
        <p:sp>
          <p:nvSpPr>
            <p:cNvPr id="106" name="任意形状 105"/>
            <p:cNvSpPr/>
            <p:nvPr/>
          </p:nvSpPr>
          <p:spPr>
            <a:xfrm>
              <a:off x="5921" y="4023"/>
              <a:ext cx="3426" cy="569"/>
            </a:xfrm>
            <a:custGeom>
              <a:avLst/>
              <a:gdLst>
                <a:gd name="connsiteX0" fmla="*/ 2099310 w 2175510"/>
                <a:gd name="connsiteY0" fmla="*/ 361188 h 361188"/>
                <a:gd name="connsiteX1" fmla="*/ 76200 w 2175510"/>
                <a:gd name="connsiteY1" fmla="*/ 361188 h 361188"/>
                <a:gd name="connsiteX2" fmla="*/ 0 w 2175510"/>
                <a:gd name="connsiteY2" fmla="*/ 284988 h 361188"/>
                <a:gd name="connsiteX3" fmla="*/ 0 w 2175510"/>
                <a:gd name="connsiteY3" fmla="*/ 76200 h 361188"/>
                <a:gd name="connsiteX4" fmla="*/ 76200 w 2175510"/>
                <a:gd name="connsiteY4" fmla="*/ 0 h 361188"/>
                <a:gd name="connsiteX5" fmla="*/ 2099310 w 2175510"/>
                <a:gd name="connsiteY5" fmla="*/ 0 h 361188"/>
                <a:gd name="connsiteX6" fmla="*/ 2175510 w 2175510"/>
                <a:gd name="connsiteY6" fmla="*/ 76200 h 361188"/>
                <a:gd name="connsiteX7" fmla="*/ 2175510 w 2175510"/>
                <a:gd name="connsiteY7" fmla="*/ 284988 h 361188"/>
                <a:gd name="connsiteX8" fmla="*/ 2099310 w 2175510"/>
                <a:gd name="connsiteY8" fmla="*/ 361188 h 361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75510" h="361188">
                  <a:moveTo>
                    <a:pt x="2099310" y="361188"/>
                  </a:moveTo>
                  <a:lnTo>
                    <a:pt x="76200" y="361188"/>
                  </a:lnTo>
                  <a:cubicBezTo>
                    <a:pt x="34290" y="361188"/>
                    <a:pt x="0" y="326898"/>
                    <a:pt x="0" y="284988"/>
                  </a:cubicBezTo>
                  <a:lnTo>
                    <a:pt x="0" y="76200"/>
                  </a:lnTo>
                  <a:cubicBezTo>
                    <a:pt x="0" y="34290"/>
                    <a:pt x="34290" y="0"/>
                    <a:pt x="76200" y="0"/>
                  </a:cubicBezTo>
                  <a:lnTo>
                    <a:pt x="2099310" y="0"/>
                  </a:lnTo>
                  <a:cubicBezTo>
                    <a:pt x="2141220" y="0"/>
                    <a:pt x="2175510" y="34290"/>
                    <a:pt x="2175510" y="76200"/>
                  </a:cubicBezTo>
                  <a:lnTo>
                    <a:pt x="2175510" y="284988"/>
                  </a:lnTo>
                  <a:cubicBezTo>
                    <a:pt x="2175510" y="326898"/>
                    <a:pt x="2141982" y="361188"/>
                    <a:pt x="2099310" y="361188"/>
                  </a:cubicBezTo>
                  <a:close/>
                </a:path>
              </a:pathLst>
            </a:custGeom>
            <a:pattFill prst="ltUpDiag">
              <a:fgClr>
                <a:schemeClr val="bg2"/>
              </a:fgClr>
              <a:bgClr>
                <a:schemeClr val="bg1"/>
              </a:bgClr>
            </a:pattFill>
            <a:ln w="12700" cap="flat">
              <a:solidFill>
                <a:schemeClr val="bg2">
                  <a:lumMod val="9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endParaRPr>
            </a:p>
          </p:txBody>
        </p:sp>
        <p:sp>
          <p:nvSpPr>
            <p:cNvPr id="107" name="任意形状 106"/>
            <p:cNvSpPr/>
            <p:nvPr/>
          </p:nvSpPr>
          <p:spPr>
            <a:xfrm>
              <a:off x="5579" y="4023"/>
              <a:ext cx="569" cy="569"/>
            </a:xfrm>
            <a:custGeom>
              <a:avLst/>
              <a:gdLst>
                <a:gd name="connsiteX0" fmla="*/ 284988 w 361188"/>
                <a:gd name="connsiteY0" fmla="*/ 361188 h 361188"/>
                <a:gd name="connsiteX1" fmla="*/ 76200 w 361188"/>
                <a:gd name="connsiteY1" fmla="*/ 361188 h 361188"/>
                <a:gd name="connsiteX2" fmla="*/ 0 w 361188"/>
                <a:gd name="connsiteY2" fmla="*/ 284988 h 361188"/>
                <a:gd name="connsiteX3" fmla="*/ 0 w 361188"/>
                <a:gd name="connsiteY3" fmla="*/ 76200 h 361188"/>
                <a:gd name="connsiteX4" fmla="*/ 76200 w 361188"/>
                <a:gd name="connsiteY4" fmla="*/ 0 h 361188"/>
                <a:gd name="connsiteX5" fmla="*/ 284988 w 361188"/>
                <a:gd name="connsiteY5" fmla="*/ 0 h 361188"/>
                <a:gd name="connsiteX6" fmla="*/ 361188 w 361188"/>
                <a:gd name="connsiteY6" fmla="*/ 76200 h 361188"/>
                <a:gd name="connsiteX7" fmla="*/ 361188 w 361188"/>
                <a:gd name="connsiteY7" fmla="*/ 284988 h 361188"/>
                <a:gd name="connsiteX8" fmla="*/ 284988 w 361188"/>
                <a:gd name="connsiteY8" fmla="*/ 361188 h 361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1188" h="361188">
                  <a:moveTo>
                    <a:pt x="284988" y="361188"/>
                  </a:moveTo>
                  <a:lnTo>
                    <a:pt x="76200" y="361188"/>
                  </a:lnTo>
                  <a:cubicBezTo>
                    <a:pt x="34290" y="361188"/>
                    <a:pt x="0" y="326898"/>
                    <a:pt x="0" y="284988"/>
                  </a:cubicBezTo>
                  <a:lnTo>
                    <a:pt x="0" y="76200"/>
                  </a:lnTo>
                  <a:cubicBezTo>
                    <a:pt x="0" y="34290"/>
                    <a:pt x="34290" y="0"/>
                    <a:pt x="76200" y="0"/>
                  </a:cubicBezTo>
                  <a:lnTo>
                    <a:pt x="284988" y="0"/>
                  </a:lnTo>
                  <a:cubicBezTo>
                    <a:pt x="326898" y="0"/>
                    <a:pt x="361188" y="34290"/>
                    <a:pt x="361188" y="76200"/>
                  </a:cubicBezTo>
                  <a:lnTo>
                    <a:pt x="361188" y="284988"/>
                  </a:lnTo>
                  <a:cubicBezTo>
                    <a:pt x="361188" y="326898"/>
                    <a:pt x="326898" y="361188"/>
                    <a:pt x="284988" y="361188"/>
                  </a:cubicBezTo>
                  <a:close/>
                </a:path>
              </a:pathLst>
            </a:custGeom>
            <a:solidFill>
              <a:schemeClr val="accent2"/>
            </a:solidFill>
            <a:ln w="12700" cap="flat">
              <a:solidFill>
                <a:schemeClr val="accent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endParaRPr>
            </a:p>
          </p:txBody>
        </p:sp>
        <p:sp>
          <p:nvSpPr>
            <p:cNvPr id="109" name="@紫荆的职场Point2-12"/>
            <p:cNvSpPr txBox="1"/>
            <p:nvPr/>
          </p:nvSpPr>
          <p:spPr>
            <a:xfrm>
              <a:off x="6692" y="4137"/>
              <a:ext cx="1960" cy="339"/>
            </a:xfrm>
            <a:prstGeom prst="rect">
              <a:avLst/>
            </a:prstGeom>
            <a:noFill/>
            <a:effectLst/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6">
                      <a:lumMod val="50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libaba PuHuiTi" pitchFamily="18" charset="-122"/>
                  <a:sym typeface="+mj-ea"/>
                </a:rPr>
                <a:t>全要素资源集聚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  <a:sym typeface="+mj-ea"/>
              </a:endParaRPr>
            </a:p>
          </p:txBody>
        </p:sp>
        <p:grpSp>
          <p:nvGrpSpPr>
            <p:cNvPr id="34" name="Google Shape;12998;p85"/>
            <p:cNvGrpSpPr>
              <a:grpSpLocks noChangeAspect="1"/>
            </p:cNvGrpSpPr>
            <p:nvPr/>
          </p:nvGrpSpPr>
          <p:grpSpPr>
            <a:xfrm>
              <a:off x="5734" y="4153"/>
              <a:ext cx="310" cy="312"/>
              <a:chOff x="-3852025" y="2764950"/>
              <a:chExt cx="291450" cy="293000"/>
            </a:xfrm>
            <a:solidFill>
              <a:schemeClr val="bg1"/>
            </a:solidFill>
          </p:grpSpPr>
          <p:sp>
            <p:nvSpPr>
              <p:cNvPr id="35" name="Google Shape;12999;p85"/>
              <p:cNvSpPr/>
              <p:nvPr/>
            </p:nvSpPr>
            <p:spPr>
              <a:xfrm>
                <a:off x="-3852025" y="2764950"/>
                <a:ext cx="291450" cy="293000"/>
              </a:xfrm>
              <a:custGeom>
                <a:avLst/>
                <a:gdLst/>
                <a:ahLst/>
                <a:cxnLst/>
                <a:rect l="l" t="t" r="r" b="b"/>
                <a:pathLst>
                  <a:path w="11658" h="11720" extrusionOk="0">
                    <a:moveTo>
                      <a:pt x="4380" y="693"/>
                    </a:moveTo>
                    <a:cubicBezTo>
                      <a:pt x="6774" y="693"/>
                      <a:pt x="8161" y="1355"/>
                      <a:pt x="8161" y="1733"/>
                    </a:cubicBezTo>
                    <a:cubicBezTo>
                      <a:pt x="8161" y="2080"/>
                      <a:pt x="6774" y="2741"/>
                      <a:pt x="4380" y="2741"/>
                    </a:cubicBezTo>
                    <a:cubicBezTo>
                      <a:pt x="1986" y="2741"/>
                      <a:pt x="599" y="2080"/>
                      <a:pt x="599" y="1733"/>
                    </a:cubicBezTo>
                    <a:cubicBezTo>
                      <a:pt x="631" y="1355"/>
                      <a:pt x="2017" y="693"/>
                      <a:pt x="4380" y="693"/>
                    </a:cubicBezTo>
                    <a:close/>
                    <a:moveTo>
                      <a:pt x="8224" y="2710"/>
                    </a:moveTo>
                    <a:lnTo>
                      <a:pt x="8224" y="4190"/>
                    </a:lnTo>
                    <a:lnTo>
                      <a:pt x="7845" y="4190"/>
                    </a:lnTo>
                    <a:cubicBezTo>
                      <a:pt x="7815" y="4189"/>
                      <a:pt x="7784" y="4189"/>
                      <a:pt x="7753" y="4189"/>
                    </a:cubicBezTo>
                    <a:cubicBezTo>
                      <a:pt x="6625" y="4189"/>
                      <a:pt x="5622" y="4748"/>
                      <a:pt x="4947" y="5545"/>
                    </a:cubicBezTo>
                    <a:cubicBezTo>
                      <a:pt x="4743" y="5555"/>
                      <a:pt x="4544" y="5560"/>
                      <a:pt x="4352" y="5560"/>
                    </a:cubicBezTo>
                    <a:cubicBezTo>
                      <a:pt x="2081" y="5560"/>
                      <a:pt x="662" y="4912"/>
                      <a:pt x="662" y="4505"/>
                    </a:cubicBezTo>
                    <a:lnTo>
                      <a:pt x="662" y="2710"/>
                    </a:lnTo>
                    <a:cubicBezTo>
                      <a:pt x="1639" y="3308"/>
                      <a:pt x="3246" y="3466"/>
                      <a:pt x="4443" y="3466"/>
                    </a:cubicBezTo>
                    <a:cubicBezTo>
                      <a:pt x="5577" y="3466"/>
                      <a:pt x="7215" y="3308"/>
                      <a:pt x="8224" y="2710"/>
                    </a:cubicBezTo>
                    <a:close/>
                    <a:moveTo>
                      <a:pt x="631" y="5514"/>
                    </a:moveTo>
                    <a:cubicBezTo>
                      <a:pt x="1639" y="6081"/>
                      <a:pt x="3309" y="6238"/>
                      <a:pt x="4474" y="6238"/>
                    </a:cubicBezTo>
                    <a:cubicBezTo>
                      <a:pt x="4222" y="6711"/>
                      <a:pt x="4065" y="7309"/>
                      <a:pt x="4065" y="7939"/>
                    </a:cubicBezTo>
                    <a:lnTo>
                      <a:pt x="4065" y="8286"/>
                    </a:lnTo>
                    <a:cubicBezTo>
                      <a:pt x="1860" y="8223"/>
                      <a:pt x="631" y="7624"/>
                      <a:pt x="631" y="7278"/>
                    </a:cubicBezTo>
                    <a:lnTo>
                      <a:pt x="631" y="5514"/>
                    </a:lnTo>
                    <a:close/>
                    <a:moveTo>
                      <a:pt x="631" y="8223"/>
                    </a:moveTo>
                    <a:cubicBezTo>
                      <a:pt x="1576" y="8759"/>
                      <a:pt x="3120" y="8979"/>
                      <a:pt x="4222" y="8979"/>
                    </a:cubicBezTo>
                    <a:cubicBezTo>
                      <a:pt x="4474" y="9798"/>
                      <a:pt x="4947" y="10460"/>
                      <a:pt x="5609" y="10964"/>
                    </a:cubicBezTo>
                    <a:cubicBezTo>
                      <a:pt x="5199" y="11005"/>
                      <a:pt x="4802" y="11024"/>
                      <a:pt x="4424" y="11024"/>
                    </a:cubicBezTo>
                    <a:cubicBezTo>
                      <a:pt x="2216" y="11024"/>
                      <a:pt x="631" y="10391"/>
                      <a:pt x="631" y="9987"/>
                    </a:cubicBezTo>
                    <a:lnTo>
                      <a:pt x="631" y="8223"/>
                    </a:lnTo>
                    <a:close/>
                    <a:moveTo>
                      <a:pt x="7814" y="4852"/>
                    </a:moveTo>
                    <a:cubicBezTo>
                      <a:pt x="9515" y="4852"/>
                      <a:pt x="10933" y="6238"/>
                      <a:pt x="10933" y="7939"/>
                    </a:cubicBezTo>
                    <a:cubicBezTo>
                      <a:pt x="10964" y="9641"/>
                      <a:pt x="9547" y="11027"/>
                      <a:pt x="7814" y="11027"/>
                    </a:cubicBezTo>
                    <a:cubicBezTo>
                      <a:pt x="6113" y="11027"/>
                      <a:pt x="4726" y="9641"/>
                      <a:pt x="4726" y="7939"/>
                    </a:cubicBezTo>
                    <a:cubicBezTo>
                      <a:pt x="4726" y="6238"/>
                      <a:pt x="6113" y="4852"/>
                      <a:pt x="7814" y="4852"/>
                    </a:cubicBezTo>
                    <a:close/>
                    <a:moveTo>
                      <a:pt x="4411" y="0"/>
                    </a:moveTo>
                    <a:cubicBezTo>
                      <a:pt x="3277" y="0"/>
                      <a:pt x="2206" y="158"/>
                      <a:pt x="1418" y="410"/>
                    </a:cubicBezTo>
                    <a:cubicBezTo>
                      <a:pt x="253" y="819"/>
                      <a:pt x="1" y="1323"/>
                      <a:pt x="1" y="1733"/>
                    </a:cubicBezTo>
                    <a:lnTo>
                      <a:pt x="1" y="9987"/>
                    </a:lnTo>
                    <a:cubicBezTo>
                      <a:pt x="1" y="10334"/>
                      <a:pt x="253" y="10901"/>
                      <a:pt x="1418" y="11279"/>
                    </a:cubicBezTo>
                    <a:cubicBezTo>
                      <a:pt x="2269" y="11562"/>
                      <a:pt x="3309" y="11720"/>
                      <a:pt x="4411" y="11720"/>
                    </a:cubicBezTo>
                    <a:cubicBezTo>
                      <a:pt x="5199" y="11720"/>
                      <a:pt x="5955" y="11657"/>
                      <a:pt x="6617" y="11531"/>
                    </a:cubicBezTo>
                    <a:cubicBezTo>
                      <a:pt x="7026" y="11657"/>
                      <a:pt x="7404" y="11720"/>
                      <a:pt x="7845" y="11720"/>
                    </a:cubicBezTo>
                    <a:cubicBezTo>
                      <a:pt x="9925" y="11720"/>
                      <a:pt x="11658" y="10019"/>
                      <a:pt x="11658" y="7939"/>
                    </a:cubicBezTo>
                    <a:cubicBezTo>
                      <a:pt x="11626" y="6175"/>
                      <a:pt x="10397" y="4757"/>
                      <a:pt x="8822" y="4316"/>
                    </a:cubicBezTo>
                    <a:lnTo>
                      <a:pt x="8822" y="1733"/>
                    </a:lnTo>
                    <a:cubicBezTo>
                      <a:pt x="8822" y="1355"/>
                      <a:pt x="8602" y="819"/>
                      <a:pt x="7404" y="410"/>
                    </a:cubicBezTo>
                    <a:cubicBezTo>
                      <a:pt x="6585" y="158"/>
                      <a:pt x="5514" y="0"/>
                      <a:pt x="441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  <a:cs typeface="Alibaba PuHuiTi" pitchFamily="18" charset="-122"/>
                </a:endParaRPr>
              </a:p>
            </p:txBody>
          </p:sp>
          <p:sp>
            <p:nvSpPr>
              <p:cNvPr id="36" name="Google Shape;13000;p85"/>
              <p:cNvSpPr/>
              <p:nvPr/>
            </p:nvSpPr>
            <p:spPr>
              <a:xfrm>
                <a:off x="-3707100" y="2937425"/>
                <a:ext cx="103200" cy="67775"/>
              </a:xfrm>
              <a:custGeom>
                <a:avLst/>
                <a:gdLst/>
                <a:ahLst/>
                <a:cxnLst/>
                <a:rect l="l" t="t" r="r" b="b"/>
                <a:pathLst>
                  <a:path w="4128" h="2711" extrusionOk="0">
                    <a:moveTo>
                      <a:pt x="3785" y="1"/>
                    </a:moveTo>
                    <a:cubicBezTo>
                      <a:pt x="3695" y="1"/>
                      <a:pt x="3608" y="32"/>
                      <a:pt x="3561" y="95"/>
                    </a:cubicBezTo>
                    <a:lnTo>
                      <a:pt x="1733" y="1923"/>
                    </a:lnTo>
                    <a:lnTo>
                      <a:pt x="599" y="757"/>
                    </a:lnTo>
                    <a:cubicBezTo>
                      <a:pt x="536" y="710"/>
                      <a:pt x="450" y="686"/>
                      <a:pt x="363" y="686"/>
                    </a:cubicBezTo>
                    <a:cubicBezTo>
                      <a:pt x="276" y="686"/>
                      <a:pt x="190" y="710"/>
                      <a:pt x="127" y="757"/>
                    </a:cubicBezTo>
                    <a:cubicBezTo>
                      <a:pt x="1" y="883"/>
                      <a:pt x="1" y="1135"/>
                      <a:pt x="127" y="1229"/>
                    </a:cubicBezTo>
                    <a:lnTo>
                      <a:pt x="1513" y="2616"/>
                    </a:lnTo>
                    <a:cubicBezTo>
                      <a:pt x="1560" y="2679"/>
                      <a:pt x="1647" y="2710"/>
                      <a:pt x="1737" y="2710"/>
                    </a:cubicBezTo>
                    <a:cubicBezTo>
                      <a:pt x="1828" y="2710"/>
                      <a:pt x="1922" y="2679"/>
                      <a:pt x="1985" y="2616"/>
                    </a:cubicBezTo>
                    <a:lnTo>
                      <a:pt x="4033" y="568"/>
                    </a:lnTo>
                    <a:cubicBezTo>
                      <a:pt x="4128" y="442"/>
                      <a:pt x="4128" y="221"/>
                      <a:pt x="4033" y="95"/>
                    </a:cubicBezTo>
                    <a:cubicBezTo>
                      <a:pt x="3970" y="32"/>
                      <a:pt x="3876" y="1"/>
                      <a:pt x="378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  <a:cs typeface="Alibaba PuHuiTi" pitchFamily="18" charset="-122"/>
                </a:endParaRPr>
              </a:p>
            </p:txBody>
          </p:sp>
        </p:grpSp>
      </p:grpSp>
      <p:grpSp>
        <p:nvGrpSpPr>
          <p:cNvPr id="63" name="组合 62"/>
          <p:cNvGrpSpPr/>
          <p:nvPr/>
        </p:nvGrpSpPr>
        <p:grpSpPr>
          <a:xfrm>
            <a:off x="9184640" y="2473325"/>
            <a:ext cx="2392680" cy="361315"/>
            <a:chOff x="14464" y="4023"/>
            <a:chExt cx="3768" cy="569"/>
          </a:xfrm>
        </p:grpSpPr>
        <p:sp>
          <p:nvSpPr>
            <p:cNvPr id="124" name="任意形状 123"/>
            <p:cNvSpPr/>
            <p:nvPr/>
          </p:nvSpPr>
          <p:spPr>
            <a:xfrm>
              <a:off x="14806" y="4023"/>
              <a:ext cx="3426" cy="569"/>
            </a:xfrm>
            <a:custGeom>
              <a:avLst/>
              <a:gdLst>
                <a:gd name="connsiteX0" fmla="*/ 2099310 w 2175510"/>
                <a:gd name="connsiteY0" fmla="*/ 361188 h 361188"/>
                <a:gd name="connsiteX1" fmla="*/ 76200 w 2175510"/>
                <a:gd name="connsiteY1" fmla="*/ 361188 h 361188"/>
                <a:gd name="connsiteX2" fmla="*/ 0 w 2175510"/>
                <a:gd name="connsiteY2" fmla="*/ 284988 h 361188"/>
                <a:gd name="connsiteX3" fmla="*/ 0 w 2175510"/>
                <a:gd name="connsiteY3" fmla="*/ 76200 h 361188"/>
                <a:gd name="connsiteX4" fmla="*/ 76200 w 2175510"/>
                <a:gd name="connsiteY4" fmla="*/ 0 h 361188"/>
                <a:gd name="connsiteX5" fmla="*/ 2099310 w 2175510"/>
                <a:gd name="connsiteY5" fmla="*/ 0 h 361188"/>
                <a:gd name="connsiteX6" fmla="*/ 2175510 w 2175510"/>
                <a:gd name="connsiteY6" fmla="*/ 76200 h 361188"/>
                <a:gd name="connsiteX7" fmla="*/ 2175510 w 2175510"/>
                <a:gd name="connsiteY7" fmla="*/ 284988 h 361188"/>
                <a:gd name="connsiteX8" fmla="*/ 2099310 w 2175510"/>
                <a:gd name="connsiteY8" fmla="*/ 361188 h 361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75510" h="361188">
                  <a:moveTo>
                    <a:pt x="2099310" y="361188"/>
                  </a:moveTo>
                  <a:lnTo>
                    <a:pt x="76200" y="361188"/>
                  </a:lnTo>
                  <a:cubicBezTo>
                    <a:pt x="34290" y="361188"/>
                    <a:pt x="0" y="326898"/>
                    <a:pt x="0" y="284988"/>
                  </a:cubicBezTo>
                  <a:lnTo>
                    <a:pt x="0" y="76200"/>
                  </a:lnTo>
                  <a:cubicBezTo>
                    <a:pt x="0" y="34290"/>
                    <a:pt x="34290" y="0"/>
                    <a:pt x="76200" y="0"/>
                  </a:cubicBezTo>
                  <a:lnTo>
                    <a:pt x="2099310" y="0"/>
                  </a:lnTo>
                  <a:cubicBezTo>
                    <a:pt x="2141220" y="0"/>
                    <a:pt x="2175510" y="34290"/>
                    <a:pt x="2175510" y="76200"/>
                  </a:cubicBezTo>
                  <a:lnTo>
                    <a:pt x="2175510" y="284988"/>
                  </a:lnTo>
                  <a:cubicBezTo>
                    <a:pt x="2175510" y="326898"/>
                    <a:pt x="2141982" y="361188"/>
                    <a:pt x="2099310" y="361188"/>
                  </a:cubicBezTo>
                  <a:close/>
                </a:path>
              </a:pathLst>
            </a:custGeom>
            <a:pattFill prst="ltUpDiag">
              <a:fgClr>
                <a:schemeClr val="bg2"/>
              </a:fgClr>
              <a:bgClr>
                <a:schemeClr val="bg1"/>
              </a:bgClr>
            </a:pattFill>
            <a:ln w="12700" cap="flat">
              <a:solidFill>
                <a:schemeClr val="bg2">
                  <a:lumMod val="9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endParaRPr>
            </a:p>
          </p:txBody>
        </p:sp>
        <p:sp>
          <p:nvSpPr>
            <p:cNvPr id="125" name="任意形状 124"/>
            <p:cNvSpPr/>
            <p:nvPr/>
          </p:nvSpPr>
          <p:spPr>
            <a:xfrm>
              <a:off x="14464" y="4023"/>
              <a:ext cx="569" cy="569"/>
            </a:xfrm>
            <a:custGeom>
              <a:avLst/>
              <a:gdLst>
                <a:gd name="connsiteX0" fmla="*/ 284988 w 361188"/>
                <a:gd name="connsiteY0" fmla="*/ 361188 h 361188"/>
                <a:gd name="connsiteX1" fmla="*/ 76200 w 361188"/>
                <a:gd name="connsiteY1" fmla="*/ 361188 h 361188"/>
                <a:gd name="connsiteX2" fmla="*/ 0 w 361188"/>
                <a:gd name="connsiteY2" fmla="*/ 284988 h 361188"/>
                <a:gd name="connsiteX3" fmla="*/ 0 w 361188"/>
                <a:gd name="connsiteY3" fmla="*/ 76200 h 361188"/>
                <a:gd name="connsiteX4" fmla="*/ 76200 w 361188"/>
                <a:gd name="connsiteY4" fmla="*/ 0 h 361188"/>
                <a:gd name="connsiteX5" fmla="*/ 284988 w 361188"/>
                <a:gd name="connsiteY5" fmla="*/ 0 h 361188"/>
                <a:gd name="connsiteX6" fmla="*/ 361188 w 361188"/>
                <a:gd name="connsiteY6" fmla="*/ 76200 h 361188"/>
                <a:gd name="connsiteX7" fmla="*/ 361188 w 361188"/>
                <a:gd name="connsiteY7" fmla="*/ 284988 h 361188"/>
                <a:gd name="connsiteX8" fmla="*/ 284988 w 361188"/>
                <a:gd name="connsiteY8" fmla="*/ 361188 h 361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1188" h="361188">
                  <a:moveTo>
                    <a:pt x="284988" y="361188"/>
                  </a:moveTo>
                  <a:lnTo>
                    <a:pt x="76200" y="361188"/>
                  </a:lnTo>
                  <a:cubicBezTo>
                    <a:pt x="34290" y="361188"/>
                    <a:pt x="0" y="326898"/>
                    <a:pt x="0" y="284988"/>
                  </a:cubicBezTo>
                  <a:lnTo>
                    <a:pt x="0" y="76200"/>
                  </a:lnTo>
                  <a:cubicBezTo>
                    <a:pt x="0" y="34290"/>
                    <a:pt x="34290" y="0"/>
                    <a:pt x="76200" y="0"/>
                  </a:cubicBezTo>
                  <a:lnTo>
                    <a:pt x="284988" y="0"/>
                  </a:lnTo>
                  <a:cubicBezTo>
                    <a:pt x="326898" y="0"/>
                    <a:pt x="361188" y="34290"/>
                    <a:pt x="361188" y="76200"/>
                  </a:cubicBezTo>
                  <a:lnTo>
                    <a:pt x="361188" y="284988"/>
                  </a:lnTo>
                  <a:cubicBezTo>
                    <a:pt x="361188" y="326898"/>
                    <a:pt x="326898" y="361188"/>
                    <a:pt x="284988" y="361188"/>
                  </a:cubicBezTo>
                  <a:close/>
                </a:path>
              </a:pathLst>
            </a:custGeom>
            <a:solidFill>
              <a:schemeClr val="accent4"/>
            </a:solidFill>
            <a:ln w="127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endParaRPr>
            </a:p>
          </p:txBody>
        </p:sp>
        <p:sp>
          <p:nvSpPr>
            <p:cNvPr id="17" name="@紫荆的职场Point2-12"/>
            <p:cNvSpPr txBox="1"/>
            <p:nvPr/>
          </p:nvSpPr>
          <p:spPr>
            <a:xfrm>
              <a:off x="15017" y="4137"/>
              <a:ext cx="3124" cy="339"/>
            </a:xfrm>
            <a:prstGeom prst="rect">
              <a:avLst/>
            </a:prstGeom>
            <a:noFill/>
            <a:effectLst/>
          </p:spPr>
          <p:txBody>
            <a:bodyPr wrap="squar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6">
                      <a:lumMod val="50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libaba PuHuiTi" pitchFamily="18" charset="-122"/>
                  <a:sym typeface="+mj-ea"/>
                </a:rPr>
                <a:t>教育科技人才一体化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  <a:sym typeface="+mj-ea"/>
              </a:endParaRPr>
            </a:p>
          </p:txBody>
        </p:sp>
        <p:grpSp>
          <p:nvGrpSpPr>
            <p:cNvPr id="37" name="Google Shape;13405;p86"/>
            <p:cNvGrpSpPr>
              <a:grpSpLocks noChangeAspect="1"/>
            </p:cNvGrpSpPr>
            <p:nvPr/>
          </p:nvGrpSpPr>
          <p:grpSpPr>
            <a:xfrm>
              <a:off x="14589" y="4135"/>
              <a:ext cx="319" cy="340"/>
              <a:chOff x="5421475" y="1945825"/>
              <a:chExt cx="278050" cy="296150"/>
            </a:xfrm>
            <a:solidFill>
              <a:schemeClr val="bg1"/>
            </a:solidFill>
          </p:grpSpPr>
          <p:sp>
            <p:nvSpPr>
              <p:cNvPr id="23" name="Google Shape;13406;p86"/>
              <p:cNvSpPr/>
              <p:nvPr/>
            </p:nvSpPr>
            <p:spPr>
              <a:xfrm>
                <a:off x="5472650" y="1999375"/>
                <a:ext cx="172525" cy="242600"/>
              </a:xfrm>
              <a:custGeom>
                <a:avLst/>
                <a:gdLst/>
                <a:ahLst/>
                <a:cxnLst/>
                <a:rect l="l" t="t" r="r" b="b"/>
                <a:pathLst>
                  <a:path w="6901" h="9704" extrusionOk="0">
                    <a:moveTo>
                      <a:pt x="1765" y="1355"/>
                    </a:moveTo>
                    <a:cubicBezTo>
                      <a:pt x="1986" y="1355"/>
                      <a:pt x="2143" y="1513"/>
                      <a:pt x="2143" y="1702"/>
                    </a:cubicBezTo>
                    <a:lnTo>
                      <a:pt x="2143" y="2048"/>
                    </a:lnTo>
                    <a:lnTo>
                      <a:pt x="1765" y="2048"/>
                    </a:lnTo>
                    <a:cubicBezTo>
                      <a:pt x="1671" y="2048"/>
                      <a:pt x="1545" y="2048"/>
                      <a:pt x="1419" y="2111"/>
                    </a:cubicBezTo>
                    <a:lnTo>
                      <a:pt x="1419" y="1702"/>
                    </a:lnTo>
                    <a:cubicBezTo>
                      <a:pt x="1419" y="1513"/>
                      <a:pt x="1576" y="1355"/>
                      <a:pt x="1765" y="1355"/>
                    </a:cubicBezTo>
                    <a:close/>
                    <a:moveTo>
                      <a:pt x="3151" y="631"/>
                    </a:moveTo>
                    <a:cubicBezTo>
                      <a:pt x="3341" y="631"/>
                      <a:pt x="3498" y="788"/>
                      <a:pt x="3498" y="1009"/>
                    </a:cubicBezTo>
                    <a:lnTo>
                      <a:pt x="3498" y="2111"/>
                    </a:lnTo>
                    <a:cubicBezTo>
                      <a:pt x="3404" y="2048"/>
                      <a:pt x="3277" y="2017"/>
                      <a:pt x="3151" y="2017"/>
                    </a:cubicBezTo>
                    <a:lnTo>
                      <a:pt x="2805" y="2017"/>
                    </a:lnTo>
                    <a:lnTo>
                      <a:pt x="2805" y="1009"/>
                    </a:lnTo>
                    <a:cubicBezTo>
                      <a:pt x="2805" y="788"/>
                      <a:pt x="2962" y="631"/>
                      <a:pt x="3151" y="631"/>
                    </a:cubicBezTo>
                    <a:close/>
                    <a:moveTo>
                      <a:pt x="4538" y="1355"/>
                    </a:moveTo>
                    <a:cubicBezTo>
                      <a:pt x="4727" y="1355"/>
                      <a:pt x="4884" y="1513"/>
                      <a:pt x="4884" y="1702"/>
                    </a:cubicBezTo>
                    <a:lnTo>
                      <a:pt x="4884" y="3088"/>
                    </a:lnTo>
                    <a:cubicBezTo>
                      <a:pt x="4884" y="3277"/>
                      <a:pt x="4727" y="3435"/>
                      <a:pt x="4538" y="3435"/>
                    </a:cubicBezTo>
                    <a:cubicBezTo>
                      <a:pt x="4349" y="3435"/>
                      <a:pt x="4191" y="3277"/>
                      <a:pt x="4191" y="3088"/>
                    </a:cubicBezTo>
                    <a:lnTo>
                      <a:pt x="4191" y="1702"/>
                    </a:lnTo>
                    <a:cubicBezTo>
                      <a:pt x="4191" y="1513"/>
                      <a:pt x="4349" y="1355"/>
                      <a:pt x="4538" y="1355"/>
                    </a:cubicBezTo>
                    <a:close/>
                    <a:moveTo>
                      <a:pt x="5924" y="2017"/>
                    </a:moveTo>
                    <a:cubicBezTo>
                      <a:pt x="6113" y="2017"/>
                      <a:pt x="6270" y="2174"/>
                      <a:pt x="6270" y="2363"/>
                    </a:cubicBezTo>
                    <a:lnTo>
                      <a:pt x="6270" y="3088"/>
                    </a:lnTo>
                    <a:cubicBezTo>
                      <a:pt x="6270" y="3277"/>
                      <a:pt x="6113" y="3435"/>
                      <a:pt x="5924" y="3435"/>
                    </a:cubicBezTo>
                    <a:cubicBezTo>
                      <a:pt x="5703" y="3435"/>
                      <a:pt x="5546" y="3277"/>
                      <a:pt x="5546" y="3088"/>
                    </a:cubicBezTo>
                    <a:lnTo>
                      <a:pt x="5546" y="2363"/>
                    </a:lnTo>
                    <a:cubicBezTo>
                      <a:pt x="5546" y="2174"/>
                      <a:pt x="5703" y="2017"/>
                      <a:pt x="5924" y="2017"/>
                    </a:cubicBezTo>
                    <a:close/>
                    <a:moveTo>
                      <a:pt x="3120" y="2741"/>
                    </a:moveTo>
                    <a:cubicBezTo>
                      <a:pt x="3309" y="2741"/>
                      <a:pt x="3467" y="2899"/>
                      <a:pt x="3467" y="3088"/>
                    </a:cubicBezTo>
                    <a:cubicBezTo>
                      <a:pt x="3467" y="3277"/>
                      <a:pt x="3309" y="3435"/>
                      <a:pt x="3120" y="3435"/>
                    </a:cubicBezTo>
                    <a:lnTo>
                      <a:pt x="1734" y="3435"/>
                    </a:lnTo>
                    <a:cubicBezTo>
                      <a:pt x="1545" y="3435"/>
                      <a:pt x="1387" y="3592"/>
                      <a:pt x="1387" y="3781"/>
                    </a:cubicBezTo>
                    <a:cubicBezTo>
                      <a:pt x="1387" y="4002"/>
                      <a:pt x="1545" y="4159"/>
                      <a:pt x="1734" y="4159"/>
                    </a:cubicBezTo>
                    <a:cubicBezTo>
                      <a:pt x="2679" y="4159"/>
                      <a:pt x="3467" y="4947"/>
                      <a:pt x="3467" y="5892"/>
                    </a:cubicBezTo>
                    <a:cubicBezTo>
                      <a:pt x="3467" y="6081"/>
                      <a:pt x="3624" y="6238"/>
                      <a:pt x="3845" y="6238"/>
                    </a:cubicBezTo>
                    <a:cubicBezTo>
                      <a:pt x="4034" y="6238"/>
                      <a:pt x="4191" y="6081"/>
                      <a:pt x="4191" y="5892"/>
                    </a:cubicBezTo>
                    <a:cubicBezTo>
                      <a:pt x="4191" y="5167"/>
                      <a:pt x="3876" y="4537"/>
                      <a:pt x="3435" y="4096"/>
                    </a:cubicBezTo>
                    <a:cubicBezTo>
                      <a:pt x="3593" y="4065"/>
                      <a:pt x="3750" y="4002"/>
                      <a:pt x="3876" y="3876"/>
                    </a:cubicBezTo>
                    <a:cubicBezTo>
                      <a:pt x="4065" y="4033"/>
                      <a:pt x="4317" y="4159"/>
                      <a:pt x="4569" y="4159"/>
                    </a:cubicBezTo>
                    <a:cubicBezTo>
                      <a:pt x="4853" y="4159"/>
                      <a:pt x="5073" y="4033"/>
                      <a:pt x="5294" y="3876"/>
                    </a:cubicBezTo>
                    <a:cubicBezTo>
                      <a:pt x="5483" y="4033"/>
                      <a:pt x="5703" y="4159"/>
                      <a:pt x="5987" y="4159"/>
                    </a:cubicBezTo>
                    <a:cubicBezTo>
                      <a:pt x="6113" y="4159"/>
                      <a:pt x="6239" y="4096"/>
                      <a:pt x="6333" y="4065"/>
                    </a:cubicBezTo>
                    <a:lnTo>
                      <a:pt x="6333" y="5167"/>
                    </a:lnTo>
                    <a:cubicBezTo>
                      <a:pt x="6333" y="5923"/>
                      <a:pt x="5861" y="6554"/>
                      <a:pt x="5199" y="6774"/>
                    </a:cubicBezTo>
                    <a:cubicBezTo>
                      <a:pt x="5042" y="6837"/>
                      <a:pt x="4979" y="6995"/>
                      <a:pt x="4979" y="7089"/>
                    </a:cubicBezTo>
                    <a:lnTo>
                      <a:pt x="4979" y="7562"/>
                    </a:lnTo>
                    <a:lnTo>
                      <a:pt x="2206" y="7562"/>
                    </a:lnTo>
                    <a:lnTo>
                      <a:pt x="2206" y="7089"/>
                    </a:lnTo>
                    <a:cubicBezTo>
                      <a:pt x="2206" y="6932"/>
                      <a:pt x="2143" y="6837"/>
                      <a:pt x="1986" y="6774"/>
                    </a:cubicBezTo>
                    <a:cubicBezTo>
                      <a:pt x="1261" y="6554"/>
                      <a:pt x="820" y="5892"/>
                      <a:pt x="820" y="5167"/>
                    </a:cubicBezTo>
                    <a:lnTo>
                      <a:pt x="820" y="3750"/>
                    </a:lnTo>
                    <a:lnTo>
                      <a:pt x="726" y="3750"/>
                    </a:lnTo>
                    <a:cubicBezTo>
                      <a:pt x="726" y="3151"/>
                      <a:pt x="1198" y="2741"/>
                      <a:pt x="1734" y="2741"/>
                    </a:cubicBezTo>
                    <a:close/>
                    <a:moveTo>
                      <a:pt x="5199" y="8286"/>
                    </a:moveTo>
                    <a:cubicBezTo>
                      <a:pt x="5388" y="8286"/>
                      <a:pt x="5546" y="8444"/>
                      <a:pt x="5546" y="8633"/>
                    </a:cubicBezTo>
                    <a:lnTo>
                      <a:pt x="5546" y="8979"/>
                    </a:lnTo>
                    <a:lnTo>
                      <a:pt x="1387" y="8979"/>
                    </a:lnTo>
                    <a:lnTo>
                      <a:pt x="1387" y="8633"/>
                    </a:lnTo>
                    <a:cubicBezTo>
                      <a:pt x="1387" y="8444"/>
                      <a:pt x="1545" y="8286"/>
                      <a:pt x="1734" y="8286"/>
                    </a:cubicBezTo>
                    <a:close/>
                    <a:moveTo>
                      <a:pt x="3120" y="1"/>
                    </a:moveTo>
                    <a:cubicBezTo>
                      <a:pt x="2647" y="1"/>
                      <a:pt x="2269" y="316"/>
                      <a:pt x="2143" y="757"/>
                    </a:cubicBezTo>
                    <a:cubicBezTo>
                      <a:pt x="2017" y="725"/>
                      <a:pt x="1891" y="694"/>
                      <a:pt x="1734" y="694"/>
                    </a:cubicBezTo>
                    <a:cubicBezTo>
                      <a:pt x="1167" y="694"/>
                      <a:pt x="726" y="1166"/>
                      <a:pt x="726" y="1702"/>
                    </a:cubicBezTo>
                    <a:lnTo>
                      <a:pt x="726" y="2426"/>
                    </a:lnTo>
                    <a:cubicBezTo>
                      <a:pt x="285" y="2678"/>
                      <a:pt x="1" y="3214"/>
                      <a:pt x="1" y="3750"/>
                    </a:cubicBezTo>
                    <a:lnTo>
                      <a:pt x="1" y="5136"/>
                    </a:lnTo>
                    <a:cubicBezTo>
                      <a:pt x="1" y="6081"/>
                      <a:pt x="568" y="6932"/>
                      <a:pt x="1387" y="7341"/>
                    </a:cubicBezTo>
                    <a:lnTo>
                      <a:pt x="1387" y="7656"/>
                    </a:lnTo>
                    <a:cubicBezTo>
                      <a:pt x="1009" y="7814"/>
                      <a:pt x="694" y="8160"/>
                      <a:pt x="694" y="8633"/>
                    </a:cubicBezTo>
                    <a:lnTo>
                      <a:pt x="694" y="9357"/>
                    </a:lnTo>
                    <a:cubicBezTo>
                      <a:pt x="694" y="9546"/>
                      <a:pt x="852" y="9704"/>
                      <a:pt x="1041" y="9704"/>
                    </a:cubicBezTo>
                    <a:lnTo>
                      <a:pt x="5892" y="9704"/>
                    </a:lnTo>
                    <a:cubicBezTo>
                      <a:pt x="6081" y="9704"/>
                      <a:pt x="6239" y="9546"/>
                      <a:pt x="6239" y="9357"/>
                    </a:cubicBezTo>
                    <a:lnTo>
                      <a:pt x="6239" y="8633"/>
                    </a:lnTo>
                    <a:cubicBezTo>
                      <a:pt x="6239" y="8192"/>
                      <a:pt x="5955" y="7814"/>
                      <a:pt x="5514" y="7656"/>
                    </a:cubicBezTo>
                    <a:lnTo>
                      <a:pt x="5514" y="7341"/>
                    </a:lnTo>
                    <a:cubicBezTo>
                      <a:pt x="6365" y="6932"/>
                      <a:pt x="6901" y="6081"/>
                      <a:pt x="6901" y="5136"/>
                    </a:cubicBezTo>
                    <a:lnTo>
                      <a:pt x="6901" y="2363"/>
                    </a:lnTo>
                    <a:cubicBezTo>
                      <a:pt x="6901" y="1796"/>
                      <a:pt x="6428" y="1355"/>
                      <a:pt x="5892" y="1355"/>
                    </a:cubicBezTo>
                    <a:cubicBezTo>
                      <a:pt x="5766" y="1355"/>
                      <a:pt x="5609" y="1387"/>
                      <a:pt x="5483" y="1418"/>
                    </a:cubicBezTo>
                    <a:cubicBezTo>
                      <a:pt x="5357" y="1009"/>
                      <a:pt x="4979" y="694"/>
                      <a:pt x="4506" y="694"/>
                    </a:cubicBezTo>
                    <a:cubicBezTo>
                      <a:pt x="4380" y="694"/>
                      <a:pt x="4223" y="725"/>
                      <a:pt x="4097" y="757"/>
                    </a:cubicBezTo>
                    <a:cubicBezTo>
                      <a:pt x="4002" y="316"/>
                      <a:pt x="3593" y="1"/>
                      <a:pt x="3120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  <a:cs typeface="Alibaba PuHuiTi" pitchFamily="18" charset="-122"/>
                </a:endParaRPr>
              </a:p>
            </p:txBody>
          </p:sp>
          <p:sp>
            <p:nvSpPr>
              <p:cNvPr id="43" name="Google Shape;13407;p86"/>
              <p:cNvSpPr/>
              <p:nvPr/>
            </p:nvSpPr>
            <p:spPr>
              <a:xfrm>
                <a:off x="5559300" y="1945825"/>
                <a:ext cx="18150" cy="44125"/>
              </a:xfrm>
              <a:custGeom>
                <a:avLst/>
                <a:gdLst/>
                <a:ahLst/>
                <a:cxnLst/>
                <a:rect l="l" t="t" r="r" b="b"/>
                <a:pathLst>
                  <a:path w="726" h="1765" extrusionOk="0">
                    <a:moveTo>
                      <a:pt x="379" y="0"/>
                    </a:moveTo>
                    <a:cubicBezTo>
                      <a:pt x="158" y="0"/>
                      <a:pt x="1" y="158"/>
                      <a:pt x="1" y="347"/>
                    </a:cubicBezTo>
                    <a:lnTo>
                      <a:pt x="1" y="1418"/>
                    </a:lnTo>
                    <a:cubicBezTo>
                      <a:pt x="1" y="1607"/>
                      <a:pt x="158" y="1764"/>
                      <a:pt x="379" y="1764"/>
                    </a:cubicBezTo>
                    <a:cubicBezTo>
                      <a:pt x="568" y="1764"/>
                      <a:pt x="725" y="1607"/>
                      <a:pt x="725" y="1418"/>
                    </a:cubicBezTo>
                    <a:lnTo>
                      <a:pt x="725" y="347"/>
                    </a:lnTo>
                    <a:cubicBezTo>
                      <a:pt x="725" y="158"/>
                      <a:pt x="568" y="0"/>
                      <a:pt x="37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  <a:cs typeface="Alibaba PuHuiTi" pitchFamily="18" charset="-122"/>
                </a:endParaRPr>
              </a:p>
            </p:txBody>
          </p:sp>
          <p:sp>
            <p:nvSpPr>
              <p:cNvPr id="24" name="Google Shape;13408;p86"/>
              <p:cNvSpPr/>
              <p:nvPr/>
            </p:nvSpPr>
            <p:spPr>
              <a:xfrm>
                <a:off x="5611275" y="1963925"/>
                <a:ext cx="35475" cy="34500"/>
              </a:xfrm>
              <a:custGeom>
                <a:avLst/>
                <a:gdLst/>
                <a:ahLst/>
                <a:cxnLst/>
                <a:rect l="l" t="t" r="r" b="b"/>
                <a:pathLst>
                  <a:path w="1419" h="1380" extrusionOk="0">
                    <a:moveTo>
                      <a:pt x="1076" y="1"/>
                    </a:moveTo>
                    <a:cubicBezTo>
                      <a:pt x="985" y="1"/>
                      <a:pt x="899" y="32"/>
                      <a:pt x="851" y="95"/>
                    </a:cubicBezTo>
                    <a:lnTo>
                      <a:pt x="127" y="788"/>
                    </a:lnTo>
                    <a:cubicBezTo>
                      <a:pt x="1" y="914"/>
                      <a:pt x="1" y="1166"/>
                      <a:pt x="127" y="1261"/>
                    </a:cubicBezTo>
                    <a:cubicBezTo>
                      <a:pt x="190" y="1340"/>
                      <a:pt x="284" y="1379"/>
                      <a:pt x="375" y="1379"/>
                    </a:cubicBezTo>
                    <a:cubicBezTo>
                      <a:pt x="466" y="1379"/>
                      <a:pt x="552" y="1340"/>
                      <a:pt x="599" y="1261"/>
                    </a:cubicBezTo>
                    <a:lnTo>
                      <a:pt x="1324" y="568"/>
                    </a:lnTo>
                    <a:cubicBezTo>
                      <a:pt x="1419" y="442"/>
                      <a:pt x="1419" y="221"/>
                      <a:pt x="1324" y="95"/>
                    </a:cubicBezTo>
                    <a:cubicBezTo>
                      <a:pt x="1261" y="32"/>
                      <a:pt x="1167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  <a:cs typeface="Alibaba PuHuiTi" pitchFamily="18" charset="-122"/>
                </a:endParaRPr>
              </a:p>
            </p:txBody>
          </p:sp>
          <p:sp>
            <p:nvSpPr>
              <p:cNvPr id="25" name="Google Shape;13409;p86"/>
              <p:cNvSpPr/>
              <p:nvPr/>
            </p:nvSpPr>
            <p:spPr>
              <a:xfrm>
                <a:off x="5664050" y="2067900"/>
                <a:ext cx="35475" cy="17350"/>
              </a:xfrm>
              <a:custGeom>
                <a:avLst/>
                <a:gdLst/>
                <a:ahLst/>
                <a:cxnLst/>
                <a:rect l="l" t="t" r="r" b="b"/>
                <a:pathLst>
                  <a:path w="1419" h="694" extrusionOk="0">
                    <a:moveTo>
                      <a:pt x="347" y="0"/>
                    </a:moveTo>
                    <a:cubicBezTo>
                      <a:pt x="158" y="0"/>
                      <a:pt x="1" y="158"/>
                      <a:pt x="1" y="347"/>
                    </a:cubicBezTo>
                    <a:cubicBezTo>
                      <a:pt x="1" y="536"/>
                      <a:pt x="158" y="694"/>
                      <a:pt x="347" y="694"/>
                    </a:cubicBezTo>
                    <a:lnTo>
                      <a:pt x="1040" y="694"/>
                    </a:lnTo>
                    <a:cubicBezTo>
                      <a:pt x="1261" y="694"/>
                      <a:pt x="1418" y="536"/>
                      <a:pt x="1418" y="347"/>
                    </a:cubicBezTo>
                    <a:cubicBezTo>
                      <a:pt x="1418" y="158"/>
                      <a:pt x="1261" y="0"/>
                      <a:pt x="104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  <a:cs typeface="Alibaba PuHuiTi" pitchFamily="18" charset="-122"/>
                </a:endParaRPr>
              </a:p>
            </p:txBody>
          </p:sp>
          <p:sp>
            <p:nvSpPr>
              <p:cNvPr id="27" name="Google Shape;13410;p86"/>
              <p:cNvSpPr/>
              <p:nvPr/>
            </p:nvSpPr>
            <p:spPr>
              <a:xfrm>
                <a:off x="5421475" y="2067900"/>
                <a:ext cx="35450" cy="17350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694" extrusionOk="0">
                    <a:moveTo>
                      <a:pt x="378" y="0"/>
                    </a:moveTo>
                    <a:cubicBezTo>
                      <a:pt x="158" y="0"/>
                      <a:pt x="0" y="158"/>
                      <a:pt x="0" y="347"/>
                    </a:cubicBezTo>
                    <a:cubicBezTo>
                      <a:pt x="0" y="536"/>
                      <a:pt x="158" y="694"/>
                      <a:pt x="378" y="694"/>
                    </a:cubicBezTo>
                    <a:lnTo>
                      <a:pt x="1071" y="694"/>
                    </a:lnTo>
                    <a:cubicBezTo>
                      <a:pt x="1260" y="694"/>
                      <a:pt x="1418" y="536"/>
                      <a:pt x="1418" y="347"/>
                    </a:cubicBezTo>
                    <a:cubicBezTo>
                      <a:pt x="1418" y="158"/>
                      <a:pt x="1260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  <a:cs typeface="Alibaba PuHuiTi" pitchFamily="18" charset="-122"/>
                </a:endParaRPr>
              </a:p>
            </p:txBody>
          </p:sp>
          <p:sp>
            <p:nvSpPr>
              <p:cNvPr id="47" name="Google Shape;13411;p86"/>
              <p:cNvSpPr/>
              <p:nvPr/>
            </p:nvSpPr>
            <p:spPr>
              <a:xfrm>
                <a:off x="5490000" y="1963925"/>
                <a:ext cx="35450" cy="33900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1356" extrusionOk="0">
                    <a:moveTo>
                      <a:pt x="343" y="1"/>
                    </a:moveTo>
                    <a:cubicBezTo>
                      <a:pt x="252" y="1"/>
                      <a:pt x="158" y="32"/>
                      <a:pt x="95" y="95"/>
                    </a:cubicBezTo>
                    <a:cubicBezTo>
                      <a:pt x="0" y="221"/>
                      <a:pt x="0" y="442"/>
                      <a:pt x="95" y="568"/>
                    </a:cubicBezTo>
                    <a:lnTo>
                      <a:pt x="819" y="1261"/>
                    </a:lnTo>
                    <a:cubicBezTo>
                      <a:pt x="866" y="1324"/>
                      <a:pt x="953" y="1356"/>
                      <a:pt x="1044" y="1356"/>
                    </a:cubicBezTo>
                    <a:cubicBezTo>
                      <a:pt x="1134" y="1356"/>
                      <a:pt x="1229" y="1324"/>
                      <a:pt x="1292" y="1261"/>
                    </a:cubicBezTo>
                    <a:cubicBezTo>
                      <a:pt x="1418" y="1166"/>
                      <a:pt x="1418" y="914"/>
                      <a:pt x="1292" y="788"/>
                    </a:cubicBezTo>
                    <a:lnTo>
                      <a:pt x="567" y="95"/>
                    </a:lnTo>
                    <a:cubicBezTo>
                      <a:pt x="520" y="32"/>
                      <a:pt x="433" y="1"/>
                      <a:pt x="34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  <a:cs typeface="Alibaba PuHuiTi" pitchFamily="18" charset="-122"/>
                </a:endParaRPr>
              </a:p>
            </p:txBody>
          </p:sp>
          <p:sp>
            <p:nvSpPr>
              <p:cNvPr id="48" name="Google Shape;13412;p86"/>
              <p:cNvSpPr/>
              <p:nvPr/>
            </p:nvSpPr>
            <p:spPr>
              <a:xfrm>
                <a:off x="5437225" y="1997650"/>
                <a:ext cx="37825" cy="26325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1053" extrusionOk="0">
                    <a:moveTo>
                      <a:pt x="422" y="0"/>
                    </a:moveTo>
                    <a:cubicBezTo>
                      <a:pt x="285" y="0"/>
                      <a:pt x="140" y="81"/>
                      <a:pt x="95" y="196"/>
                    </a:cubicBezTo>
                    <a:cubicBezTo>
                      <a:pt x="0" y="353"/>
                      <a:pt x="95" y="574"/>
                      <a:pt x="252" y="668"/>
                    </a:cubicBezTo>
                    <a:lnTo>
                      <a:pt x="945" y="1015"/>
                    </a:lnTo>
                    <a:cubicBezTo>
                      <a:pt x="989" y="1041"/>
                      <a:pt x="1039" y="1052"/>
                      <a:pt x="1091" y="1052"/>
                    </a:cubicBezTo>
                    <a:cubicBezTo>
                      <a:pt x="1227" y="1052"/>
                      <a:pt x="1372" y="971"/>
                      <a:pt x="1418" y="857"/>
                    </a:cubicBezTo>
                    <a:cubicBezTo>
                      <a:pt x="1512" y="700"/>
                      <a:pt x="1418" y="479"/>
                      <a:pt x="1260" y="385"/>
                    </a:cubicBezTo>
                    <a:lnTo>
                      <a:pt x="567" y="38"/>
                    </a:lnTo>
                    <a:cubicBezTo>
                      <a:pt x="524" y="12"/>
                      <a:pt x="473" y="0"/>
                      <a:pt x="42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  <a:cs typeface="Alibaba PuHuiTi" pitchFamily="18" charset="-122"/>
                </a:endParaRPr>
              </a:p>
            </p:txBody>
          </p:sp>
          <p:sp>
            <p:nvSpPr>
              <p:cNvPr id="28" name="Google Shape;13413;p86"/>
              <p:cNvSpPr/>
              <p:nvPr/>
            </p:nvSpPr>
            <p:spPr>
              <a:xfrm>
                <a:off x="5645150" y="1998300"/>
                <a:ext cx="37825" cy="26900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1076" extrusionOk="0">
                    <a:moveTo>
                      <a:pt x="1098" y="0"/>
                    </a:moveTo>
                    <a:cubicBezTo>
                      <a:pt x="1046" y="0"/>
                      <a:pt x="994" y="14"/>
                      <a:pt x="946" y="44"/>
                    </a:cubicBezTo>
                    <a:lnTo>
                      <a:pt x="253" y="422"/>
                    </a:lnTo>
                    <a:cubicBezTo>
                      <a:pt x="95" y="485"/>
                      <a:pt x="1" y="674"/>
                      <a:pt x="95" y="894"/>
                    </a:cubicBezTo>
                    <a:cubicBezTo>
                      <a:pt x="142" y="1011"/>
                      <a:pt x="258" y="1076"/>
                      <a:pt x="405" y="1076"/>
                    </a:cubicBezTo>
                    <a:cubicBezTo>
                      <a:pt x="456" y="1076"/>
                      <a:pt x="511" y="1068"/>
                      <a:pt x="568" y="1052"/>
                    </a:cubicBezTo>
                    <a:lnTo>
                      <a:pt x="1261" y="674"/>
                    </a:lnTo>
                    <a:cubicBezTo>
                      <a:pt x="1418" y="611"/>
                      <a:pt x="1513" y="422"/>
                      <a:pt x="1418" y="201"/>
                    </a:cubicBezTo>
                    <a:cubicBezTo>
                      <a:pt x="1331" y="71"/>
                      <a:pt x="1214" y="0"/>
                      <a:pt x="109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  <a:cs typeface="Alibaba PuHuiTi" pitchFamily="18" charset="-122"/>
                </a:endParaRPr>
              </a:p>
            </p:txBody>
          </p:sp>
        </p:grpSp>
      </p:grpSp>
      <p:sp>
        <p:nvSpPr>
          <p:cNvPr id="52" name="@紫荆的职场Point2-12"/>
          <p:cNvSpPr txBox="1"/>
          <p:nvPr/>
        </p:nvSpPr>
        <p:spPr>
          <a:xfrm>
            <a:off x="4051935" y="2020570"/>
            <a:ext cx="1219200" cy="245745"/>
          </a:xfrm>
          <a:prstGeom prst="rect">
            <a:avLst/>
          </a:prstGeom>
          <a:noFill/>
          <a:effectLst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  <a:sym typeface="+mj-ea"/>
              </a:rPr>
              <a:t>主体地位强化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  <a:sym typeface="+mj-ea"/>
            </a:endParaRPr>
          </a:p>
        </p:txBody>
      </p:sp>
      <p:sp>
        <p:nvSpPr>
          <p:cNvPr id="55" name="@紫荆的职场Point2-12"/>
          <p:cNvSpPr txBox="1"/>
          <p:nvPr/>
        </p:nvSpPr>
        <p:spPr>
          <a:xfrm>
            <a:off x="6942455" y="2020570"/>
            <a:ext cx="1219200" cy="245745"/>
          </a:xfrm>
          <a:prstGeom prst="rect">
            <a:avLst/>
          </a:prstGeom>
          <a:noFill/>
          <a:effectLst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  <a:sym typeface="+mj-ea"/>
              </a:rPr>
              <a:t>创新范式转变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  <a:sym typeface="+mj-ea"/>
            </a:endParaRPr>
          </a:p>
        </p:txBody>
      </p:sp>
      <p:sp>
        <p:nvSpPr>
          <p:cNvPr id="56" name="@紫荆的职场Point2-12"/>
          <p:cNvSpPr txBox="1"/>
          <p:nvPr/>
        </p:nvSpPr>
        <p:spPr>
          <a:xfrm>
            <a:off x="9826625" y="2021205"/>
            <a:ext cx="1219200" cy="245745"/>
          </a:xfrm>
          <a:prstGeom prst="rect">
            <a:avLst/>
          </a:prstGeom>
          <a:noFill/>
          <a:effectLst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  <a:sym typeface="+mj-ea"/>
              </a:rPr>
              <a:t>体系支撑统筹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  <a:sym typeface="+mj-ea"/>
            </a:endParaRPr>
          </a:p>
        </p:txBody>
      </p:sp>
      <p:sp>
        <p:nvSpPr>
          <p:cNvPr id="59" name="任意形状 96"/>
          <p:cNvSpPr/>
          <p:nvPr/>
        </p:nvSpPr>
        <p:spPr>
          <a:xfrm>
            <a:off x="3497580" y="2916555"/>
            <a:ext cx="2437765" cy="1412875"/>
          </a:xfrm>
          <a:custGeom>
            <a:avLst/>
            <a:gdLst>
              <a:gd name="connsiteX0" fmla="*/ 2202180 w 2393441"/>
              <a:gd name="connsiteY0" fmla="*/ 1252728 h 1252727"/>
              <a:gd name="connsiteX1" fmla="*/ 190500 w 2393441"/>
              <a:gd name="connsiteY1" fmla="*/ 1252728 h 1252727"/>
              <a:gd name="connsiteX2" fmla="*/ 0 w 2393441"/>
              <a:gd name="connsiteY2" fmla="*/ 1062228 h 1252727"/>
              <a:gd name="connsiteX3" fmla="*/ 0 w 2393441"/>
              <a:gd name="connsiteY3" fmla="*/ 190500 h 1252727"/>
              <a:gd name="connsiteX4" fmla="*/ 190500 w 2393441"/>
              <a:gd name="connsiteY4" fmla="*/ 0 h 1252727"/>
              <a:gd name="connsiteX5" fmla="*/ 2202942 w 2393441"/>
              <a:gd name="connsiteY5" fmla="*/ 0 h 1252727"/>
              <a:gd name="connsiteX6" fmla="*/ 2393442 w 2393441"/>
              <a:gd name="connsiteY6" fmla="*/ 190500 h 1252727"/>
              <a:gd name="connsiteX7" fmla="*/ 2393442 w 2393441"/>
              <a:gd name="connsiteY7" fmla="*/ 1062228 h 1252727"/>
              <a:gd name="connsiteX8" fmla="*/ 2202180 w 2393441"/>
              <a:gd name="connsiteY8" fmla="*/ 1252728 h 12527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93441" h="1252727">
                <a:moveTo>
                  <a:pt x="2202180" y="1252728"/>
                </a:moveTo>
                <a:lnTo>
                  <a:pt x="190500" y="1252728"/>
                </a:lnTo>
                <a:cubicBezTo>
                  <a:pt x="85344" y="1252728"/>
                  <a:pt x="0" y="1167384"/>
                  <a:pt x="0" y="1062228"/>
                </a:cubicBezTo>
                <a:lnTo>
                  <a:pt x="0" y="190500"/>
                </a:lnTo>
                <a:cubicBezTo>
                  <a:pt x="0" y="85344"/>
                  <a:pt x="85344" y="0"/>
                  <a:pt x="190500" y="0"/>
                </a:cubicBezTo>
                <a:lnTo>
                  <a:pt x="2202942" y="0"/>
                </a:lnTo>
                <a:cubicBezTo>
                  <a:pt x="2308098" y="0"/>
                  <a:pt x="2393442" y="85344"/>
                  <a:pt x="2393442" y="190500"/>
                </a:cubicBezTo>
                <a:lnTo>
                  <a:pt x="2393442" y="1062228"/>
                </a:lnTo>
                <a:cubicBezTo>
                  <a:pt x="2392680" y="1167384"/>
                  <a:pt x="2307336" y="1252728"/>
                  <a:pt x="2202180" y="1252728"/>
                </a:cubicBezTo>
                <a:close/>
              </a:path>
            </a:pathLst>
          </a:custGeom>
          <a:solidFill>
            <a:schemeClr val="bg1"/>
          </a:solidFill>
          <a:ln w="6350" cap="flat">
            <a:solidFill>
              <a:schemeClr val="bg2">
                <a:lumMod val="9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marL="171450" indent="-171450" algn="just">
              <a:lnSpc>
                <a:spcPct val="14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确立企业科技创新主体地位，推动创新要素向企业集聚，支持领军企业牵头组建创新联合体，承担国家重大科技任务，打造原创技术策源地。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61" name="任意形状 96"/>
          <p:cNvSpPr/>
          <p:nvPr/>
        </p:nvSpPr>
        <p:spPr>
          <a:xfrm>
            <a:off x="6313170" y="2915920"/>
            <a:ext cx="2437765" cy="1412875"/>
          </a:xfrm>
          <a:custGeom>
            <a:avLst/>
            <a:gdLst>
              <a:gd name="connsiteX0" fmla="*/ 2202180 w 2393441"/>
              <a:gd name="connsiteY0" fmla="*/ 1252728 h 1252727"/>
              <a:gd name="connsiteX1" fmla="*/ 190500 w 2393441"/>
              <a:gd name="connsiteY1" fmla="*/ 1252728 h 1252727"/>
              <a:gd name="connsiteX2" fmla="*/ 0 w 2393441"/>
              <a:gd name="connsiteY2" fmla="*/ 1062228 h 1252727"/>
              <a:gd name="connsiteX3" fmla="*/ 0 w 2393441"/>
              <a:gd name="connsiteY3" fmla="*/ 190500 h 1252727"/>
              <a:gd name="connsiteX4" fmla="*/ 190500 w 2393441"/>
              <a:gd name="connsiteY4" fmla="*/ 0 h 1252727"/>
              <a:gd name="connsiteX5" fmla="*/ 2202942 w 2393441"/>
              <a:gd name="connsiteY5" fmla="*/ 0 h 1252727"/>
              <a:gd name="connsiteX6" fmla="*/ 2393442 w 2393441"/>
              <a:gd name="connsiteY6" fmla="*/ 190500 h 1252727"/>
              <a:gd name="connsiteX7" fmla="*/ 2393442 w 2393441"/>
              <a:gd name="connsiteY7" fmla="*/ 1062228 h 1252727"/>
              <a:gd name="connsiteX8" fmla="*/ 2202180 w 2393441"/>
              <a:gd name="connsiteY8" fmla="*/ 1252728 h 12527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93441" h="1252727">
                <a:moveTo>
                  <a:pt x="2202180" y="1252728"/>
                </a:moveTo>
                <a:lnTo>
                  <a:pt x="190500" y="1252728"/>
                </a:lnTo>
                <a:cubicBezTo>
                  <a:pt x="85344" y="1252728"/>
                  <a:pt x="0" y="1167384"/>
                  <a:pt x="0" y="1062228"/>
                </a:cubicBezTo>
                <a:lnTo>
                  <a:pt x="0" y="190500"/>
                </a:lnTo>
                <a:cubicBezTo>
                  <a:pt x="0" y="85344"/>
                  <a:pt x="85344" y="0"/>
                  <a:pt x="190500" y="0"/>
                </a:cubicBezTo>
                <a:lnTo>
                  <a:pt x="2202942" y="0"/>
                </a:lnTo>
                <a:cubicBezTo>
                  <a:pt x="2308098" y="0"/>
                  <a:pt x="2393442" y="85344"/>
                  <a:pt x="2393442" y="190500"/>
                </a:cubicBezTo>
                <a:lnTo>
                  <a:pt x="2393442" y="1062228"/>
                </a:lnTo>
                <a:cubicBezTo>
                  <a:pt x="2392680" y="1167384"/>
                  <a:pt x="2307336" y="1252728"/>
                  <a:pt x="2202180" y="1252728"/>
                </a:cubicBezTo>
                <a:close/>
              </a:path>
            </a:pathLst>
          </a:custGeom>
          <a:solidFill>
            <a:schemeClr val="bg1"/>
          </a:solidFill>
          <a:ln w="6350" cap="flat">
            <a:solidFill>
              <a:schemeClr val="bg2">
                <a:lumMod val="9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marL="171450" indent="-171450" algn="just">
              <a:lnSpc>
                <a:spcPct val="14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推动创新链、产业链、资金链、人才链深度融合，完善科技成果转化体系，强化企业在成果转化中的主导作用，提升科技成果产业化效率。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76" name="任意形状 96"/>
          <p:cNvSpPr/>
          <p:nvPr/>
        </p:nvSpPr>
        <p:spPr>
          <a:xfrm>
            <a:off x="9139555" y="2915920"/>
            <a:ext cx="2437765" cy="1412875"/>
          </a:xfrm>
          <a:custGeom>
            <a:avLst/>
            <a:gdLst>
              <a:gd name="connsiteX0" fmla="*/ 2202180 w 2393441"/>
              <a:gd name="connsiteY0" fmla="*/ 1252728 h 1252727"/>
              <a:gd name="connsiteX1" fmla="*/ 190500 w 2393441"/>
              <a:gd name="connsiteY1" fmla="*/ 1252728 h 1252727"/>
              <a:gd name="connsiteX2" fmla="*/ 0 w 2393441"/>
              <a:gd name="connsiteY2" fmla="*/ 1062228 h 1252727"/>
              <a:gd name="connsiteX3" fmla="*/ 0 w 2393441"/>
              <a:gd name="connsiteY3" fmla="*/ 190500 h 1252727"/>
              <a:gd name="connsiteX4" fmla="*/ 190500 w 2393441"/>
              <a:gd name="connsiteY4" fmla="*/ 0 h 1252727"/>
              <a:gd name="connsiteX5" fmla="*/ 2202942 w 2393441"/>
              <a:gd name="connsiteY5" fmla="*/ 0 h 1252727"/>
              <a:gd name="connsiteX6" fmla="*/ 2393442 w 2393441"/>
              <a:gd name="connsiteY6" fmla="*/ 190500 h 1252727"/>
              <a:gd name="connsiteX7" fmla="*/ 2393442 w 2393441"/>
              <a:gd name="connsiteY7" fmla="*/ 1062228 h 1252727"/>
              <a:gd name="connsiteX8" fmla="*/ 2202180 w 2393441"/>
              <a:gd name="connsiteY8" fmla="*/ 1252728 h 12527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93441" h="1252727">
                <a:moveTo>
                  <a:pt x="2202180" y="1252728"/>
                </a:moveTo>
                <a:lnTo>
                  <a:pt x="190500" y="1252728"/>
                </a:lnTo>
                <a:cubicBezTo>
                  <a:pt x="85344" y="1252728"/>
                  <a:pt x="0" y="1167384"/>
                  <a:pt x="0" y="1062228"/>
                </a:cubicBezTo>
                <a:lnTo>
                  <a:pt x="0" y="190500"/>
                </a:lnTo>
                <a:cubicBezTo>
                  <a:pt x="0" y="85344"/>
                  <a:pt x="85344" y="0"/>
                  <a:pt x="190500" y="0"/>
                </a:cubicBezTo>
                <a:lnTo>
                  <a:pt x="2202942" y="0"/>
                </a:lnTo>
                <a:cubicBezTo>
                  <a:pt x="2308098" y="0"/>
                  <a:pt x="2393442" y="85344"/>
                  <a:pt x="2393442" y="190500"/>
                </a:cubicBezTo>
                <a:lnTo>
                  <a:pt x="2393442" y="1062228"/>
                </a:lnTo>
                <a:cubicBezTo>
                  <a:pt x="2392680" y="1167384"/>
                  <a:pt x="2307336" y="1252728"/>
                  <a:pt x="2202180" y="1252728"/>
                </a:cubicBezTo>
                <a:close/>
              </a:path>
            </a:pathLst>
          </a:custGeom>
          <a:solidFill>
            <a:schemeClr val="bg1"/>
          </a:solidFill>
          <a:ln w="6350" cap="flat">
            <a:solidFill>
              <a:schemeClr val="bg2">
                <a:lumMod val="9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marL="171450" indent="-171450" algn="just">
              <a:lnSpc>
                <a:spcPct val="14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统筹推进教育优先发展、科技自立自强、人才引领驱动，构建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教育-科技-人才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一体化创新体系，为科技创新提供基础性、战略性支撑。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77" name="任意形状 152"/>
          <p:cNvSpPr/>
          <p:nvPr/>
        </p:nvSpPr>
        <p:spPr>
          <a:xfrm>
            <a:off x="549910" y="4468495"/>
            <a:ext cx="11281410" cy="149860"/>
          </a:xfrm>
          <a:custGeom>
            <a:avLst/>
            <a:gdLst>
              <a:gd name="connsiteX0" fmla="*/ 11277600 w 11277600"/>
              <a:gd name="connsiteY0" fmla="*/ 149352 h 299465"/>
              <a:gd name="connsiteX1" fmla="*/ 11141964 w 11277600"/>
              <a:gd name="connsiteY1" fmla="*/ 299466 h 299465"/>
              <a:gd name="connsiteX2" fmla="*/ 0 w 11277600"/>
              <a:gd name="connsiteY2" fmla="*/ 299466 h 299465"/>
              <a:gd name="connsiteX3" fmla="*/ 0 w 11277600"/>
              <a:gd name="connsiteY3" fmla="*/ 0 h 299465"/>
              <a:gd name="connsiteX4" fmla="*/ 11141964 w 11277600"/>
              <a:gd name="connsiteY4" fmla="*/ 0 h 2994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77600" h="299465">
                <a:moveTo>
                  <a:pt x="11277600" y="149352"/>
                </a:moveTo>
                <a:lnTo>
                  <a:pt x="11141964" y="299466"/>
                </a:lnTo>
                <a:lnTo>
                  <a:pt x="0" y="299466"/>
                </a:lnTo>
                <a:lnTo>
                  <a:pt x="0" y="0"/>
                </a:lnTo>
                <a:lnTo>
                  <a:pt x="11141964" y="0"/>
                </a:lnTo>
                <a:close/>
              </a:path>
            </a:pathLst>
          </a:custGeom>
          <a:gradFill>
            <a:gsLst>
              <a:gs pos="100000">
                <a:schemeClr val="accent1"/>
              </a:gs>
              <a:gs pos="0">
                <a:schemeClr val="accent4"/>
              </a:gs>
            </a:gsLst>
            <a:lin ang="0" scaled="0"/>
          </a:gra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cxnSp>
        <p:nvCxnSpPr>
          <p:cNvPr id="78" name="直线箭头连接符 183"/>
          <p:cNvCxnSpPr/>
          <p:nvPr/>
        </p:nvCxnSpPr>
        <p:spPr>
          <a:xfrm>
            <a:off x="549910" y="4220268"/>
            <a:ext cx="10687096" cy="0"/>
          </a:xfrm>
          <a:prstGeom prst="straightConnector1">
            <a:avLst/>
          </a:prstGeom>
          <a:ln w="12700">
            <a:solidFill>
              <a:schemeClr val="bg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8" name="组合 87"/>
          <p:cNvGrpSpPr/>
          <p:nvPr/>
        </p:nvGrpSpPr>
        <p:grpSpPr>
          <a:xfrm>
            <a:off x="549910" y="4751705"/>
            <a:ext cx="11149330" cy="1485900"/>
            <a:chOff x="866" y="7483"/>
            <a:chExt cx="17558" cy="1964"/>
          </a:xfrm>
        </p:grpSpPr>
        <p:sp>
          <p:nvSpPr>
            <p:cNvPr id="79" name="任意形状 155"/>
            <p:cNvSpPr/>
            <p:nvPr/>
          </p:nvSpPr>
          <p:spPr>
            <a:xfrm>
              <a:off x="866" y="7483"/>
              <a:ext cx="4234" cy="1964"/>
            </a:xfrm>
            <a:custGeom>
              <a:avLst/>
              <a:gdLst>
                <a:gd name="connsiteX0" fmla="*/ 0 w 2454402"/>
                <a:gd name="connsiteY0" fmla="*/ 0 h 1080515"/>
                <a:gd name="connsiteX1" fmla="*/ 2454402 w 2454402"/>
                <a:gd name="connsiteY1" fmla="*/ 0 h 1080515"/>
                <a:gd name="connsiteX2" fmla="*/ 2454402 w 2454402"/>
                <a:gd name="connsiteY2" fmla="*/ 1080516 h 1080515"/>
                <a:gd name="connsiteX3" fmla="*/ 0 w 2454402"/>
                <a:gd name="connsiteY3" fmla="*/ 1080516 h 108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54402" h="1080515">
                  <a:moveTo>
                    <a:pt x="0" y="0"/>
                  </a:moveTo>
                  <a:lnTo>
                    <a:pt x="2454402" y="0"/>
                  </a:lnTo>
                  <a:lnTo>
                    <a:pt x="2454402" y="1080516"/>
                  </a:lnTo>
                  <a:lnTo>
                    <a:pt x="0" y="1080516"/>
                  </a:lnTo>
                  <a:close/>
                </a:path>
              </a:pathLst>
            </a:custGeom>
            <a:pattFill prst="ltUpDiag">
              <a:fgClr>
                <a:schemeClr val="bg2"/>
              </a:fgClr>
              <a:bgClr>
                <a:schemeClr val="bg1"/>
              </a:bgClr>
            </a:pattFill>
            <a:ln w="6350" cap="flat">
              <a:solidFill>
                <a:schemeClr val="bg2">
                  <a:lumMod val="9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endParaRPr>
            </a:p>
          </p:txBody>
        </p:sp>
        <p:sp>
          <p:nvSpPr>
            <p:cNvPr id="165" name="任意形状 164"/>
            <p:cNvSpPr/>
            <p:nvPr/>
          </p:nvSpPr>
          <p:spPr>
            <a:xfrm>
              <a:off x="1588" y="7484"/>
              <a:ext cx="2811" cy="448"/>
            </a:xfrm>
            <a:custGeom>
              <a:avLst/>
              <a:gdLst>
                <a:gd name="connsiteX0" fmla="*/ 1372362 w 1619250"/>
                <a:gd name="connsiteY0" fmla="*/ 284226 h 284226"/>
                <a:gd name="connsiteX1" fmla="*/ 247650 w 1619250"/>
                <a:gd name="connsiteY1" fmla="*/ 284226 h 284226"/>
                <a:gd name="connsiteX2" fmla="*/ 114300 w 1619250"/>
                <a:gd name="connsiteY2" fmla="*/ 205740 h 284226"/>
                <a:gd name="connsiteX3" fmla="*/ 0 w 1619250"/>
                <a:gd name="connsiteY3" fmla="*/ 0 h 284226"/>
                <a:gd name="connsiteX4" fmla="*/ 1619250 w 1619250"/>
                <a:gd name="connsiteY4" fmla="*/ 0 h 284226"/>
                <a:gd name="connsiteX5" fmla="*/ 1504950 w 1619250"/>
                <a:gd name="connsiteY5" fmla="*/ 205740 h 284226"/>
                <a:gd name="connsiteX6" fmla="*/ 1372362 w 1619250"/>
                <a:gd name="connsiteY6" fmla="*/ 284226 h 284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19250" h="284226">
                  <a:moveTo>
                    <a:pt x="1372362" y="284226"/>
                  </a:moveTo>
                  <a:lnTo>
                    <a:pt x="247650" y="284226"/>
                  </a:lnTo>
                  <a:cubicBezTo>
                    <a:pt x="192024" y="284226"/>
                    <a:pt x="140970" y="254508"/>
                    <a:pt x="114300" y="205740"/>
                  </a:cubicBezTo>
                  <a:lnTo>
                    <a:pt x="0" y="0"/>
                  </a:lnTo>
                  <a:lnTo>
                    <a:pt x="1619250" y="0"/>
                  </a:lnTo>
                  <a:lnTo>
                    <a:pt x="1504950" y="205740"/>
                  </a:lnTo>
                  <a:cubicBezTo>
                    <a:pt x="1479042" y="253746"/>
                    <a:pt x="1427988" y="284226"/>
                    <a:pt x="1372362" y="284226"/>
                  </a:cubicBezTo>
                  <a:close/>
                </a:path>
              </a:pathLst>
            </a:custGeom>
            <a:solidFill>
              <a:schemeClr val="accent1"/>
            </a:solidFill>
            <a:ln w="762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libaba PuHuiTi" pitchFamily="18" charset="-122"/>
                </a:rPr>
                <a:t>构建协同攻关体系</a:t>
              </a:r>
              <a:endPara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endParaRPr>
            </a:p>
          </p:txBody>
        </p:sp>
        <p:sp>
          <p:nvSpPr>
            <p:cNvPr id="170" name="文本框 169"/>
            <p:cNvSpPr txBox="1"/>
            <p:nvPr/>
          </p:nvSpPr>
          <p:spPr>
            <a:xfrm>
              <a:off x="1045" y="8053"/>
              <a:ext cx="3876" cy="121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just">
                <a:lnSpc>
                  <a:spcPct val="150000"/>
                </a:lnSpc>
                <a:spcAft>
                  <a:spcPts val="1000"/>
                </a:spcAft>
              </a:pPr>
              <a:r>
                <a:rPr kumimoji="1"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  <a:cs typeface="Alibaba PuHuiTi" pitchFamily="18" charset="-122"/>
                </a:rPr>
                <a:t>主动对接国家重大科技专项，建立 "卡脖子" 技术清单与多路线并行研发机制。</a:t>
              </a:r>
              <a:endParaRPr kumimoji="1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endParaRPr>
            </a:p>
          </p:txBody>
        </p:sp>
        <p:sp>
          <p:nvSpPr>
            <p:cNvPr id="80" name="任意形状 7"/>
            <p:cNvSpPr/>
            <p:nvPr/>
          </p:nvSpPr>
          <p:spPr>
            <a:xfrm>
              <a:off x="5320" y="7483"/>
              <a:ext cx="4234" cy="1964"/>
            </a:xfrm>
            <a:custGeom>
              <a:avLst/>
              <a:gdLst>
                <a:gd name="connsiteX0" fmla="*/ 0 w 2454402"/>
                <a:gd name="connsiteY0" fmla="*/ 0 h 1080515"/>
                <a:gd name="connsiteX1" fmla="*/ 2454402 w 2454402"/>
                <a:gd name="connsiteY1" fmla="*/ 0 h 1080515"/>
                <a:gd name="connsiteX2" fmla="*/ 2454402 w 2454402"/>
                <a:gd name="connsiteY2" fmla="*/ 1080516 h 1080515"/>
                <a:gd name="connsiteX3" fmla="*/ 0 w 2454402"/>
                <a:gd name="connsiteY3" fmla="*/ 1080516 h 108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54402" h="1080515">
                  <a:moveTo>
                    <a:pt x="0" y="0"/>
                  </a:moveTo>
                  <a:lnTo>
                    <a:pt x="2454402" y="0"/>
                  </a:lnTo>
                  <a:lnTo>
                    <a:pt x="2454402" y="1080516"/>
                  </a:lnTo>
                  <a:lnTo>
                    <a:pt x="0" y="1080516"/>
                  </a:lnTo>
                  <a:close/>
                </a:path>
              </a:pathLst>
            </a:custGeom>
            <a:pattFill prst="ltUpDiag">
              <a:fgClr>
                <a:schemeClr val="bg2"/>
              </a:fgClr>
              <a:bgClr>
                <a:schemeClr val="bg1"/>
              </a:bgClr>
            </a:pattFill>
            <a:ln w="6350" cap="flat">
              <a:solidFill>
                <a:schemeClr val="bg2">
                  <a:lumMod val="9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endParaRPr>
            </a:p>
          </p:txBody>
        </p:sp>
        <p:sp>
          <p:nvSpPr>
            <p:cNvPr id="81" name="任意形状 16"/>
            <p:cNvSpPr/>
            <p:nvPr/>
          </p:nvSpPr>
          <p:spPr>
            <a:xfrm>
              <a:off x="6043" y="7484"/>
              <a:ext cx="2811" cy="448"/>
            </a:xfrm>
            <a:custGeom>
              <a:avLst/>
              <a:gdLst>
                <a:gd name="connsiteX0" fmla="*/ 1372362 w 1619250"/>
                <a:gd name="connsiteY0" fmla="*/ 284226 h 284226"/>
                <a:gd name="connsiteX1" fmla="*/ 247650 w 1619250"/>
                <a:gd name="connsiteY1" fmla="*/ 284226 h 284226"/>
                <a:gd name="connsiteX2" fmla="*/ 114300 w 1619250"/>
                <a:gd name="connsiteY2" fmla="*/ 205740 h 284226"/>
                <a:gd name="connsiteX3" fmla="*/ 0 w 1619250"/>
                <a:gd name="connsiteY3" fmla="*/ 0 h 284226"/>
                <a:gd name="connsiteX4" fmla="*/ 1619250 w 1619250"/>
                <a:gd name="connsiteY4" fmla="*/ 0 h 284226"/>
                <a:gd name="connsiteX5" fmla="*/ 1504950 w 1619250"/>
                <a:gd name="connsiteY5" fmla="*/ 205740 h 284226"/>
                <a:gd name="connsiteX6" fmla="*/ 1372362 w 1619250"/>
                <a:gd name="connsiteY6" fmla="*/ 284226 h 284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19250" h="284226">
                  <a:moveTo>
                    <a:pt x="1372362" y="284226"/>
                  </a:moveTo>
                  <a:lnTo>
                    <a:pt x="247650" y="284226"/>
                  </a:lnTo>
                  <a:cubicBezTo>
                    <a:pt x="192024" y="284226"/>
                    <a:pt x="140970" y="254508"/>
                    <a:pt x="114300" y="205740"/>
                  </a:cubicBezTo>
                  <a:lnTo>
                    <a:pt x="0" y="0"/>
                  </a:lnTo>
                  <a:lnTo>
                    <a:pt x="1619250" y="0"/>
                  </a:lnTo>
                  <a:lnTo>
                    <a:pt x="1504950" y="205740"/>
                  </a:lnTo>
                  <a:cubicBezTo>
                    <a:pt x="1479042" y="253746"/>
                    <a:pt x="1427988" y="284226"/>
                    <a:pt x="1372362" y="284226"/>
                  </a:cubicBezTo>
                  <a:close/>
                </a:path>
              </a:pathLst>
            </a:custGeom>
            <a:solidFill>
              <a:schemeClr val="accent2"/>
            </a:solidFill>
            <a:ln w="762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libaba PuHuiTi" pitchFamily="18" charset="-122"/>
                </a:rPr>
                <a:t>强化创新资源配置</a:t>
              </a:r>
              <a:endPara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endParaRPr>
            </a:p>
          </p:txBody>
        </p:sp>
        <p:sp>
          <p:nvSpPr>
            <p:cNvPr id="82" name="任意形状 18"/>
            <p:cNvSpPr/>
            <p:nvPr/>
          </p:nvSpPr>
          <p:spPr>
            <a:xfrm>
              <a:off x="9756" y="7483"/>
              <a:ext cx="4234" cy="1964"/>
            </a:xfrm>
            <a:custGeom>
              <a:avLst/>
              <a:gdLst>
                <a:gd name="connsiteX0" fmla="*/ 0 w 2454402"/>
                <a:gd name="connsiteY0" fmla="*/ 0 h 1080515"/>
                <a:gd name="connsiteX1" fmla="*/ 2454402 w 2454402"/>
                <a:gd name="connsiteY1" fmla="*/ 0 h 1080515"/>
                <a:gd name="connsiteX2" fmla="*/ 2454402 w 2454402"/>
                <a:gd name="connsiteY2" fmla="*/ 1080516 h 1080515"/>
                <a:gd name="connsiteX3" fmla="*/ 0 w 2454402"/>
                <a:gd name="connsiteY3" fmla="*/ 1080516 h 108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54402" h="1080515">
                  <a:moveTo>
                    <a:pt x="0" y="0"/>
                  </a:moveTo>
                  <a:lnTo>
                    <a:pt x="2454402" y="0"/>
                  </a:lnTo>
                  <a:lnTo>
                    <a:pt x="2454402" y="1080516"/>
                  </a:lnTo>
                  <a:lnTo>
                    <a:pt x="0" y="1080516"/>
                  </a:lnTo>
                  <a:close/>
                </a:path>
              </a:pathLst>
            </a:custGeom>
            <a:pattFill prst="ltUpDiag">
              <a:fgClr>
                <a:schemeClr val="bg2"/>
              </a:fgClr>
              <a:bgClr>
                <a:schemeClr val="bg1"/>
              </a:bgClr>
            </a:pattFill>
            <a:ln w="6350" cap="flat">
              <a:solidFill>
                <a:schemeClr val="bg2">
                  <a:lumMod val="9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endParaRPr>
            </a:p>
          </p:txBody>
        </p:sp>
        <p:sp>
          <p:nvSpPr>
            <p:cNvPr id="83" name="任意形状 19"/>
            <p:cNvSpPr/>
            <p:nvPr/>
          </p:nvSpPr>
          <p:spPr>
            <a:xfrm>
              <a:off x="10478" y="7484"/>
              <a:ext cx="2811" cy="448"/>
            </a:xfrm>
            <a:custGeom>
              <a:avLst/>
              <a:gdLst>
                <a:gd name="connsiteX0" fmla="*/ 1372362 w 1619250"/>
                <a:gd name="connsiteY0" fmla="*/ 284226 h 284226"/>
                <a:gd name="connsiteX1" fmla="*/ 247650 w 1619250"/>
                <a:gd name="connsiteY1" fmla="*/ 284226 h 284226"/>
                <a:gd name="connsiteX2" fmla="*/ 114300 w 1619250"/>
                <a:gd name="connsiteY2" fmla="*/ 205740 h 284226"/>
                <a:gd name="connsiteX3" fmla="*/ 0 w 1619250"/>
                <a:gd name="connsiteY3" fmla="*/ 0 h 284226"/>
                <a:gd name="connsiteX4" fmla="*/ 1619250 w 1619250"/>
                <a:gd name="connsiteY4" fmla="*/ 0 h 284226"/>
                <a:gd name="connsiteX5" fmla="*/ 1504950 w 1619250"/>
                <a:gd name="connsiteY5" fmla="*/ 205740 h 284226"/>
                <a:gd name="connsiteX6" fmla="*/ 1372362 w 1619250"/>
                <a:gd name="connsiteY6" fmla="*/ 284226 h 284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19250" h="284226">
                  <a:moveTo>
                    <a:pt x="1372362" y="284226"/>
                  </a:moveTo>
                  <a:lnTo>
                    <a:pt x="247650" y="284226"/>
                  </a:lnTo>
                  <a:cubicBezTo>
                    <a:pt x="192024" y="284226"/>
                    <a:pt x="140970" y="254508"/>
                    <a:pt x="114300" y="205740"/>
                  </a:cubicBezTo>
                  <a:lnTo>
                    <a:pt x="0" y="0"/>
                  </a:lnTo>
                  <a:lnTo>
                    <a:pt x="1619250" y="0"/>
                  </a:lnTo>
                  <a:lnTo>
                    <a:pt x="1504950" y="205740"/>
                  </a:lnTo>
                  <a:cubicBezTo>
                    <a:pt x="1479042" y="253746"/>
                    <a:pt x="1427988" y="284226"/>
                    <a:pt x="1372362" y="284226"/>
                  </a:cubicBezTo>
                  <a:close/>
                </a:path>
              </a:pathLst>
            </a:custGeom>
            <a:solidFill>
              <a:schemeClr val="accent3"/>
            </a:solidFill>
            <a:ln w="762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libaba PuHuiTi" pitchFamily="18" charset="-122"/>
                </a:rPr>
                <a:t>打通成果转化链条</a:t>
              </a:r>
              <a:endPara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endParaRPr>
            </a:p>
          </p:txBody>
        </p:sp>
        <p:sp>
          <p:nvSpPr>
            <p:cNvPr id="84" name="任意形状 22"/>
            <p:cNvSpPr/>
            <p:nvPr/>
          </p:nvSpPr>
          <p:spPr>
            <a:xfrm>
              <a:off x="14191" y="7483"/>
              <a:ext cx="4234" cy="1964"/>
            </a:xfrm>
            <a:custGeom>
              <a:avLst/>
              <a:gdLst>
                <a:gd name="connsiteX0" fmla="*/ 0 w 2454402"/>
                <a:gd name="connsiteY0" fmla="*/ 0 h 1080515"/>
                <a:gd name="connsiteX1" fmla="*/ 2454402 w 2454402"/>
                <a:gd name="connsiteY1" fmla="*/ 0 h 1080515"/>
                <a:gd name="connsiteX2" fmla="*/ 2454402 w 2454402"/>
                <a:gd name="connsiteY2" fmla="*/ 1080516 h 1080515"/>
                <a:gd name="connsiteX3" fmla="*/ 0 w 2454402"/>
                <a:gd name="connsiteY3" fmla="*/ 1080516 h 108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54402" h="1080515">
                  <a:moveTo>
                    <a:pt x="0" y="0"/>
                  </a:moveTo>
                  <a:lnTo>
                    <a:pt x="2454402" y="0"/>
                  </a:lnTo>
                  <a:lnTo>
                    <a:pt x="2454402" y="1080516"/>
                  </a:lnTo>
                  <a:lnTo>
                    <a:pt x="0" y="1080516"/>
                  </a:lnTo>
                  <a:close/>
                </a:path>
              </a:pathLst>
            </a:custGeom>
            <a:pattFill prst="ltUpDiag">
              <a:fgClr>
                <a:schemeClr val="bg2"/>
              </a:fgClr>
              <a:bgClr>
                <a:schemeClr val="bg1"/>
              </a:bgClr>
            </a:pattFill>
            <a:ln w="6350" cap="flat">
              <a:solidFill>
                <a:schemeClr val="bg2">
                  <a:lumMod val="9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endParaRPr>
            </a:p>
          </p:txBody>
        </p:sp>
        <p:sp>
          <p:nvSpPr>
            <p:cNvPr id="85" name="任意形状 23"/>
            <p:cNvSpPr/>
            <p:nvPr/>
          </p:nvSpPr>
          <p:spPr>
            <a:xfrm>
              <a:off x="14913" y="7484"/>
              <a:ext cx="2811" cy="448"/>
            </a:xfrm>
            <a:custGeom>
              <a:avLst/>
              <a:gdLst>
                <a:gd name="connsiteX0" fmla="*/ 1372362 w 1619250"/>
                <a:gd name="connsiteY0" fmla="*/ 284226 h 284226"/>
                <a:gd name="connsiteX1" fmla="*/ 247650 w 1619250"/>
                <a:gd name="connsiteY1" fmla="*/ 284226 h 284226"/>
                <a:gd name="connsiteX2" fmla="*/ 114300 w 1619250"/>
                <a:gd name="connsiteY2" fmla="*/ 205740 h 284226"/>
                <a:gd name="connsiteX3" fmla="*/ 0 w 1619250"/>
                <a:gd name="connsiteY3" fmla="*/ 0 h 284226"/>
                <a:gd name="connsiteX4" fmla="*/ 1619250 w 1619250"/>
                <a:gd name="connsiteY4" fmla="*/ 0 h 284226"/>
                <a:gd name="connsiteX5" fmla="*/ 1504950 w 1619250"/>
                <a:gd name="connsiteY5" fmla="*/ 205740 h 284226"/>
                <a:gd name="connsiteX6" fmla="*/ 1372362 w 1619250"/>
                <a:gd name="connsiteY6" fmla="*/ 284226 h 284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19250" h="284226">
                  <a:moveTo>
                    <a:pt x="1372362" y="284226"/>
                  </a:moveTo>
                  <a:lnTo>
                    <a:pt x="247650" y="284226"/>
                  </a:lnTo>
                  <a:cubicBezTo>
                    <a:pt x="192024" y="284226"/>
                    <a:pt x="140970" y="254508"/>
                    <a:pt x="114300" y="205740"/>
                  </a:cubicBezTo>
                  <a:lnTo>
                    <a:pt x="0" y="0"/>
                  </a:lnTo>
                  <a:lnTo>
                    <a:pt x="1619250" y="0"/>
                  </a:lnTo>
                  <a:lnTo>
                    <a:pt x="1504950" y="205740"/>
                  </a:lnTo>
                  <a:cubicBezTo>
                    <a:pt x="1479042" y="253746"/>
                    <a:pt x="1427988" y="284226"/>
                    <a:pt x="1372362" y="284226"/>
                  </a:cubicBezTo>
                  <a:close/>
                </a:path>
              </a:pathLst>
            </a:custGeom>
            <a:solidFill>
              <a:schemeClr val="accent4"/>
            </a:solidFill>
            <a:ln w="762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libaba PuHuiTi" pitchFamily="18" charset="-122"/>
                </a:rPr>
                <a:t>打造人才创新生态</a:t>
              </a:r>
              <a:endPara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endParaRPr>
            </a:p>
          </p:txBody>
        </p:sp>
        <p:sp>
          <p:nvSpPr>
            <p:cNvPr id="86" name="文本框 85"/>
            <p:cNvSpPr txBox="1"/>
            <p:nvPr/>
          </p:nvSpPr>
          <p:spPr>
            <a:xfrm>
              <a:off x="5498" y="8196"/>
              <a:ext cx="4056" cy="8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just">
                <a:lnSpc>
                  <a:spcPct val="150000"/>
                </a:lnSpc>
                <a:spcAft>
                  <a:spcPts val="1000"/>
                </a:spcAft>
              </a:pPr>
              <a:r>
                <a:rPr kumimoji="1"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  <a:cs typeface="Alibaba PuHuiTi" pitchFamily="18" charset="-122"/>
                </a:rPr>
                <a:t>建立市场导向研发决策机制，争取国家级创新平台与高端创新资源。</a:t>
              </a:r>
              <a:endParaRPr kumimoji="1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endParaRPr>
            </a:p>
          </p:txBody>
        </p:sp>
        <p:sp>
          <p:nvSpPr>
            <p:cNvPr id="87" name="文本框 86"/>
            <p:cNvSpPr txBox="1"/>
            <p:nvPr/>
          </p:nvSpPr>
          <p:spPr>
            <a:xfrm>
              <a:off x="14393" y="8053"/>
              <a:ext cx="3876" cy="121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just">
                <a:lnSpc>
                  <a:spcPct val="150000"/>
                </a:lnSpc>
                <a:spcAft>
                  <a:spcPts val="1000"/>
                </a:spcAft>
              </a:pPr>
              <a:r>
                <a:rPr kumimoji="1"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  <a:cs typeface="Alibaba PuHuiTi" pitchFamily="18" charset="-122"/>
                </a:rPr>
                <a:t>构建产学研协同育人体系，实施多元化中长期激励，集聚全球顶尖人才。</a:t>
              </a:r>
              <a:endParaRPr kumimoji="1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endParaRPr>
            </a:p>
          </p:txBody>
        </p:sp>
        <p:sp>
          <p:nvSpPr>
            <p:cNvPr id="94" name="文本框 93"/>
            <p:cNvSpPr txBox="1"/>
            <p:nvPr/>
          </p:nvSpPr>
          <p:spPr>
            <a:xfrm>
              <a:off x="9783" y="8198"/>
              <a:ext cx="4056" cy="8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just">
                <a:lnSpc>
                  <a:spcPct val="150000"/>
                </a:lnSpc>
                <a:spcAft>
                  <a:spcPts val="1000"/>
                </a:spcAft>
              </a:pPr>
              <a:r>
                <a:rPr kumimoji="1"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  <a:cs typeface="Alibaba PuHuiTi" pitchFamily="18" charset="-122"/>
                </a:rPr>
                <a:t>完善</a:t>
              </a:r>
              <a:r>
                <a:rPr kumimoji="1"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  <a:cs typeface="Alibaba PuHuiTi" pitchFamily="18" charset="-122"/>
                </a:rPr>
                <a:t>“</a:t>
              </a:r>
              <a:r>
                <a:rPr kumimoji="1"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  <a:cs typeface="Alibaba PuHuiTi" pitchFamily="18" charset="-122"/>
                </a:rPr>
                <a:t>研发</a:t>
              </a:r>
              <a:r>
                <a:rPr kumimoji="1"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  <a:cs typeface="Alibaba PuHuiTi" pitchFamily="18" charset="-122"/>
                </a:rPr>
                <a:t>-</a:t>
              </a:r>
              <a:r>
                <a:rPr kumimoji="1"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  <a:cs typeface="Alibaba PuHuiTi" pitchFamily="18" charset="-122"/>
                </a:rPr>
                <a:t>中试</a:t>
              </a:r>
              <a:r>
                <a:rPr kumimoji="1"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  <a:cs typeface="Alibaba PuHuiTi" pitchFamily="18" charset="-122"/>
                </a:rPr>
                <a:t>-</a:t>
              </a:r>
              <a:r>
                <a:rPr kumimoji="1"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  <a:cs typeface="Alibaba PuHuiTi" pitchFamily="18" charset="-122"/>
                </a:rPr>
                <a:t>量产</a:t>
              </a:r>
              <a:r>
                <a:rPr kumimoji="1"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  <a:cs typeface="Alibaba PuHuiTi" pitchFamily="18" charset="-122"/>
                </a:rPr>
                <a:t>”</a:t>
              </a:r>
              <a:r>
                <a:rPr kumimoji="1"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  <a:cs typeface="Alibaba PuHuiTi" pitchFamily="18" charset="-122"/>
                </a:rPr>
                <a:t>全流程管理，以应用场景驱动技术创新。</a:t>
              </a:r>
              <a:endParaRPr kumimoji="1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endParaRPr>
            </a:p>
          </p:txBody>
        </p:sp>
      </p:grpSp>
      <p:sp>
        <p:nvSpPr>
          <p:cNvPr id="95" name="文本框 94"/>
          <p:cNvSpPr txBox="1"/>
          <p:nvPr/>
        </p:nvSpPr>
        <p:spPr>
          <a:xfrm>
            <a:off x="96520" y="4690745"/>
            <a:ext cx="33718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zh-CN" altLang="en-US" sz="16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企业行动方案</a:t>
            </a:r>
            <a:endParaRPr lang="zh-CN" altLang="en-US" sz="16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7240905" y="0"/>
            <a:ext cx="4952365" cy="259080"/>
            <a:chOff x="11403" y="0"/>
            <a:chExt cx="7799" cy="408"/>
          </a:xfrm>
        </p:grpSpPr>
        <p:sp>
          <p:nvSpPr>
            <p:cNvPr id="14" name="矩形 13"/>
            <p:cNvSpPr/>
            <p:nvPr/>
          </p:nvSpPr>
          <p:spPr>
            <a:xfrm>
              <a:off x="11403" y="0"/>
              <a:ext cx="1540" cy="40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规划背景</a:t>
              </a:r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2969" y="0"/>
              <a:ext cx="1540" cy="408"/>
            </a:xfrm>
            <a:prstGeom prst="rect">
              <a:avLst/>
            </a:prstGeom>
            <a:solidFill>
              <a:schemeClr val="accent6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顶层</a:t>
              </a: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设计</a:t>
              </a:r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14534" y="0"/>
              <a:ext cx="1540" cy="408"/>
            </a:xfrm>
            <a:prstGeom prst="rect">
              <a:avLst/>
            </a:prstGeom>
            <a:solidFill>
              <a:schemeClr val="accent6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重点任务</a:t>
              </a:r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16099" y="0"/>
              <a:ext cx="1538" cy="408"/>
            </a:xfrm>
            <a:prstGeom prst="rect">
              <a:avLst/>
            </a:prstGeom>
            <a:solidFill>
              <a:schemeClr val="accent6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保障机制</a:t>
              </a:r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17662" y="0"/>
              <a:ext cx="1540" cy="408"/>
            </a:xfrm>
            <a:prstGeom prst="rect">
              <a:avLst/>
            </a:prstGeom>
            <a:solidFill>
              <a:schemeClr val="accent6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实施路径</a:t>
              </a:r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</a:fld>
            <a:endParaRPr lang="en-US" altLang="zh-CN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0399" y="89535"/>
            <a:ext cx="10858500" cy="102870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200"/>
              <a:t>企业新使命</a:t>
            </a:r>
            <a:r>
              <a:rPr lang="en-US" altLang="zh-CN" sz="2200"/>
              <a:t> 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en-US" altLang="zh-CN" sz="2200"/>
              <a:t> </a:t>
            </a:r>
            <a:r>
              <a:rPr sz="2200"/>
              <a:t>诊断当前科技企业</a:t>
            </a:r>
            <a:r>
              <a:rPr lang="zh-CN" altLang="en-US" sz="2200"/>
              <a:t>创新管理体系存在的系统性缺陷，以问题为导向，</a:t>
            </a:r>
            <a:r>
              <a:rPr lang="zh-CN" altLang="en-US" sz="2200"/>
              <a:t>科技企业亟需以系统性变革承担起打造原创技术策源地、构建产业创新生态的时代使命</a:t>
            </a:r>
            <a:endParaRPr lang="zh-CN" altLang="en-US" sz="2200"/>
          </a:p>
        </p:txBody>
      </p:sp>
      <p:sp>
        <p:nvSpPr>
          <p:cNvPr id="3" name="文本占位符 9"/>
          <p:cNvSpPr>
            <a:spLocks noGrp="1"/>
          </p:cNvSpPr>
          <p:nvPr/>
        </p:nvSpPr>
        <p:spPr>
          <a:xfrm>
            <a:off x="566420" y="1118235"/>
            <a:ext cx="11264900" cy="838200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noAutofit/>
          </a:bodyPr>
          <a:lstStyle>
            <a:lvl1pPr marL="0" indent="0" algn="just" defTabSz="914400" rtl="0" eaLnBrk="1" latinLnBrk="0" hangingPunct="1">
              <a:lnSpc>
                <a:spcPct val="120000"/>
              </a:lnSpc>
              <a:spcBef>
                <a:spcPts val="0"/>
              </a:spcBef>
              <a:buFontTx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当前科技企业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普遍存在顶层规划缺位、组织协同不畅、成果转化低效、人才机制滞后四大系统性短板，面对国家战略要求，企业必须以系统性变革为抓手，实现从被动跟随到主动引领的跨越，打造原创技术策源地与产业创新高地。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156" name="组合 155"/>
          <p:cNvGrpSpPr/>
          <p:nvPr/>
        </p:nvGrpSpPr>
        <p:grpSpPr>
          <a:xfrm>
            <a:off x="348615" y="1905635"/>
            <a:ext cx="8025765" cy="4435475"/>
            <a:chOff x="714" y="1577"/>
            <a:chExt cx="12307" cy="8601"/>
          </a:xfrm>
        </p:grpSpPr>
        <p:sp>
          <p:nvSpPr>
            <p:cNvPr id="28" name="梯形 27"/>
            <p:cNvSpPr/>
            <p:nvPr/>
          </p:nvSpPr>
          <p:spPr>
            <a:xfrm rot="16200000">
              <a:off x="9410" y="6270"/>
              <a:ext cx="6842" cy="379"/>
            </a:xfrm>
            <a:prstGeom prst="trapezoid">
              <a:avLst>
                <a:gd name="adj" fmla="val 40626"/>
              </a:avLst>
            </a:prstGeom>
            <a:gradFill flip="none" rotWithShape="1">
              <a:gsLst>
                <a:gs pos="0">
                  <a:srgbClr val="013597">
                    <a:lumMod val="60000"/>
                    <a:lumOff val="40000"/>
                    <a:alpha val="58000"/>
                  </a:srgbClr>
                </a:gs>
                <a:gs pos="100000">
                  <a:srgbClr val="013597">
                    <a:lumMod val="40000"/>
                    <a:lumOff val="60000"/>
                    <a:alpha val="0"/>
                  </a:srgbClr>
                </a:gs>
              </a:gsLst>
              <a:lin ang="16200000" scaled="0"/>
              <a:tileRect/>
            </a:gra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FFFFFF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endParaRPr>
            </a:p>
          </p:txBody>
        </p:sp>
        <p:sp>
          <p:nvSpPr>
            <p:cNvPr id="36" name="梯形 35"/>
            <p:cNvSpPr/>
            <p:nvPr/>
          </p:nvSpPr>
          <p:spPr>
            <a:xfrm>
              <a:off x="714" y="2562"/>
              <a:ext cx="12307" cy="452"/>
            </a:xfrm>
            <a:prstGeom prst="trapezoid">
              <a:avLst>
                <a:gd name="adj" fmla="val 247482"/>
              </a:avLst>
            </a:prstGeom>
            <a:gradFill>
              <a:gsLst>
                <a:gs pos="25000">
                  <a:srgbClr val="013597">
                    <a:lumMod val="60000"/>
                    <a:lumOff val="40000"/>
                    <a:alpha val="38908"/>
                  </a:srgbClr>
                </a:gs>
                <a:gs pos="95000">
                  <a:srgbClr val="013597">
                    <a:lumMod val="60000"/>
                    <a:lumOff val="40000"/>
                    <a:alpha val="0"/>
                  </a:srgbClr>
                </a:gs>
              </a:gsLst>
              <a:lin ang="16200000" scaled="1"/>
            </a:gra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FFFFFF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endParaRPr>
            </a:p>
          </p:txBody>
        </p:sp>
        <p:sp>
          <p:nvSpPr>
            <p:cNvPr id="43" name="梯形 42"/>
            <p:cNvSpPr/>
            <p:nvPr/>
          </p:nvSpPr>
          <p:spPr>
            <a:xfrm rot="5400000">
              <a:off x="-2509" y="6252"/>
              <a:ext cx="6854" cy="379"/>
            </a:xfrm>
            <a:prstGeom prst="trapezoid">
              <a:avLst>
                <a:gd name="adj" fmla="val 40626"/>
              </a:avLst>
            </a:prstGeom>
            <a:gradFill flip="none" rotWithShape="1">
              <a:gsLst>
                <a:gs pos="0">
                  <a:srgbClr val="013597">
                    <a:lumMod val="60000"/>
                    <a:lumOff val="40000"/>
                    <a:alpha val="58000"/>
                  </a:srgbClr>
                </a:gs>
                <a:gs pos="100000">
                  <a:srgbClr val="013597">
                    <a:lumMod val="40000"/>
                    <a:lumOff val="60000"/>
                    <a:alpha val="0"/>
                  </a:srgbClr>
                </a:gs>
              </a:gsLst>
              <a:lin ang="16200000" scaled="0"/>
              <a:tileRect/>
            </a:gra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FFFFFF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endParaRPr>
            </a:p>
          </p:txBody>
        </p:sp>
        <p:sp>
          <p:nvSpPr>
            <p:cNvPr id="45" name="矩形 44"/>
            <p:cNvSpPr/>
            <p:nvPr/>
          </p:nvSpPr>
          <p:spPr>
            <a:xfrm>
              <a:off x="729" y="3014"/>
              <a:ext cx="12292" cy="228"/>
            </a:xfrm>
            <a:prstGeom prst="rect">
              <a:avLst/>
            </a:prstGeom>
            <a:gradFill>
              <a:gsLst>
                <a:gs pos="0">
                  <a:srgbClr val="013597">
                    <a:lumMod val="60000"/>
                    <a:lumOff val="40000"/>
                  </a:srgbClr>
                </a:gs>
                <a:gs pos="55000">
                  <a:srgbClr val="013597"/>
                </a:gs>
              </a:gsLst>
              <a:lin ang="0" scaled="0"/>
            </a:gra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FFFFFF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endParaRPr>
            </a:p>
          </p:txBody>
        </p:sp>
        <p:sp>
          <p:nvSpPr>
            <p:cNvPr id="46" name="@紫荆的职场Point3"/>
            <p:cNvSpPr/>
            <p:nvPr/>
          </p:nvSpPr>
          <p:spPr>
            <a:xfrm rot="5400000" flipV="1">
              <a:off x="6523" y="3739"/>
              <a:ext cx="6720" cy="5730"/>
            </a:xfrm>
            <a:prstGeom prst="roundRect">
              <a:avLst>
                <a:gd name="adj" fmla="val 1023"/>
              </a:avLst>
            </a:prstGeom>
            <a:gradFill>
              <a:gsLst>
                <a:gs pos="100000">
                  <a:srgbClr val="013597">
                    <a:lumMod val="5000"/>
                    <a:lumOff val="95000"/>
                  </a:srgbClr>
                </a:gs>
                <a:gs pos="1000">
                  <a:srgbClr val="FFFFFF"/>
                </a:gs>
              </a:gsLst>
              <a:lin ang="19800000" scaled="0"/>
            </a:gradFill>
            <a:ln w="6350" cap="flat" cmpd="sng" algn="ctr">
              <a:noFill/>
              <a:prstDash val="solid"/>
              <a:miter lim="800000"/>
            </a:ln>
            <a:effectLst>
              <a:outerShdw blurRad="469900" dist="123444" dir="5400000" sx="99000" sy="99000" algn="ctr" rotWithShape="0">
                <a:srgbClr val="013597">
                  <a:alpha val="24000"/>
                </a:srgbClr>
              </a:outerShdw>
            </a:effectLst>
          </p:spPr>
          <p:txBody>
            <a:bodyPr wrap="square" lIns="98756" tIns="49375" rIns="98756" bIns="49375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94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endParaRPr>
            </a:p>
          </p:txBody>
        </p:sp>
        <p:sp>
          <p:nvSpPr>
            <p:cNvPr id="48" name="矩形 47"/>
            <p:cNvSpPr/>
            <p:nvPr/>
          </p:nvSpPr>
          <p:spPr>
            <a:xfrm>
              <a:off x="726" y="9869"/>
              <a:ext cx="12295" cy="310"/>
            </a:xfrm>
            <a:prstGeom prst="rect">
              <a:avLst/>
            </a:prstGeom>
            <a:solidFill>
              <a:srgbClr val="013597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FFFFFF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endParaRPr>
            </a:p>
          </p:txBody>
        </p:sp>
        <p:sp>
          <p:nvSpPr>
            <p:cNvPr id="49" name="梯形 48"/>
            <p:cNvSpPr/>
            <p:nvPr/>
          </p:nvSpPr>
          <p:spPr>
            <a:xfrm>
              <a:off x="714" y="9719"/>
              <a:ext cx="12307" cy="152"/>
            </a:xfrm>
            <a:prstGeom prst="trapezoid">
              <a:avLst>
                <a:gd name="adj" fmla="val 247482"/>
              </a:avLst>
            </a:prstGeom>
            <a:gradFill>
              <a:gsLst>
                <a:gs pos="0">
                  <a:srgbClr val="013597">
                    <a:lumMod val="60000"/>
                    <a:lumOff val="40000"/>
                    <a:alpha val="58000"/>
                  </a:srgbClr>
                </a:gs>
                <a:gs pos="100000">
                  <a:srgbClr val="013597">
                    <a:lumMod val="40000"/>
                    <a:lumOff val="60000"/>
                    <a:alpha val="0"/>
                  </a:srgbClr>
                </a:gs>
              </a:gsLst>
              <a:lin ang="16200000" scaled="1"/>
            </a:gra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FFFFFF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endParaRPr>
            </a:p>
          </p:txBody>
        </p:sp>
        <p:grpSp>
          <p:nvGrpSpPr>
            <p:cNvPr id="81" name="组合 80"/>
            <p:cNvGrpSpPr/>
            <p:nvPr/>
          </p:nvGrpSpPr>
          <p:grpSpPr>
            <a:xfrm>
              <a:off x="1818" y="1794"/>
              <a:ext cx="1789" cy="1093"/>
              <a:chOff x="3284456" y="1849460"/>
              <a:chExt cx="1672952" cy="1022264"/>
            </a:xfrm>
          </p:grpSpPr>
          <p:sp>
            <p:nvSpPr>
              <p:cNvPr id="82" name="椭圆 81"/>
              <p:cNvSpPr/>
              <p:nvPr/>
            </p:nvSpPr>
            <p:spPr>
              <a:xfrm>
                <a:off x="3500355" y="2353333"/>
                <a:ext cx="1234569" cy="207307"/>
              </a:xfrm>
              <a:prstGeom prst="ellipse">
                <a:avLst/>
              </a:prstGeom>
              <a:gradFill>
                <a:gsLst>
                  <a:gs pos="0">
                    <a:srgbClr val="013597">
                      <a:alpha val="14338"/>
                    </a:srgbClr>
                  </a:gs>
                  <a:gs pos="100000">
                    <a:srgbClr val="013597">
                      <a:alpha val="17686"/>
                    </a:srgbClr>
                  </a:gs>
                </a:gsLst>
                <a:lin ang="5400000" scaled="1"/>
              </a:gradFill>
              <a:ln w="9525" cap="flat" cmpd="sng" algn="ctr">
                <a:gradFill>
                  <a:gsLst>
                    <a:gs pos="0">
                      <a:srgbClr val="013597">
                        <a:alpha val="0"/>
                      </a:srgbClr>
                    </a:gs>
                    <a:gs pos="100000">
                      <a:srgbClr val="013597">
                        <a:alpha val="55000"/>
                      </a:srgbClr>
                    </a:gs>
                  </a:gsLst>
                  <a:lin ang="5400000" scaled="1"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rgbClr val="FFFFFF"/>
                  </a:solidFill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  <p:sp>
            <p:nvSpPr>
              <p:cNvPr id="83" name="椭圆 82"/>
              <p:cNvSpPr/>
              <p:nvPr/>
            </p:nvSpPr>
            <p:spPr>
              <a:xfrm>
                <a:off x="3600619" y="2506425"/>
                <a:ext cx="1034041" cy="207307"/>
              </a:xfrm>
              <a:prstGeom prst="ellipse">
                <a:avLst/>
              </a:prstGeom>
              <a:gradFill>
                <a:gsLst>
                  <a:gs pos="20000">
                    <a:srgbClr val="013597">
                      <a:alpha val="40000"/>
                    </a:srgbClr>
                  </a:gs>
                  <a:gs pos="86000">
                    <a:srgbClr val="013597">
                      <a:alpha val="69000"/>
                    </a:srgbClr>
                  </a:gs>
                </a:gsLst>
                <a:lin ang="5400000" scaled="1"/>
              </a:gradFill>
              <a:ln w="2222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rgbClr val="FFFFFF"/>
                  </a:solidFill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  <p:sp>
            <p:nvSpPr>
              <p:cNvPr id="84" name="椭圆 83"/>
              <p:cNvSpPr/>
              <p:nvPr/>
            </p:nvSpPr>
            <p:spPr>
              <a:xfrm>
                <a:off x="3600619" y="2553589"/>
                <a:ext cx="1034041" cy="207307"/>
              </a:xfrm>
              <a:prstGeom prst="ellipse">
                <a:avLst/>
              </a:prstGeom>
              <a:gradFill>
                <a:gsLst>
                  <a:gs pos="20000">
                    <a:srgbClr val="013597">
                      <a:alpha val="40000"/>
                    </a:srgbClr>
                  </a:gs>
                  <a:gs pos="86000">
                    <a:srgbClr val="013597">
                      <a:alpha val="69000"/>
                    </a:srgbClr>
                  </a:gs>
                </a:gsLst>
                <a:lin ang="5400000" scaled="1"/>
              </a:gradFill>
              <a:ln w="2222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rgbClr val="FFFFFF"/>
                  </a:solidFill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  <p:sp>
            <p:nvSpPr>
              <p:cNvPr id="85" name="椭圆 84"/>
              <p:cNvSpPr/>
              <p:nvPr/>
            </p:nvSpPr>
            <p:spPr>
              <a:xfrm>
                <a:off x="3455378" y="2650068"/>
                <a:ext cx="1320021" cy="221656"/>
              </a:xfrm>
              <a:prstGeom prst="ellipse">
                <a:avLst/>
              </a:prstGeom>
              <a:gradFill>
                <a:gsLst>
                  <a:gs pos="20000">
                    <a:srgbClr val="013597">
                      <a:alpha val="0"/>
                    </a:srgbClr>
                  </a:gs>
                  <a:gs pos="100000">
                    <a:srgbClr val="013597">
                      <a:alpha val="71000"/>
                    </a:srgbClr>
                  </a:gs>
                </a:gsLst>
                <a:lin ang="5400000" scaled="1"/>
              </a:gradFill>
              <a:ln w="2222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endParaRPr kumimoji="1" lang="zh-CN" altLang="en-US" dirty="0">
                  <a:solidFill>
                    <a:srgbClr val="FFFFFF"/>
                  </a:solidFill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  <p:sp>
            <p:nvSpPr>
              <p:cNvPr id="86" name="@紫荆的职场Point9-1"/>
              <p:cNvSpPr/>
              <p:nvPr/>
            </p:nvSpPr>
            <p:spPr>
              <a:xfrm flipV="1">
                <a:off x="3284456" y="1849460"/>
                <a:ext cx="1672952" cy="623174"/>
              </a:xfrm>
              <a:prstGeom prst="trapezoid">
                <a:avLst>
                  <a:gd name="adj" fmla="val 34548"/>
                </a:avLst>
              </a:prstGeom>
              <a:gradFill>
                <a:gsLst>
                  <a:gs pos="0">
                    <a:srgbClr val="013597">
                      <a:lumMod val="60000"/>
                      <a:lumOff val="40000"/>
                      <a:alpha val="0"/>
                    </a:srgbClr>
                  </a:gs>
                  <a:gs pos="95951">
                    <a:srgbClr val="013597">
                      <a:lumMod val="60000"/>
                      <a:lumOff val="40000"/>
                      <a:alpha val="0"/>
                    </a:srgbClr>
                  </a:gs>
                  <a:gs pos="28000">
                    <a:srgbClr val="013597">
                      <a:lumMod val="60000"/>
                      <a:lumOff val="40000"/>
                      <a:alpha val="18000"/>
                    </a:srgbClr>
                  </a:gs>
                </a:gsLst>
                <a:lin ang="5400000" scaled="1"/>
              </a:gra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lIns="129845" tIns="64922" rIns="129845" bIns="64922" rtlCol="0" anchor="ctr"/>
              <a:lstStyle>
                <a:defPPr>
                  <a:defRPr lang="zh-CN">
                    <a:solidFill>
                      <a:srgbClr val="FFFFFF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555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  <a:sym typeface="HarmonyOS Sans SC" panose="00000500000000000000" charset="-122"/>
                </a:endParaRPr>
              </a:p>
            </p:txBody>
          </p:sp>
        </p:grpSp>
        <p:sp>
          <p:nvSpPr>
            <p:cNvPr id="88" name="@紫荆的职场Point27-6"/>
            <p:cNvSpPr txBox="1"/>
            <p:nvPr/>
          </p:nvSpPr>
          <p:spPr>
            <a:xfrm>
              <a:off x="2157" y="1578"/>
              <a:ext cx="1120" cy="686"/>
            </a:xfrm>
            <a:prstGeom prst="rect">
              <a:avLst/>
            </a:prstGeom>
            <a:noFill/>
          </p:spPr>
          <p:txBody>
            <a:bodyPr wrap="square" lIns="0" tIns="0" rIns="0" bIns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13597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libaba PuHuiTi" pitchFamily="18" charset="-122"/>
                  <a:sym typeface="HarmonyOS Sans SC" panose="00000500000000000000" charset="-122"/>
                </a:rPr>
                <a:t>顶层规划缺位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1359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  <a:sym typeface="HarmonyOS Sans SC" panose="00000500000000000000" charset="-122"/>
              </a:endParaRPr>
            </a:p>
          </p:txBody>
        </p:sp>
        <p:grpSp>
          <p:nvGrpSpPr>
            <p:cNvPr id="89" name="组合 88"/>
            <p:cNvGrpSpPr>
              <a:grpSpLocks noChangeAspect="1"/>
            </p:cNvGrpSpPr>
            <p:nvPr/>
          </p:nvGrpSpPr>
          <p:grpSpPr>
            <a:xfrm>
              <a:off x="1975" y="1731"/>
              <a:ext cx="182" cy="119"/>
              <a:chOff x="3604531" y="575638"/>
              <a:chExt cx="727076" cy="596900"/>
            </a:xfrm>
            <a:gradFill>
              <a:gsLst>
                <a:gs pos="0">
                  <a:srgbClr val="013597">
                    <a:lumMod val="20000"/>
                    <a:lumOff val="80000"/>
                  </a:srgbClr>
                </a:gs>
                <a:gs pos="100000">
                  <a:srgbClr val="013597">
                    <a:lumMod val="20000"/>
                    <a:lumOff val="80000"/>
                  </a:srgbClr>
                </a:gs>
              </a:gsLst>
              <a:lin ang="0" scaled="0"/>
            </a:gradFill>
          </p:grpSpPr>
          <p:sp>
            <p:nvSpPr>
              <p:cNvPr id="90" name="@紫荆的职场Point9-3"/>
              <p:cNvSpPr/>
              <p:nvPr/>
            </p:nvSpPr>
            <p:spPr bwMode="auto">
              <a:xfrm>
                <a:off x="3604531" y="575638"/>
                <a:ext cx="403225" cy="596900"/>
              </a:xfrm>
              <a:custGeom>
                <a:avLst/>
                <a:gdLst>
                  <a:gd name="T0" fmla="*/ 147 w 254"/>
                  <a:gd name="T1" fmla="*/ 0 h 376"/>
                  <a:gd name="T2" fmla="*/ 0 w 254"/>
                  <a:gd name="T3" fmla="*/ 0 h 376"/>
                  <a:gd name="T4" fmla="*/ 109 w 254"/>
                  <a:gd name="T5" fmla="*/ 188 h 376"/>
                  <a:gd name="T6" fmla="*/ 0 w 254"/>
                  <a:gd name="T7" fmla="*/ 376 h 376"/>
                  <a:gd name="T8" fmla="*/ 147 w 254"/>
                  <a:gd name="T9" fmla="*/ 376 h 376"/>
                  <a:gd name="T10" fmla="*/ 254 w 254"/>
                  <a:gd name="T11" fmla="*/ 188 h 376"/>
                  <a:gd name="T12" fmla="*/ 147 w 254"/>
                  <a:gd name="T13" fmla="*/ 0 h 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54" h="376">
                    <a:moveTo>
                      <a:pt x="147" y="0"/>
                    </a:moveTo>
                    <a:lnTo>
                      <a:pt x="0" y="0"/>
                    </a:lnTo>
                    <a:lnTo>
                      <a:pt x="109" y="188"/>
                    </a:lnTo>
                    <a:lnTo>
                      <a:pt x="0" y="376"/>
                    </a:lnTo>
                    <a:lnTo>
                      <a:pt x="147" y="376"/>
                    </a:lnTo>
                    <a:lnTo>
                      <a:pt x="254" y="188"/>
                    </a:lnTo>
                    <a:lnTo>
                      <a:pt x="147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non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  <a:sym typeface="HarmonyOS Sans SC" panose="00000500000000000000" charset="-122"/>
                </a:endParaRPr>
              </a:p>
            </p:txBody>
          </p:sp>
          <p:sp>
            <p:nvSpPr>
              <p:cNvPr id="91" name="@紫荆的职场Point9-4"/>
              <p:cNvSpPr/>
              <p:nvPr/>
            </p:nvSpPr>
            <p:spPr bwMode="auto">
              <a:xfrm>
                <a:off x="3931557" y="575638"/>
                <a:ext cx="400050" cy="596900"/>
              </a:xfrm>
              <a:custGeom>
                <a:avLst/>
                <a:gdLst>
                  <a:gd name="T0" fmla="*/ 145 w 252"/>
                  <a:gd name="T1" fmla="*/ 0 h 376"/>
                  <a:gd name="T2" fmla="*/ 0 w 252"/>
                  <a:gd name="T3" fmla="*/ 0 h 376"/>
                  <a:gd name="T4" fmla="*/ 107 w 252"/>
                  <a:gd name="T5" fmla="*/ 188 h 376"/>
                  <a:gd name="T6" fmla="*/ 0 w 252"/>
                  <a:gd name="T7" fmla="*/ 376 h 376"/>
                  <a:gd name="T8" fmla="*/ 145 w 252"/>
                  <a:gd name="T9" fmla="*/ 376 h 376"/>
                  <a:gd name="T10" fmla="*/ 252 w 252"/>
                  <a:gd name="T11" fmla="*/ 188 h 376"/>
                  <a:gd name="T12" fmla="*/ 145 w 252"/>
                  <a:gd name="T13" fmla="*/ 0 h 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52" h="376">
                    <a:moveTo>
                      <a:pt x="145" y="0"/>
                    </a:moveTo>
                    <a:lnTo>
                      <a:pt x="0" y="0"/>
                    </a:lnTo>
                    <a:lnTo>
                      <a:pt x="107" y="188"/>
                    </a:lnTo>
                    <a:lnTo>
                      <a:pt x="0" y="376"/>
                    </a:lnTo>
                    <a:lnTo>
                      <a:pt x="145" y="376"/>
                    </a:lnTo>
                    <a:lnTo>
                      <a:pt x="252" y="188"/>
                    </a:lnTo>
                    <a:lnTo>
                      <a:pt x="145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non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  <a:sym typeface="HarmonyOS Sans SC" panose="00000500000000000000" charset="-122"/>
                </a:endParaRPr>
              </a:p>
            </p:txBody>
          </p:sp>
        </p:grpSp>
        <p:grpSp>
          <p:nvGrpSpPr>
            <p:cNvPr id="92" name="组合 91"/>
            <p:cNvGrpSpPr>
              <a:grpSpLocks noChangeAspect="1"/>
            </p:cNvGrpSpPr>
            <p:nvPr/>
          </p:nvGrpSpPr>
          <p:grpSpPr>
            <a:xfrm rot="10800000">
              <a:off x="3322" y="1731"/>
              <a:ext cx="182" cy="119"/>
              <a:chOff x="3604531" y="575638"/>
              <a:chExt cx="727076" cy="596900"/>
            </a:xfrm>
            <a:gradFill>
              <a:gsLst>
                <a:gs pos="0">
                  <a:srgbClr val="013597">
                    <a:lumMod val="20000"/>
                    <a:lumOff val="80000"/>
                  </a:srgbClr>
                </a:gs>
                <a:gs pos="100000">
                  <a:srgbClr val="013597">
                    <a:lumMod val="20000"/>
                    <a:lumOff val="80000"/>
                  </a:srgbClr>
                </a:gs>
              </a:gsLst>
              <a:lin ang="0" scaled="0"/>
            </a:gradFill>
          </p:grpSpPr>
          <p:sp>
            <p:nvSpPr>
              <p:cNvPr id="93" name="@紫荆的职场Point9-3"/>
              <p:cNvSpPr/>
              <p:nvPr/>
            </p:nvSpPr>
            <p:spPr bwMode="auto">
              <a:xfrm>
                <a:off x="3604531" y="575638"/>
                <a:ext cx="403225" cy="596900"/>
              </a:xfrm>
              <a:custGeom>
                <a:avLst/>
                <a:gdLst>
                  <a:gd name="T0" fmla="*/ 147 w 254"/>
                  <a:gd name="T1" fmla="*/ 0 h 376"/>
                  <a:gd name="T2" fmla="*/ 0 w 254"/>
                  <a:gd name="T3" fmla="*/ 0 h 376"/>
                  <a:gd name="T4" fmla="*/ 109 w 254"/>
                  <a:gd name="T5" fmla="*/ 188 h 376"/>
                  <a:gd name="T6" fmla="*/ 0 w 254"/>
                  <a:gd name="T7" fmla="*/ 376 h 376"/>
                  <a:gd name="T8" fmla="*/ 147 w 254"/>
                  <a:gd name="T9" fmla="*/ 376 h 376"/>
                  <a:gd name="T10" fmla="*/ 254 w 254"/>
                  <a:gd name="T11" fmla="*/ 188 h 376"/>
                  <a:gd name="T12" fmla="*/ 147 w 254"/>
                  <a:gd name="T13" fmla="*/ 0 h 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54" h="376">
                    <a:moveTo>
                      <a:pt x="147" y="0"/>
                    </a:moveTo>
                    <a:lnTo>
                      <a:pt x="0" y="0"/>
                    </a:lnTo>
                    <a:lnTo>
                      <a:pt x="109" y="188"/>
                    </a:lnTo>
                    <a:lnTo>
                      <a:pt x="0" y="376"/>
                    </a:lnTo>
                    <a:lnTo>
                      <a:pt x="147" y="376"/>
                    </a:lnTo>
                    <a:lnTo>
                      <a:pt x="254" y="188"/>
                    </a:lnTo>
                    <a:lnTo>
                      <a:pt x="147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non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  <a:sym typeface="HarmonyOS Sans SC" panose="00000500000000000000" charset="-122"/>
                </a:endParaRPr>
              </a:p>
            </p:txBody>
          </p:sp>
          <p:sp>
            <p:nvSpPr>
              <p:cNvPr id="94" name="@紫荆的职场Point9-4"/>
              <p:cNvSpPr/>
              <p:nvPr/>
            </p:nvSpPr>
            <p:spPr bwMode="auto">
              <a:xfrm>
                <a:off x="3931557" y="575638"/>
                <a:ext cx="400050" cy="596900"/>
              </a:xfrm>
              <a:custGeom>
                <a:avLst/>
                <a:gdLst>
                  <a:gd name="T0" fmla="*/ 145 w 252"/>
                  <a:gd name="T1" fmla="*/ 0 h 376"/>
                  <a:gd name="T2" fmla="*/ 0 w 252"/>
                  <a:gd name="T3" fmla="*/ 0 h 376"/>
                  <a:gd name="T4" fmla="*/ 107 w 252"/>
                  <a:gd name="T5" fmla="*/ 188 h 376"/>
                  <a:gd name="T6" fmla="*/ 0 w 252"/>
                  <a:gd name="T7" fmla="*/ 376 h 376"/>
                  <a:gd name="T8" fmla="*/ 145 w 252"/>
                  <a:gd name="T9" fmla="*/ 376 h 376"/>
                  <a:gd name="T10" fmla="*/ 252 w 252"/>
                  <a:gd name="T11" fmla="*/ 188 h 376"/>
                  <a:gd name="T12" fmla="*/ 145 w 252"/>
                  <a:gd name="T13" fmla="*/ 0 h 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52" h="376">
                    <a:moveTo>
                      <a:pt x="145" y="0"/>
                    </a:moveTo>
                    <a:lnTo>
                      <a:pt x="0" y="0"/>
                    </a:lnTo>
                    <a:lnTo>
                      <a:pt x="107" y="188"/>
                    </a:lnTo>
                    <a:lnTo>
                      <a:pt x="0" y="376"/>
                    </a:lnTo>
                    <a:lnTo>
                      <a:pt x="145" y="376"/>
                    </a:lnTo>
                    <a:lnTo>
                      <a:pt x="252" y="188"/>
                    </a:lnTo>
                    <a:lnTo>
                      <a:pt x="145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non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  <a:sym typeface="HarmonyOS Sans SC" panose="00000500000000000000" charset="-122"/>
                </a:endParaRPr>
              </a:p>
            </p:txBody>
          </p:sp>
        </p:grpSp>
        <p:grpSp>
          <p:nvGrpSpPr>
            <p:cNvPr id="100" name="组合 99"/>
            <p:cNvGrpSpPr/>
            <p:nvPr/>
          </p:nvGrpSpPr>
          <p:grpSpPr>
            <a:xfrm>
              <a:off x="4634" y="1794"/>
              <a:ext cx="1789" cy="1093"/>
              <a:chOff x="3284456" y="1849460"/>
              <a:chExt cx="1672952" cy="1022264"/>
            </a:xfrm>
          </p:grpSpPr>
          <p:sp>
            <p:nvSpPr>
              <p:cNvPr id="101" name="椭圆 100"/>
              <p:cNvSpPr/>
              <p:nvPr/>
            </p:nvSpPr>
            <p:spPr>
              <a:xfrm>
                <a:off x="3500355" y="2353333"/>
                <a:ext cx="1234569" cy="207307"/>
              </a:xfrm>
              <a:prstGeom prst="ellipse">
                <a:avLst/>
              </a:prstGeom>
              <a:gradFill>
                <a:gsLst>
                  <a:gs pos="0">
                    <a:srgbClr val="013597">
                      <a:alpha val="14338"/>
                    </a:srgbClr>
                  </a:gs>
                  <a:gs pos="100000">
                    <a:srgbClr val="013597">
                      <a:alpha val="17686"/>
                    </a:srgbClr>
                  </a:gs>
                </a:gsLst>
                <a:lin ang="5400000" scaled="1"/>
              </a:gradFill>
              <a:ln w="9525" cap="flat" cmpd="sng" algn="ctr">
                <a:gradFill>
                  <a:gsLst>
                    <a:gs pos="0">
                      <a:srgbClr val="013597">
                        <a:alpha val="0"/>
                      </a:srgbClr>
                    </a:gs>
                    <a:gs pos="100000">
                      <a:srgbClr val="013597">
                        <a:alpha val="55000"/>
                      </a:srgbClr>
                    </a:gs>
                  </a:gsLst>
                  <a:lin ang="5400000" scaled="1"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rgbClr val="FFFFFF"/>
                  </a:solidFill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  <p:sp>
            <p:nvSpPr>
              <p:cNvPr id="102" name="椭圆 101"/>
              <p:cNvSpPr/>
              <p:nvPr/>
            </p:nvSpPr>
            <p:spPr>
              <a:xfrm>
                <a:off x="3600619" y="2506425"/>
                <a:ext cx="1034041" cy="207307"/>
              </a:xfrm>
              <a:prstGeom prst="ellipse">
                <a:avLst/>
              </a:prstGeom>
              <a:gradFill>
                <a:gsLst>
                  <a:gs pos="20000">
                    <a:srgbClr val="013597">
                      <a:alpha val="40000"/>
                    </a:srgbClr>
                  </a:gs>
                  <a:gs pos="86000">
                    <a:srgbClr val="013597">
                      <a:alpha val="69000"/>
                    </a:srgbClr>
                  </a:gs>
                </a:gsLst>
                <a:lin ang="5400000" scaled="1"/>
              </a:gradFill>
              <a:ln w="2222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rgbClr val="FFFFFF"/>
                  </a:solidFill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  <p:sp>
            <p:nvSpPr>
              <p:cNvPr id="103" name="椭圆 102"/>
              <p:cNvSpPr/>
              <p:nvPr/>
            </p:nvSpPr>
            <p:spPr>
              <a:xfrm>
                <a:off x="3600619" y="2553589"/>
                <a:ext cx="1034041" cy="207307"/>
              </a:xfrm>
              <a:prstGeom prst="ellipse">
                <a:avLst/>
              </a:prstGeom>
              <a:gradFill>
                <a:gsLst>
                  <a:gs pos="20000">
                    <a:srgbClr val="013597">
                      <a:alpha val="40000"/>
                    </a:srgbClr>
                  </a:gs>
                  <a:gs pos="86000">
                    <a:srgbClr val="013597">
                      <a:alpha val="69000"/>
                    </a:srgbClr>
                  </a:gs>
                </a:gsLst>
                <a:lin ang="5400000" scaled="1"/>
              </a:gradFill>
              <a:ln w="2222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rgbClr val="FFFFFF"/>
                  </a:solidFill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  <p:sp>
            <p:nvSpPr>
              <p:cNvPr id="104" name="椭圆 103"/>
              <p:cNvSpPr/>
              <p:nvPr/>
            </p:nvSpPr>
            <p:spPr>
              <a:xfrm>
                <a:off x="3455378" y="2650068"/>
                <a:ext cx="1320021" cy="221656"/>
              </a:xfrm>
              <a:prstGeom prst="ellipse">
                <a:avLst/>
              </a:prstGeom>
              <a:gradFill>
                <a:gsLst>
                  <a:gs pos="20000">
                    <a:srgbClr val="013597">
                      <a:alpha val="0"/>
                    </a:srgbClr>
                  </a:gs>
                  <a:gs pos="100000">
                    <a:srgbClr val="013597">
                      <a:alpha val="71000"/>
                    </a:srgbClr>
                  </a:gs>
                </a:gsLst>
                <a:lin ang="5400000" scaled="1"/>
              </a:gradFill>
              <a:ln w="2222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endParaRPr kumimoji="1" lang="zh-CN" altLang="en-US" dirty="0">
                  <a:solidFill>
                    <a:srgbClr val="FFFFFF"/>
                  </a:solidFill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  <p:sp>
            <p:nvSpPr>
              <p:cNvPr id="113" name="@紫荆的职场Point9-1"/>
              <p:cNvSpPr/>
              <p:nvPr/>
            </p:nvSpPr>
            <p:spPr>
              <a:xfrm flipV="1">
                <a:off x="3284456" y="1849460"/>
                <a:ext cx="1672952" cy="623174"/>
              </a:xfrm>
              <a:prstGeom prst="trapezoid">
                <a:avLst>
                  <a:gd name="adj" fmla="val 34548"/>
                </a:avLst>
              </a:prstGeom>
              <a:gradFill>
                <a:gsLst>
                  <a:gs pos="0">
                    <a:srgbClr val="013597">
                      <a:lumMod val="60000"/>
                      <a:lumOff val="40000"/>
                      <a:alpha val="0"/>
                    </a:srgbClr>
                  </a:gs>
                  <a:gs pos="95951">
                    <a:srgbClr val="013597">
                      <a:lumMod val="60000"/>
                      <a:lumOff val="40000"/>
                      <a:alpha val="0"/>
                    </a:srgbClr>
                  </a:gs>
                  <a:gs pos="28000">
                    <a:srgbClr val="013597">
                      <a:lumMod val="60000"/>
                      <a:lumOff val="40000"/>
                      <a:alpha val="18000"/>
                    </a:srgbClr>
                  </a:gs>
                </a:gsLst>
                <a:lin ang="5400000" scaled="1"/>
              </a:gra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lIns="129845" tIns="64922" rIns="129845" bIns="64922" rtlCol="0" anchor="ctr"/>
              <a:lstStyle>
                <a:defPPr>
                  <a:defRPr lang="zh-CN">
                    <a:solidFill>
                      <a:srgbClr val="FFFFFF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555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  <a:sym typeface="HarmonyOS Sans SC" panose="00000500000000000000" charset="-122"/>
                </a:endParaRPr>
              </a:p>
            </p:txBody>
          </p:sp>
        </p:grpSp>
        <p:grpSp>
          <p:nvGrpSpPr>
            <p:cNvPr id="116" name="组合 115"/>
            <p:cNvGrpSpPr>
              <a:grpSpLocks noChangeAspect="1"/>
            </p:cNvGrpSpPr>
            <p:nvPr/>
          </p:nvGrpSpPr>
          <p:grpSpPr>
            <a:xfrm>
              <a:off x="4791" y="1731"/>
              <a:ext cx="182" cy="119"/>
              <a:chOff x="3604531" y="575638"/>
              <a:chExt cx="727076" cy="596900"/>
            </a:xfrm>
            <a:gradFill>
              <a:gsLst>
                <a:gs pos="0">
                  <a:srgbClr val="013597">
                    <a:lumMod val="20000"/>
                    <a:lumOff val="80000"/>
                  </a:srgbClr>
                </a:gs>
                <a:gs pos="100000">
                  <a:srgbClr val="013597">
                    <a:lumMod val="20000"/>
                    <a:lumOff val="80000"/>
                  </a:srgbClr>
                </a:gs>
              </a:gsLst>
              <a:lin ang="0" scaled="0"/>
            </a:gradFill>
          </p:grpSpPr>
          <p:sp>
            <p:nvSpPr>
              <p:cNvPr id="117" name="@紫荆的职场Point9-3"/>
              <p:cNvSpPr/>
              <p:nvPr/>
            </p:nvSpPr>
            <p:spPr bwMode="auto">
              <a:xfrm>
                <a:off x="3604531" y="575638"/>
                <a:ext cx="403225" cy="596900"/>
              </a:xfrm>
              <a:custGeom>
                <a:avLst/>
                <a:gdLst>
                  <a:gd name="T0" fmla="*/ 147 w 254"/>
                  <a:gd name="T1" fmla="*/ 0 h 376"/>
                  <a:gd name="T2" fmla="*/ 0 w 254"/>
                  <a:gd name="T3" fmla="*/ 0 h 376"/>
                  <a:gd name="T4" fmla="*/ 109 w 254"/>
                  <a:gd name="T5" fmla="*/ 188 h 376"/>
                  <a:gd name="T6" fmla="*/ 0 w 254"/>
                  <a:gd name="T7" fmla="*/ 376 h 376"/>
                  <a:gd name="T8" fmla="*/ 147 w 254"/>
                  <a:gd name="T9" fmla="*/ 376 h 376"/>
                  <a:gd name="T10" fmla="*/ 254 w 254"/>
                  <a:gd name="T11" fmla="*/ 188 h 376"/>
                  <a:gd name="T12" fmla="*/ 147 w 254"/>
                  <a:gd name="T13" fmla="*/ 0 h 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54" h="376">
                    <a:moveTo>
                      <a:pt x="147" y="0"/>
                    </a:moveTo>
                    <a:lnTo>
                      <a:pt x="0" y="0"/>
                    </a:lnTo>
                    <a:lnTo>
                      <a:pt x="109" y="188"/>
                    </a:lnTo>
                    <a:lnTo>
                      <a:pt x="0" y="376"/>
                    </a:lnTo>
                    <a:lnTo>
                      <a:pt x="147" y="376"/>
                    </a:lnTo>
                    <a:lnTo>
                      <a:pt x="254" y="188"/>
                    </a:lnTo>
                    <a:lnTo>
                      <a:pt x="147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non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  <a:sym typeface="HarmonyOS Sans SC" panose="00000500000000000000" charset="-122"/>
                </a:endParaRPr>
              </a:p>
            </p:txBody>
          </p:sp>
          <p:sp>
            <p:nvSpPr>
              <p:cNvPr id="118" name="@紫荆的职场Point9-4"/>
              <p:cNvSpPr/>
              <p:nvPr/>
            </p:nvSpPr>
            <p:spPr bwMode="auto">
              <a:xfrm>
                <a:off x="3931557" y="575638"/>
                <a:ext cx="400050" cy="596900"/>
              </a:xfrm>
              <a:custGeom>
                <a:avLst/>
                <a:gdLst>
                  <a:gd name="T0" fmla="*/ 145 w 252"/>
                  <a:gd name="T1" fmla="*/ 0 h 376"/>
                  <a:gd name="T2" fmla="*/ 0 w 252"/>
                  <a:gd name="T3" fmla="*/ 0 h 376"/>
                  <a:gd name="T4" fmla="*/ 107 w 252"/>
                  <a:gd name="T5" fmla="*/ 188 h 376"/>
                  <a:gd name="T6" fmla="*/ 0 w 252"/>
                  <a:gd name="T7" fmla="*/ 376 h 376"/>
                  <a:gd name="T8" fmla="*/ 145 w 252"/>
                  <a:gd name="T9" fmla="*/ 376 h 376"/>
                  <a:gd name="T10" fmla="*/ 252 w 252"/>
                  <a:gd name="T11" fmla="*/ 188 h 376"/>
                  <a:gd name="T12" fmla="*/ 145 w 252"/>
                  <a:gd name="T13" fmla="*/ 0 h 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52" h="376">
                    <a:moveTo>
                      <a:pt x="145" y="0"/>
                    </a:moveTo>
                    <a:lnTo>
                      <a:pt x="0" y="0"/>
                    </a:lnTo>
                    <a:lnTo>
                      <a:pt x="107" y="188"/>
                    </a:lnTo>
                    <a:lnTo>
                      <a:pt x="0" y="376"/>
                    </a:lnTo>
                    <a:lnTo>
                      <a:pt x="145" y="376"/>
                    </a:lnTo>
                    <a:lnTo>
                      <a:pt x="252" y="188"/>
                    </a:lnTo>
                    <a:lnTo>
                      <a:pt x="145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non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  <a:sym typeface="HarmonyOS Sans SC" panose="00000500000000000000" charset="-122"/>
                </a:endParaRPr>
              </a:p>
            </p:txBody>
          </p:sp>
        </p:grpSp>
        <p:grpSp>
          <p:nvGrpSpPr>
            <p:cNvPr id="119" name="组合 118"/>
            <p:cNvGrpSpPr>
              <a:grpSpLocks noChangeAspect="1"/>
            </p:cNvGrpSpPr>
            <p:nvPr/>
          </p:nvGrpSpPr>
          <p:grpSpPr>
            <a:xfrm rot="10800000">
              <a:off x="6138" y="1731"/>
              <a:ext cx="182" cy="119"/>
              <a:chOff x="3604531" y="575638"/>
              <a:chExt cx="727076" cy="596900"/>
            </a:xfrm>
            <a:gradFill>
              <a:gsLst>
                <a:gs pos="0">
                  <a:srgbClr val="013597">
                    <a:lumMod val="20000"/>
                    <a:lumOff val="80000"/>
                  </a:srgbClr>
                </a:gs>
                <a:gs pos="100000">
                  <a:srgbClr val="013597">
                    <a:lumMod val="20000"/>
                    <a:lumOff val="80000"/>
                  </a:srgbClr>
                </a:gs>
              </a:gsLst>
              <a:lin ang="0" scaled="0"/>
            </a:gradFill>
          </p:grpSpPr>
          <p:sp>
            <p:nvSpPr>
              <p:cNvPr id="126" name="@紫荆的职场Point9-3"/>
              <p:cNvSpPr/>
              <p:nvPr/>
            </p:nvSpPr>
            <p:spPr bwMode="auto">
              <a:xfrm>
                <a:off x="3604531" y="575638"/>
                <a:ext cx="403225" cy="596900"/>
              </a:xfrm>
              <a:custGeom>
                <a:avLst/>
                <a:gdLst>
                  <a:gd name="T0" fmla="*/ 147 w 254"/>
                  <a:gd name="T1" fmla="*/ 0 h 376"/>
                  <a:gd name="T2" fmla="*/ 0 w 254"/>
                  <a:gd name="T3" fmla="*/ 0 h 376"/>
                  <a:gd name="T4" fmla="*/ 109 w 254"/>
                  <a:gd name="T5" fmla="*/ 188 h 376"/>
                  <a:gd name="T6" fmla="*/ 0 w 254"/>
                  <a:gd name="T7" fmla="*/ 376 h 376"/>
                  <a:gd name="T8" fmla="*/ 147 w 254"/>
                  <a:gd name="T9" fmla="*/ 376 h 376"/>
                  <a:gd name="T10" fmla="*/ 254 w 254"/>
                  <a:gd name="T11" fmla="*/ 188 h 376"/>
                  <a:gd name="T12" fmla="*/ 147 w 254"/>
                  <a:gd name="T13" fmla="*/ 0 h 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54" h="376">
                    <a:moveTo>
                      <a:pt x="147" y="0"/>
                    </a:moveTo>
                    <a:lnTo>
                      <a:pt x="0" y="0"/>
                    </a:lnTo>
                    <a:lnTo>
                      <a:pt x="109" y="188"/>
                    </a:lnTo>
                    <a:lnTo>
                      <a:pt x="0" y="376"/>
                    </a:lnTo>
                    <a:lnTo>
                      <a:pt x="147" y="376"/>
                    </a:lnTo>
                    <a:lnTo>
                      <a:pt x="254" y="188"/>
                    </a:lnTo>
                    <a:lnTo>
                      <a:pt x="147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non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  <a:sym typeface="HarmonyOS Sans SC" panose="00000500000000000000" charset="-122"/>
                </a:endParaRPr>
              </a:p>
            </p:txBody>
          </p:sp>
          <p:sp>
            <p:nvSpPr>
              <p:cNvPr id="127" name="@紫荆的职场Point9-4"/>
              <p:cNvSpPr/>
              <p:nvPr/>
            </p:nvSpPr>
            <p:spPr bwMode="auto">
              <a:xfrm>
                <a:off x="3931557" y="575638"/>
                <a:ext cx="400050" cy="596900"/>
              </a:xfrm>
              <a:custGeom>
                <a:avLst/>
                <a:gdLst>
                  <a:gd name="T0" fmla="*/ 145 w 252"/>
                  <a:gd name="T1" fmla="*/ 0 h 376"/>
                  <a:gd name="T2" fmla="*/ 0 w 252"/>
                  <a:gd name="T3" fmla="*/ 0 h 376"/>
                  <a:gd name="T4" fmla="*/ 107 w 252"/>
                  <a:gd name="T5" fmla="*/ 188 h 376"/>
                  <a:gd name="T6" fmla="*/ 0 w 252"/>
                  <a:gd name="T7" fmla="*/ 376 h 376"/>
                  <a:gd name="T8" fmla="*/ 145 w 252"/>
                  <a:gd name="T9" fmla="*/ 376 h 376"/>
                  <a:gd name="T10" fmla="*/ 252 w 252"/>
                  <a:gd name="T11" fmla="*/ 188 h 376"/>
                  <a:gd name="T12" fmla="*/ 145 w 252"/>
                  <a:gd name="T13" fmla="*/ 0 h 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52" h="376">
                    <a:moveTo>
                      <a:pt x="145" y="0"/>
                    </a:moveTo>
                    <a:lnTo>
                      <a:pt x="0" y="0"/>
                    </a:lnTo>
                    <a:lnTo>
                      <a:pt x="107" y="188"/>
                    </a:lnTo>
                    <a:lnTo>
                      <a:pt x="0" y="376"/>
                    </a:lnTo>
                    <a:lnTo>
                      <a:pt x="145" y="376"/>
                    </a:lnTo>
                    <a:lnTo>
                      <a:pt x="252" y="188"/>
                    </a:lnTo>
                    <a:lnTo>
                      <a:pt x="145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non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  <a:sym typeface="HarmonyOS Sans SC" panose="00000500000000000000" charset="-122"/>
                </a:endParaRPr>
              </a:p>
            </p:txBody>
          </p:sp>
        </p:grpSp>
        <p:grpSp>
          <p:nvGrpSpPr>
            <p:cNvPr id="128" name="组合 127"/>
            <p:cNvGrpSpPr/>
            <p:nvPr/>
          </p:nvGrpSpPr>
          <p:grpSpPr>
            <a:xfrm>
              <a:off x="7450" y="1794"/>
              <a:ext cx="1789" cy="1093"/>
              <a:chOff x="3284456" y="1849460"/>
              <a:chExt cx="1672952" cy="1022264"/>
            </a:xfrm>
          </p:grpSpPr>
          <p:sp>
            <p:nvSpPr>
              <p:cNvPr id="129" name="椭圆 128"/>
              <p:cNvSpPr/>
              <p:nvPr/>
            </p:nvSpPr>
            <p:spPr>
              <a:xfrm>
                <a:off x="3500355" y="2353333"/>
                <a:ext cx="1234569" cy="207307"/>
              </a:xfrm>
              <a:prstGeom prst="ellipse">
                <a:avLst/>
              </a:prstGeom>
              <a:gradFill>
                <a:gsLst>
                  <a:gs pos="0">
                    <a:srgbClr val="013597">
                      <a:alpha val="14338"/>
                    </a:srgbClr>
                  </a:gs>
                  <a:gs pos="100000">
                    <a:srgbClr val="013597">
                      <a:alpha val="17686"/>
                    </a:srgbClr>
                  </a:gs>
                </a:gsLst>
                <a:lin ang="5400000" scaled="1"/>
              </a:gradFill>
              <a:ln w="9525" cap="flat" cmpd="sng" algn="ctr">
                <a:gradFill>
                  <a:gsLst>
                    <a:gs pos="0">
                      <a:srgbClr val="013597">
                        <a:alpha val="0"/>
                      </a:srgbClr>
                    </a:gs>
                    <a:gs pos="100000">
                      <a:srgbClr val="013597">
                        <a:alpha val="55000"/>
                      </a:srgbClr>
                    </a:gs>
                  </a:gsLst>
                  <a:lin ang="5400000" scaled="1"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rgbClr val="FFFFFF"/>
                  </a:solidFill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  <p:sp>
            <p:nvSpPr>
              <p:cNvPr id="130" name="椭圆 129"/>
              <p:cNvSpPr/>
              <p:nvPr/>
            </p:nvSpPr>
            <p:spPr>
              <a:xfrm>
                <a:off x="3600619" y="2506425"/>
                <a:ext cx="1034041" cy="207307"/>
              </a:xfrm>
              <a:prstGeom prst="ellipse">
                <a:avLst/>
              </a:prstGeom>
              <a:gradFill>
                <a:gsLst>
                  <a:gs pos="20000">
                    <a:srgbClr val="013597">
                      <a:alpha val="40000"/>
                    </a:srgbClr>
                  </a:gs>
                  <a:gs pos="86000">
                    <a:srgbClr val="013597">
                      <a:alpha val="69000"/>
                    </a:srgbClr>
                  </a:gs>
                </a:gsLst>
                <a:lin ang="5400000" scaled="1"/>
              </a:gradFill>
              <a:ln w="2222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rgbClr val="FFFFFF"/>
                  </a:solidFill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  <p:sp>
            <p:nvSpPr>
              <p:cNvPr id="131" name="椭圆 130"/>
              <p:cNvSpPr/>
              <p:nvPr/>
            </p:nvSpPr>
            <p:spPr>
              <a:xfrm>
                <a:off x="3600619" y="2553589"/>
                <a:ext cx="1034041" cy="207307"/>
              </a:xfrm>
              <a:prstGeom prst="ellipse">
                <a:avLst/>
              </a:prstGeom>
              <a:gradFill>
                <a:gsLst>
                  <a:gs pos="20000">
                    <a:srgbClr val="013597">
                      <a:alpha val="40000"/>
                    </a:srgbClr>
                  </a:gs>
                  <a:gs pos="86000">
                    <a:srgbClr val="013597">
                      <a:alpha val="69000"/>
                    </a:srgbClr>
                  </a:gs>
                </a:gsLst>
                <a:lin ang="5400000" scaled="1"/>
              </a:gradFill>
              <a:ln w="2222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rgbClr val="FFFFFF"/>
                  </a:solidFill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  <p:sp>
            <p:nvSpPr>
              <p:cNvPr id="132" name="椭圆 131"/>
              <p:cNvSpPr/>
              <p:nvPr/>
            </p:nvSpPr>
            <p:spPr>
              <a:xfrm>
                <a:off x="3455378" y="2650068"/>
                <a:ext cx="1320021" cy="221656"/>
              </a:xfrm>
              <a:prstGeom prst="ellipse">
                <a:avLst/>
              </a:prstGeom>
              <a:gradFill>
                <a:gsLst>
                  <a:gs pos="20000">
                    <a:srgbClr val="013597">
                      <a:alpha val="0"/>
                    </a:srgbClr>
                  </a:gs>
                  <a:gs pos="100000">
                    <a:srgbClr val="013597">
                      <a:alpha val="71000"/>
                    </a:srgbClr>
                  </a:gs>
                </a:gsLst>
                <a:lin ang="5400000" scaled="1"/>
              </a:gradFill>
              <a:ln w="2222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endParaRPr kumimoji="1" lang="zh-CN" altLang="en-US" dirty="0">
                  <a:solidFill>
                    <a:srgbClr val="FFFFFF"/>
                  </a:solidFill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  <p:sp>
            <p:nvSpPr>
              <p:cNvPr id="133" name="@紫荆的职场Point9-1"/>
              <p:cNvSpPr/>
              <p:nvPr/>
            </p:nvSpPr>
            <p:spPr>
              <a:xfrm flipV="1">
                <a:off x="3284456" y="1849460"/>
                <a:ext cx="1672952" cy="623174"/>
              </a:xfrm>
              <a:prstGeom prst="trapezoid">
                <a:avLst>
                  <a:gd name="adj" fmla="val 34548"/>
                </a:avLst>
              </a:prstGeom>
              <a:gradFill>
                <a:gsLst>
                  <a:gs pos="0">
                    <a:srgbClr val="013597">
                      <a:lumMod val="60000"/>
                      <a:lumOff val="40000"/>
                      <a:alpha val="0"/>
                    </a:srgbClr>
                  </a:gs>
                  <a:gs pos="95951">
                    <a:srgbClr val="013597">
                      <a:lumMod val="60000"/>
                      <a:lumOff val="40000"/>
                      <a:alpha val="0"/>
                    </a:srgbClr>
                  </a:gs>
                  <a:gs pos="28000">
                    <a:srgbClr val="013597">
                      <a:lumMod val="60000"/>
                      <a:lumOff val="40000"/>
                      <a:alpha val="18000"/>
                    </a:srgbClr>
                  </a:gs>
                </a:gsLst>
                <a:lin ang="5400000" scaled="1"/>
              </a:gra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lIns="129845" tIns="64922" rIns="129845" bIns="64922" rtlCol="0" anchor="ctr"/>
              <a:lstStyle>
                <a:defPPr>
                  <a:defRPr lang="zh-CN">
                    <a:solidFill>
                      <a:srgbClr val="FFFFFF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555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  <a:sym typeface="HarmonyOS Sans SC" panose="00000500000000000000" charset="-122"/>
                </a:endParaRPr>
              </a:p>
            </p:txBody>
          </p:sp>
        </p:grpSp>
        <p:grpSp>
          <p:nvGrpSpPr>
            <p:cNvPr id="136" name="组合 135"/>
            <p:cNvGrpSpPr>
              <a:grpSpLocks noChangeAspect="1"/>
            </p:cNvGrpSpPr>
            <p:nvPr/>
          </p:nvGrpSpPr>
          <p:grpSpPr>
            <a:xfrm>
              <a:off x="7607" y="1731"/>
              <a:ext cx="182" cy="119"/>
              <a:chOff x="3604531" y="575638"/>
              <a:chExt cx="727076" cy="596900"/>
            </a:xfrm>
            <a:gradFill>
              <a:gsLst>
                <a:gs pos="0">
                  <a:srgbClr val="013597">
                    <a:lumMod val="20000"/>
                    <a:lumOff val="80000"/>
                  </a:srgbClr>
                </a:gs>
                <a:gs pos="100000">
                  <a:srgbClr val="013597">
                    <a:lumMod val="20000"/>
                    <a:lumOff val="80000"/>
                  </a:srgbClr>
                </a:gs>
              </a:gsLst>
              <a:lin ang="0" scaled="0"/>
            </a:gradFill>
          </p:grpSpPr>
          <p:sp>
            <p:nvSpPr>
              <p:cNvPr id="137" name="@紫荆的职场Point9-3"/>
              <p:cNvSpPr/>
              <p:nvPr/>
            </p:nvSpPr>
            <p:spPr bwMode="auto">
              <a:xfrm>
                <a:off x="3604531" y="575638"/>
                <a:ext cx="403225" cy="596900"/>
              </a:xfrm>
              <a:custGeom>
                <a:avLst/>
                <a:gdLst>
                  <a:gd name="T0" fmla="*/ 147 w 254"/>
                  <a:gd name="T1" fmla="*/ 0 h 376"/>
                  <a:gd name="T2" fmla="*/ 0 w 254"/>
                  <a:gd name="T3" fmla="*/ 0 h 376"/>
                  <a:gd name="T4" fmla="*/ 109 w 254"/>
                  <a:gd name="T5" fmla="*/ 188 h 376"/>
                  <a:gd name="T6" fmla="*/ 0 w 254"/>
                  <a:gd name="T7" fmla="*/ 376 h 376"/>
                  <a:gd name="T8" fmla="*/ 147 w 254"/>
                  <a:gd name="T9" fmla="*/ 376 h 376"/>
                  <a:gd name="T10" fmla="*/ 254 w 254"/>
                  <a:gd name="T11" fmla="*/ 188 h 376"/>
                  <a:gd name="T12" fmla="*/ 147 w 254"/>
                  <a:gd name="T13" fmla="*/ 0 h 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54" h="376">
                    <a:moveTo>
                      <a:pt x="147" y="0"/>
                    </a:moveTo>
                    <a:lnTo>
                      <a:pt x="0" y="0"/>
                    </a:lnTo>
                    <a:lnTo>
                      <a:pt x="109" y="188"/>
                    </a:lnTo>
                    <a:lnTo>
                      <a:pt x="0" y="376"/>
                    </a:lnTo>
                    <a:lnTo>
                      <a:pt x="147" y="376"/>
                    </a:lnTo>
                    <a:lnTo>
                      <a:pt x="254" y="188"/>
                    </a:lnTo>
                    <a:lnTo>
                      <a:pt x="147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non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  <a:sym typeface="HarmonyOS Sans SC" panose="00000500000000000000" charset="-122"/>
                </a:endParaRPr>
              </a:p>
            </p:txBody>
          </p:sp>
          <p:sp>
            <p:nvSpPr>
              <p:cNvPr id="138" name="@紫荆的职场Point9-4"/>
              <p:cNvSpPr/>
              <p:nvPr/>
            </p:nvSpPr>
            <p:spPr bwMode="auto">
              <a:xfrm>
                <a:off x="3931557" y="575638"/>
                <a:ext cx="400050" cy="596900"/>
              </a:xfrm>
              <a:custGeom>
                <a:avLst/>
                <a:gdLst>
                  <a:gd name="T0" fmla="*/ 145 w 252"/>
                  <a:gd name="T1" fmla="*/ 0 h 376"/>
                  <a:gd name="T2" fmla="*/ 0 w 252"/>
                  <a:gd name="T3" fmla="*/ 0 h 376"/>
                  <a:gd name="T4" fmla="*/ 107 w 252"/>
                  <a:gd name="T5" fmla="*/ 188 h 376"/>
                  <a:gd name="T6" fmla="*/ 0 w 252"/>
                  <a:gd name="T7" fmla="*/ 376 h 376"/>
                  <a:gd name="T8" fmla="*/ 145 w 252"/>
                  <a:gd name="T9" fmla="*/ 376 h 376"/>
                  <a:gd name="T10" fmla="*/ 252 w 252"/>
                  <a:gd name="T11" fmla="*/ 188 h 376"/>
                  <a:gd name="T12" fmla="*/ 145 w 252"/>
                  <a:gd name="T13" fmla="*/ 0 h 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52" h="376">
                    <a:moveTo>
                      <a:pt x="145" y="0"/>
                    </a:moveTo>
                    <a:lnTo>
                      <a:pt x="0" y="0"/>
                    </a:lnTo>
                    <a:lnTo>
                      <a:pt x="107" y="188"/>
                    </a:lnTo>
                    <a:lnTo>
                      <a:pt x="0" y="376"/>
                    </a:lnTo>
                    <a:lnTo>
                      <a:pt x="145" y="376"/>
                    </a:lnTo>
                    <a:lnTo>
                      <a:pt x="252" y="188"/>
                    </a:lnTo>
                    <a:lnTo>
                      <a:pt x="145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non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  <a:sym typeface="HarmonyOS Sans SC" panose="00000500000000000000" charset="-122"/>
                </a:endParaRPr>
              </a:p>
            </p:txBody>
          </p:sp>
        </p:grpSp>
        <p:grpSp>
          <p:nvGrpSpPr>
            <p:cNvPr id="139" name="组合 138"/>
            <p:cNvGrpSpPr>
              <a:grpSpLocks noChangeAspect="1"/>
            </p:cNvGrpSpPr>
            <p:nvPr/>
          </p:nvGrpSpPr>
          <p:grpSpPr>
            <a:xfrm rot="10800000">
              <a:off x="8954" y="1731"/>
              <a:ext cx="182" cy="119"/>
              <a:chOff x="3604531" y="575638"/>
              <a:chExt cx="727076" cy="596900"/>
            </a:xfrm>
            <a:gradFill>
              <a:gsLst>
                <a:gs pos="0">
                  <a:srgbClr val="013597">
                    <a:lumMod val="20000"/>
                    <a:lumOff val="80000"/>
                  </a:srgbClr>
                </a:gs>
                <a:gs pos="100000">
                  <a:srgbClr val="013597">
                    <a:lumMod val="20000"/>
                    <a:lumOff val="80000"/>
                  </a:srgbClr>
                </a:gs>
              </a:gsLst>
              <a:lin ang="0" scaled="0"/>
            </a:gradFill>
          </p:grpSpPr>
          <p:sp>
            <p:nvSpPr>
              <p:cNvPr id="140" name="@紫荆的职场Point9-3"/>
              <p:cNvSpPr/>
              <p:nvPr/>
            </p:nvSpPr>
            <p:spPr bwMode="auto">
              <a:xfrm>
                <a:off x="3604531" y="575638"/>
                <a:ext cx="403225" cy="596900"/>
              </a:xfrm>
              <a:custGeom>
                <a:avLst/>
                <a:gdLst>
                  <a:gd name="T0" fmla="*/ 147 w 254"/>
                  <a:gd name="T1" fmla="*/ 0 h 376"/>
                  <a:gd name="T2" fmla="*/ 0 w 254"/>
                  <a:gd name="T3" fmla="*/ 0 h 376"/>
                  <a:gd name="T4" fmla="*/ 109 w 254"/>
                  <a:gd name="T5" fmla="*/ 188 h 376"/>
                  <a:gd name="T6" fmla="*/ 0 w 254"/>
                  <a:gd name="T7" fmla="*/ 376 h 376"/>
                  <a:gd name="T8" fmla="*/ 147 w 254"/>
                  <a:gd name="T9" fmla="*/ 376 h 376"/>
                  <a:gd name="T10" fmla="*/ 254 w 254"/>
                  <a:gd name="T11" fmla="*/ 188 h 376"/>
                  <a:gd name="T12" fmla="*/ 147 w 254"/>
                  <a:gd name="T13" fmla="*/ 0 h 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54" h="376">
                    <a:moveTo>
                      <a:pt x="147" y="0"/>
                    </a:moveTo>
                    <a:lnTo>
                      <a:pt x="0" y="0"/>
                    </a:lnTo>
                    <a:lnTo>
                      <a:pt x="109" y="188"/>
                    </a:lnTo>
                    <a:lnTo>
                      <a:pt x="0" y="376"/>
                    </a:lnTo>
                    <a:lnTo>
                      <a:pt x="147" y="376"/>
                    </a:lnTo>
                    <a:lnTo>
                      <a:pt x="254" y="188"/>
                    </a:lnTo>
                    <a:lnTo>
                      <a:pt x="147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non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  <a:sym typeface="HarmonyOS Sans SC" panose="00000500000000000000" charset="-122"/>
                </a:endParaRPr>
              </a:p>
            </p:txBody>
          </p:sp>
          <p:sp>
            <p:nvSpPr>
              <p:cNvPr id="141" name="@紫荆的职场Point9-4"/>
              <p:cNvSpPr/>
              <p:nvPr/>
            </p:nvSpPr>
            <p:spPr bwMode="auto">
              <a:xfrm>
                <a:off x="3931557" y="575638"/>
                <a:ext cx="400050" cy="596900"/>
              </a:xfrm>
              <a:custGeom>
                <a:avLst/>
                <a:gdLst>
                  <a:gd name="T0" fmla="*/ 145 w 252"/>
                  <a:gd name="T1" fmla="*/ 0 h 376"/>
                  <a:gd name="T2" fmla="*/ 0 w 252"/>
                  <a:gd name="T3" fmla="*/ 0 h 376"/>
                  <a:gd name="T4" fmla="*/ 107 w 252"/>
                  <a:gd name="T5" fmla="*/ 188 h 376"/>
                  <a:gd name="T6" fmla="*/ 0 w 252"/>
                  <a:gd name="T7" fmla="*/ 376 h 376"/>
                  <a:gd name="T8" fmla="*/ 145 w 252"/>
                  <a:gd name="T9" fmla="*/ 376 h 376"/>
                  <a:gd name="T10" fmla="*/ 252 w 252"/>
                  <a:gd name="T11" fmla="*/ 188 h 376"/>
                  <a:gd name="T12" fmla="*/ 145 w 252"/>
                  <a:gd name="T13" fmla="*/ 0 h 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52" h="376">
                    <a:moveTo>
                      <a:pt x="145" y="0"/>
                    </a:moveTo>
                    <a:lnTo>
                      <a:pt x="0" y="0"/>
                    </a:lnTo>
                    <a:lnTo>
                      <a:pt x="107" y="188"/>
                    </a:lnTo>
                    <a:lnTo>
                      <a:pt x="0" y="376"/>
                    </a:lnTo>
                    <a:lnTo>
                      <a:pt x="145" y="376"/>
                    </a:lnTo>
                    <a:lnTo>
                      <a:pt x="252" y="188"/>
                    </a:lnTo>
                    <a:lnTo>
                      <a:pt x="145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non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  <a:sym typeface="HarmonyOS Sans SC" panose="00000500000000000000" charset="-122"/>
                </a:endParaRPr>
              </a:p>
            </p:txBody>
          </p:sp>
        </p:grpSp>
        <p:grpSp>
          <p:nvGrpSpPr>
            <p:cNvPr id="142" name="组合 141"/>
            <p:cNvGrpSpPr/>
            <p:nvPr/>
          </p:nvGrpSpPr>
          <p:grpSpPr>
            <a:xfrm>
              <a:off x="10266" y="1794"/>
              <a:ext cx="1789" cy="1093"/>
              <a:chOff x="3284456" y="1849460"/>
              <a:chExt cx="1672952" cy="1022264"/>
            </a:xfrm>
          </p:grpSpPr>
          <p:sp>
            <p:nvSpPr>
              <p:cNvPr id="143" name="椭圆 142"/>
              <p:cNvSpPr/>
              <p:nvPr/>
            </p:nvSpPr>
            <p:spPr>
              <a:xfrm>
                <a:off x="3500355" y="2353333"/>
                <a:ext cx="1234569" cy="207307"/>
              </a:xfrm>
              <a:prstGeom prst="ellipse">
                <a:avLst/>
              </a:prstGeom>
              <a:gradFill>
                <a:gsLst>
                  <a:gs pos="0">
                    <a:srgbClr val="013597">
                      <a:alpha val="14338"/>
                    </a:srgbClr>
                  </a:gs>
                  <a:gs pos="100000">
                    <a:srgbClr val="013597">
                      <a:alpha val="17686"/>
                    </a:srgbClr>
                  </a:gs>
                </a:gsLst>
                <a:lin ang="5400000" scaled="1"/>
              </a:gradFill>
              <a:ln w="9525" cap="flat" cmpd="sng" algn="ctr">
                <a:gradFill>
                  <a:gsLst>
                    <a:gs pos="0">
                      <a:srgbClr val="013597">
                        <a:alpha val="0"/>
                      </a:srgbClr>
                    </a:gs>
                    <a:gs pos="100000">
                      <a:srgbClr val="013597">
                        <a:alpha val="55000"/>
                      </a:srgbClr>
                    </a:gs>
                  </a:gsLst>
                  <a:lin ang="5400000" scaled="1"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rgbClr val="FFFFFF"/>
                  </a:solidFill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  <p:sp>
            <p:nvSpPr>
              <p:cNvPr id="144" name="椭圆 143"/>
              <p:cNvSpPr/>
              <p:nvPr/>
            </p:nvSpPr>
            <p:spPr>
              <a:xfrm>
                <a:off x="3600619" y="2506425"/>
                <a:ext cx="1034041" cy="207307"/>
              </a:xfrm>
              <a:prstGeom prst="ellipse">
                <a:avLst/>
              </a:prstGeom>
              <a:gradFill>
                <a:gsLst>
                  <a:gs pos="20000">
                    <a:srgbClr val="013597">
                      <a:alpha val="40000"/>
                    </a:srgbClr>
                  </a:gs>
                  <a:gs pos="86000">
                    <a:srgbClr val="013597">
                      <a:alpha val="69000"/>
                    </a:srgbClr>
                  </a:gs>
                </a:gsLst>
                <a:lin ang="5400000" scaled="1"/>
              </a:gradFill>
              <a:ln w="2222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rgbClr val="FFFFFF"/>
                  </a:solidFill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  <p:sp>
            <p:nvSpPr>
              <p:cNvPr id="145" name="椭圆 144"/>
              <p:cNvSpPr/>
              <p:nvPr/>
            </p:nvSpPr>
            <p:spPr>
              <a:xfrm>
                <a:off x="3600619" y="2553589"/>
                <a:ext cx="1034041" cy="207307"/>
              </a:xfrm>
              <a:prstGeom prst="ellipse">
                <a:avLst/>
              </a:prstGeom>
              <a:gradFill>
                <a:gsLst>
                  <a:gs pos="20000">
                    <a:srgbClr val="013597">
                      <a:alpha val="40000"/>
                    </a:srgbClr>
                  </a:gs>
                  <a:gs pos="86000">
                    <a:srgbClr val="013597">
                      <a:alpha val="69000"/>
                    </a:srgbClr>
                  </a:gs>
                </a:gsLst>
                <a:lin ang="5400000" scaled="1"/>
              </a:gradFill>
              <a:ln w="2222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rgbClr val="FFFFFF"/>
                  </a:solidFill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  <p:sp>
            <p:nvSpPr>
              <p:cNvPr id="146" name="椭圆 145"/>
              <p:cNvSpPr/>
              <p:nvPr/>
            </p:nvSpPr>
            <p:spPr>
              <a:xfrm>
                <a:off x="3455378" y="2650068"/>
                <a:ext cx="1320021" cy="221656"/>
              </a:xfrm>
              <a:prstGeom prst="ellipse">
                <a:avLst/>
              </a:prstGeom>
              <a:gradFill>
                <a:gsLst>
                  <a:gs pos="20000">
                    <a:srgbClr val="013597">
                      <a:alpha val="0"/>
                    </a:srgbClr>
                  </a:gs>
                  <a:gs pos="100000">
                    <a:srgbClr val="013597">
                      <a:alpha val="71000"/>
                    </a:srgbClr>
                  </a:gs>
                </a:gsLst>
                <a:lin ang="5400000" scaled="1"/>
              </a:gradFill>
              <a:ln w="2222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endParaRPr kumimoji="1" lang="zh-CN" altLang="en-US" dirty="0">
                  <a:solidFill>
                    <a:srgbClr val="FFFFFF"/>
                  </a:solidFill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  <p:sp>
            <p:nvSpPr>
              <p:cNvPr id="147" name="@紫荆的职场Point9-1"/>
              <p:cNvSpPr/>
              <p:nvPr/>
            </p:nvSpPr>
            <p:spPr>
              <a:xfrm flipV="1">
                <a:off x="3284456" y="1849460"/>
                <a:ext cx="1672952" cy="623174"/>
              </a:xfrm>
              <a:prstGeom prst="trapezoid">
                <a:avLst>
                  <a:gd name="adj" fmla="val 34548"/>
                </a:avLst>
              </a:prstGeom>
              <a:gradFill>
                <a:gsLst>
                  <a:gs pos="0">
                    <a:srgbClr val="013597">
                      <a:lumMod val="60000"/>
                      <a:lumOff val="40000"/>
                      <a:alpha val="0"/>
                    </a:srgbClr>
                  </a:gs>
                  <a:gs pos="95951">
                    <a:srgbClr val="013597">
                      <a:lumMod val="60000"/>
                      <a:lumOff val="40000"/>
                      <a:alpha val="0"/>
                    </a:srgbClr>
                  </a:gs>
                  <a:gs pos="28000">
                    <a:srgbClr val="013597">
                      <a:lumMod val="60000"/>
                      <a:lumOff val="40000"/>
                      <a:alpha val="18000"/>
                    </a:srgbClr>
                  </a:gs>
                </a:gsLst>
                <a:lin ang="5400000" scaled="1"/>
              </a:gra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lIns="129845" tIns="64922" rIns="129845" bIns="64922" rtlCol="0" anchor="ctr"/>
              <a:lstStyle>
                <a:defPPr>
                  <a:defRPr lang="zh-CN">
                    <a:solidFill>
                      <a:srgbClr val="FFFFFF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555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  <a:sym typeface="HarmonyOS Sans SC" panose="00000500000000000000" charset="-122"/>
                </a:endParaRPr>
              </a:p>
            </p:txBody>
          </p:sp>
        </p:grpSp>
        <p:grpSp>
          <p:nvGrpSpPr>
            <p:cNvPr id="150" name="组合 149"/>
            <p:cNvGrpSpPr>
              <a:grpSpLocks noChangeAspect="1"/>
            </p:cNvGrpSpPr>
            <p:nvPr/>
          </p:nvGrpSpPr>
          <p:grpSpPr>
            <a:xfrm>
              <a:off x="10423" y="1731"/>
              <a:ext cx="182" cy="119"/>
              <a:chOff x="3604531" y="575638"/>
              <a:chExt cx="727076" cy="596900"/>
            </a:xfrm>
            <a:gradFill>
              <a:gsLst>
                <a:gs pos="0">
                  <a:srgbClr val="013597">
                    <a:lumMod val="20000"/>
                    <a:lumOff val="80000"/>
                  </a:srgbClr>
                </a:gs>
                <a:gs pos="100000">
                  <a:srgbClr val="013597">
                    <a:lumMod val="20000"/>
                    <a:lumOff val="80000"/>
                  </a:srgbClr>
                </a:gs>
              </a:gsLst>
              <a:lin ang="0" scaled="0"/>
            </a:gradFill>
          </p:grpSpPr>
          <p:sp>
            <p:nvSpPr>
              <p:cNvPr id="151" name="@紫荆的职场Point9-3"/>
              <p:cNvSpPr/>
              <p:nvPr/>
            </p:nvSpPr>
            <p:spPr bwMode="auto">
              <a:xfrm>
                <a:off x="3604531" y="575638"/>
                <a:ext cx="403225" cy="596900"/>
              </a:xfrm>
              <a:custGeom>
                <a:avLst/>
                <a:gdLst>
                  <a:gd name="T0" fmla="*/ 147 w 254"/>
                  <a:gd name="T1" fmla="*/ 0 h 376"/>
                  <a:gd name="T2" fmla="*/ 0 w 254"/>
                  <a:gd name="T3" fmla="*/ 0 h 376"/>
                  <a:gd name="T4" fmla="*/ 109 w 254"/>
                  <a:gd name="T5" fmla="*/ 188 h 376"/>
                  <a:gd name="T6" fmla="*/ 0 w 254"/>
                  <a:gd name="T7" fmla="*/ 376 h 376"/>
                  <a:gd name="T8" fmla="*/ 147 w 254"/>
                  <a:gd name="T9" fmla="*/ 376 h 376"/>
                  <a:gd name="T10" fmla="*/ 254 w 254"/>
                  <a:gd name="T11" fmla="*/ 188 h 376"/>
                  <a:gd name="T12" fmla="*/ 147 w 254"/>
                  <a:gd name="T13" fmla="*/ 0 h 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54" h="376">
                    <a:moveTo>
                      <a:pt x="147" y="0"/>
                    </a:moveTo>
                    <a:lnTo>
                      <a:pt x="0" y="0"/>
                    </a:lnTo>
                    <a:lnTo>
                      <a:pt x="109" y="188"/>
                    </a:lnTo>
                    <a:lnTo>
                      <a:pt x="0" y="376"/>
                    </a:lnTo>
                    <a:lnTo>
                      <a:pt x="147" y="376"/>
                    </a:lnTo>
                    <a:lnTo>
                      <a:pt x="254" y="188"/>
                    </a:lnTo>
                    <a:lnTo>
                      <a:pt x="147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non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  <a:sym typeface="HarmonyOS Sans SC" panose="00000500000000000000" charset="-122"/>
                </a:endParaRPr>
              </a:p>
            </p:txBody>
          </p:sp>
          <p:sp>
            <p:nvSpPr>
              <p:cNvPr id="152" name="@紫荆的职场Point9-4"/>
              <p:cNvSpPr/>
              <p:nvPr/>
            </p:nvSpPr>
            <p:spPr bwMode="auto">
              <a:xfrm>
                <a:off x="3931557" y="575638"/>
                <a:ext cx="400050" cy="596900"/>
              </a:xfrm>
              <a:custGeom>
                <a:avLst/>
                <a:gdLst>
                  <a:gd name="T0" fmla="*/ 145 w 252"/>
                  <a:gd name="T1" fmla="*/ 0 h 376"/>
                  <a:gd name="T2" fmla="*/ 0 w 252"/>
                  <a:gd name="T3" fmla="*/ 0 h 376"/>
                  <a:gd name="T4" fmla="*/ 107 w 252"/>
                  <a:gd name="T5" fmla="*/ 188 h 376"/>
                  <a:gd name="T6" fmla="*/ 0 w 252"/>
                  <a:gd name="T7" fmla="*/ 376 h 376"/>
                  <a:gd name="T8" fmla="*/ 145 w 252"/>
                  <a:gd name="T9" fmla="*/ 376 h 376"/>
                  <a:gd name="T10" fmla="*/ 252 w 252"/>
                  <a:gd name="T11" fmla="*/ 188 h 376"/>
                  <a:gd name="T12" fmla="*/ 145 w 252"/>
                  <a:gd name="T13" fmla="*/ 0 h 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52" h="376">
                    <a:moveTo>
                      <a:pt x="145" y="0"/>
                    </a:moveTo>
                    <a:lnTo>
                      <a:pt x="0" y="0"/>
                    </a:lnTo>
                    <a:lnTo>
                      <a:pt x="107" y="188"/>
                    </a:lnTo>
                    <a:lnTo>
                      <a:pt x="0" y="376"/>
                    </a:lnTo>
                    <a:lnTo>
                      <a:pt x="145" y="376"/>
                    </a:lnTo>
                    <a:lnTo>
                      <a:pt x="252" y="188"/>
                    </a:lnTo>
                    <a:lnTo>
                      <a:pt x="145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non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  <a:sym typeface="HarmonyOS Sans SC" panose="00000500000000000000" charset="-122"/>
                </a:endParaRPr>
              </a:p>
            </p:txBody>
          </p:sp>
        </p:grpSp>
        <p:grpSp>
          <p:nvGrpSpPr>
            <p:cNvPr id="153" name="组合 152"/>
            <p:cNvGrpSpPr>
              <a:grpSpLocks noChangeAspect="1"/>
            </p:cNvGrpSpPr>
            <p:nvPr/>
          </p:nvGrpSpPr>
          <p:grpSpPr>
            <a:xfrm rot="10800000">
              <a:off x="11770" y="1731"/>
              <a:ext cx="182" cy="119"/>
              <a:chOff x="3604531" y="575638"/>
              <a:chExt cx="727076" cy="596900"/>
            </a:xfrm>
            <a:gradFill>
              <a:gsLst>
                <a:gs pos="0">
                  <a:srgbClr val="013597">
                    <a:lumMod val="20000"/>
                    <a:lumOff val="80000"/>
                  </a:srgbClr>
                </a:gs>
                <a:gs pos="100000">
                  <a:srgbClr val="013597">
                    <a:lumMod val="20000"/>
                    <a:lumOff val="80000"/>
                  </a:srgbClr>
                </a:gs>
              </a:gsLst>
              <a:lin ang="0" scaled="0"/>
            </a:gradFill>
          </p:grpSpPr>
          <p:sp>
            <p:nvSpPr>
              <p:cNvPr id="154" name="@紫荆的职场Point9-3"/>
              <p:cNvSpPr/>
              <p:nvPr/>
            </p:nvSpPr>
            <p:spPr bwMode="auto">
              <a:xfrm>
                <a:off x="3604531" y="575638"/>
                <a:ext cx="403225" cy="596900"/>
              </a:xfrm>
              <a:custGeom>
                <a:avLst/>
                <a:gdLst>
                  <a:gd name="T0" fmla="*/ 147 w 254"/>
                  <a:gd name="T1" fmla="*/ 0 h 376"/>
                  <a:gd name="T2" fmla="*/ 0 w 254"/>
                  <a:gd name="T3" fmla="*/ 0 h 376"/>
                  <a:gd name="T4" fmla="*/ 109 w 254"/>
                  <a:gd name="T5" fmla="*/ 188 h 376"/>
                  <a:gd name="T6" fmla="*/ 0 w 254"/>
                  <a:gd name="T7" fmla="*/ 376 h 376"/>
                  <a:gd name="T8" fmla="*/ 147 w 254"/>
                  <a:gd name="T9" fmla="*/ 376 h 376"/>
                  <a:gd name="T10" fmla="*/ 254 w 254"/>
                  <a:gd name="T11" fmla="*/ 188 h 376"/>
                  <a:gd name="T12" fmla="*/ 147 w 254"/>
                  <a:gd name="T13" fmla="*/ 0 h 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54" h="376">
                    <a:moveTo>
                      <a:pt x="147" y="0"/>
                    </a:moveTo>
                    <a:lnTo>
                      <a:pt x="0" y="0"/>
                    </a:lnTo>
                    <a:lnTo>
                      <a:pt x="109" y="188"/>
                    </a:lnTo>
                    <a:lnTo>
                      <a:pt x="0" y="376"/>
                    </a:lnTo>
                    <a:lnTo>
                      <a:pt x="147" y="376"/>
                    </a:lnTo>
                    <a:lnTo>
                      <a:pt x="254" y="188"/>
                    </a:lnTo>
                    <a:lnTo>
                      <a:pt x="147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non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  <a:sym typeface="HarmonyOS Sans SC" panose="00000500000000000000" charset="-122"/>
                </a:endParaRPr>
              </a:p>
            </p:txBody>
          </p:sp>
          <p:sp>
            <p:nvSpPr>
              <p:cNvPr id="155" name="@紫荆的职场Point9-4"/>
              <p:cNvSpPr/>
              <p:nvPr/>
            </p:nvSpPr>
            <p:spPr bwMode="auto">
              <a:xfrm>
                <a:off x="3931557" y="575638"/>
                <a:ext cx="400050" cy="596900"/>
              </a:xfrm>
              <a:custGeom>
                <a:avLst/>
                <a:gdLst>
                  <a:gd name="T0" fmla="*/ 145 w 252"/>
                  <a:gd name="T1" fmla="*/ 0 h 376"/>
                  <a:gd name="T2" fmla="*/ 0 w 252"/>
                  <a:gd name="T3" fmla="*/ 0 h 376"/>
                  <a:gd name="T4" fmla="*/ 107 w 252"/>
                  <a:gd name="T5" fmla="*/ 188 h 376"/>
                  <a:gd name="T6" fmla="*/ 0 w 252"/>
                  <a:gd name="T7" fmla="*/ 376 h 376"/>
                  <a:gd name="T8" fmla="*/ 145 w 252"/>
                  <a:gd name="T9" fmla="*/ 376 h 376"/>
                  <a:gd name="T10" fmla="*/ 252 w 252"/>
                  <a:gd name="T11" fmla="*/ 188 h 376"/>
                  <a:gd name="T12" fmla="*/ 145 w 252"/>
                  <a:gd name="T13" fmla="*/ 0 h 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52" h="376">
                    <a:moveTo>
                      <a:pt x="145" y="0"/>
                    </a:moveTo>
                    <a:lnTo>
                      <a:pt x="0" y="0"/>
                    </a:lnTo>
                    <a:lnTo>
                      <a:pt x="107" y="188"/>
                    </a:lnTo>
                    <a:lnTo>
                      <a:pt x="0" y="376"/>
                    </a:lnTo>
                    <a:lnTo>
                      <a:pt x="145" y="376"/>
                    </a:lnTo>
                    <a:lnTo>
                      <a:pt x="252" y="188"/>
                    </a:lnTo>
                    <a:lnTo>
                      <a:pt x="145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non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  <a:sym typeface="HarmonyOS Sans SC" panose="00000500000000000000" charset="-122"/>
                </a:endParaRPr>
              </a:p>
            </p:txBody>
          </p:sp>
        </p:grpSp>
        <p:sp>
          <p:nvSpPr>
            <p:cNvPr id="157" name="@紫荆的职场Point27-6"/>
            <p:cNvSpPr txBox="1"/>
            <p:nvPr/>
          </p:nvSpPr>
          <p:spPr>
            <a:xfrm>
              <a:off x="4994" y="1578"/>
              <a:ext cx="1120" cy="686"/>
            </a:xfrm>
            <a:prstGeom prst="rect">
              <a:avLst/>
            </a:prstGeom>
            <a:noFill/>
          </p:spPr>
          <p:txBody>
            <a:bodyPr wrap="square" lIns="0" tIns="0" rIns="0" bIns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13597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libaba PuHuiTi" pitchFamily="18" charset="-122"/>
                  <a:sym typeface="HarmonyOS Sans SC" panose="00000500000000000000" charset="-122"/>
                </a:rPr>
                <a:t>组织协同不畅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1359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  <a:sym typeface="HarmonyOS Sans SC" panose="00000500000000000000" charset="-122"/>
              </a:endParaRPr>
            </a:p>
          </p:txBody>
        </p:sp>
        <p:sp>
          <p:nvSpPr>
            <p:cNvPr id="158" name="@紫荆的职场Point27-6"/>
            <p:cNvSpPr txBox="1"/>
            <p:nvPr/>
          </p:nvSpPr>
          <p:spPr>
            <a:xfrm>
              <a:off x="7813" y="1577"/>
              <a:ext cx="1120" cy="686"/>
            </a:xfrm>
            <a:prstGeom prst="rect">
              <a:avLst/>
            </a:prstGeom>
            <a:noFill/>
          </p:spPr>
          <p:txBody>
            <a:bodyPr wrap="square" lIns="0" tIns="0" rIns="0" bIns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13597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libaba PuHuiTi" pitchFamily="18" charset="-122"/>
                  <a:sym typeface="HarmonyOS Sans SC" panose="00000500000000000000" charset="-122"/>
                </a:rPr>
                <a:t>成果转化低效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1359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  <a:sym typeface="HarmonyOS Sans SC" panose="00000500000000000000" charset="-122"/>
              </a:endParaRPr>
            </a:p>
          </p:txBody>
        </p:sp>
        <p:sp>
          <p:nvSpPr>
            <p:cNvPr id="159" name="@紫荆的职场Point27-6"/>
            <p:cNvSpPr txBox="1"/>
            <p:nvPr/>
          </p:nvSpPr>
          <p:spPr>
            <a:xfrm>
              <a:off x="10629" y="1578"/>
              <a:ext cx="1120" cy="686"/>
            </a:xfrm>
            <a:prstGeom prst="rect">
              <a:avLst/>
            </a:prstGeom>
            <a:noFill/>
          </p:spPr>
          <p:txBody>
            <a:bodyPr wrap="square" lIns="0" tIns="0" rIns="0" bIns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13597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libaba PuHuiTi" pitchFamily="18" charset="-122"/>
                  <a:sym typeface="HarmonyOS Sans SC" panose="00000500000000000000" charset="-122"/>
                </a:rPr>
                <a:t>人才机制滞后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1359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  <a:sym typeface="HarmonyOS Sans SC" panose="00000500000000000000" charset="-122"/>
              </a:endParaRPr>
            </a:p>
          </p:txBody>
        </p:sp>
      </p:grpSp>
      <p:grpSp>
        <p:nvGrpSpPr>
          <p:cNvPr id="167" name="组合 166"/>
          <p:cNvGrpSpPr/>
          <p:nvPr/>
        </p:nvGrpSpPr>
        <p:grpSpPr>
          <a:xfrm>
            <a:off x="804545" y="2878455"/>
            <a:ext cx="3322320" cy="368300"/>
            <a:chOff x="1447" y="4533"/>
            <a:chExt cx="5232" cy="580"/>
          </a:xfrm>
        </p:grpSpPr>
        <p:grpSp>
          <p:nvGrpSpPr>
            <p:cNvPr id="165" name="组合 164"/>
            <p:cNvGrpSpPr/>
            <p:nvPr/>
          </p:nvGrpSpPr>
          <p:grpSpPr>
            <a:xfrm>
              <a:off x="1447" y="4533"/>
              <a:ext cx="5232" cy="580"/>
              <a:chOff x="1126" y="4533"/>
              <a:chExt cx="5086" cy="502"/>
            </a:xfrm>
          </p:grpSpPr>
          <p:sp>
            <p:nvSpPr>
              <p:cNvPr id="162" name="任意形状 16"/>
              <p:cNvSpPr/>
              <p:nvPr/>
            </p:nvSpPr>
            <p:spPr>
              <a:xfrm>
                <a:off x="1126" y="4533"/>
                <a:ext cx="5087" cy="502"/>
              </a:xfrm>
              <a:custGeom>
                <a:avLst/>
                <a:gdLst>
                  <a:gd name="connsiteX0" fmla="*/ 2401062 w 2401061"/>
                  <a:gd name="connsiteY0" fmla="*/ 0 h 318516"/>
                  <a:gd name="connsiteX1" fmla="*/ 2401062 w 2401061"/>
                  <a:gd name="connsiteY1" fmla="*/ 318516 h 318516"/>
                  <a:gd name="connsiteX2" fmla="*/ 164592 w 2401061"/>
                  <a:gd name="connsiteY2" fmla="*/ 318516 h 318516"/>
                  <a:gd name="connsiteX3" fmla="*/ 0 w 2401061"/>
                  <a:gd name="connsiteY3" fmla="*/ 159258 h 318516"/>
                  <a:gd name="connsiteX4" fmla="*/ 164592 w 2401061"/>
                  <a:gd name="connsiteY4" fmla="*/ 0 h 318516"/>
                  <a:gd name="connsiteX5" fmla="*/ 2401062 w 2401061"/>
                  <a:gd name="connsiteY5" fmla="*/ 0 h 3185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401061" h="318516">
                    <a:moveTo>
                      <a:pt x="2401062" y="0"/>
                    </a:moveTo>
                    <a:lnTo>
                      <a:pt x="2401062" y="318516"/>
                    </a:lnTo>
                    <a:lnTo>
                      <a:pt x="164592" y="318516"/>
                    </a:lnTo>
                    <a:cubicBezTo>
                      <a:pt x="73914" y="318516"/>
                      <a:pt x="0" y="246888"/>
                      <a:pt x="0" y="159258"/>
                    </a:cubicBezTo>
                    <a:cubicBezTo>
                      <a:pt x="0" y="71628"/>
                      <a:pt x="73914" y="0"/>
                      <a:pt x="164592" y="0"/>
                    </a:cubicBezTo>
                    <a:lnTo>
                      <a:pt x="2401062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>
                      <a:alpha val="45000"/>
                      <a:lumMod val="30000"/>
                      <a:lumOff val="70000"/>
                    </a:schemeClr>
                  </a:gs>
                  <a:gs pos="90000">
                    <a:schemeClr val="accent1">
                      <a:alpha val="0"/>
                    </a:schemeClr>
                  </a:gs>
                </a:gsLst>
                <a:lin ang="0" scaled="0"/>
              </a:gradFill>
              <a:ln w="76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  <p:sp>
            <p:nvSpPr>
              <p:cNvPr id="163" name="任意形状 17"/>
              <p:cNvSpPr/>
              <p:nvPr/>
            </p:nvSpPr>
            <p:spPr>
              <a:xfrm>
                <a:off x="1201" y="4607"/>
                <a:ext cx="350" cy="350"/>
              </a:xfrm>
              <a:custGeom>
                <a:avLst/>
                <a:gdLst>
                  <a:gd name="connsiteX0" fmla="*/ 222504 w 222503"/>
                  <a:gd name="connsiteY0" fmla="*/ 111252 h 222504"/>
                  <a:gd name="connsiteX1" fmla="*/ 111252 w 222503"/>
                  <a:gd name="connsiteY1" fmla="*/ 222504 h 222504"/>
                  <a:gd name="connsiteX2" fmla="*/ 0 w 222503"/>
                  <a:gd name="connsiteY2" fmla="*/ 111252 h 222504"/>
                  <a:gd name="connsiteX3" fmla="*/ 111252 w 222503"/>
                  <a:gd name="connsiteY3" fmla="*/ 0 h 222504"/>
                  <a:gd name="connsiteX4" fmla="*/ 222504 w 222503"/>
                  <a:gd name="connsiteY4" fmla="*/ 111252 h 2225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2503" h="222504">
                    <a:moveTo>
                      <a:pt x="222504" y="111252"/>
                    </a:moveTo>
                    <a:cubicBezTo>
                      <a:pt x="222504" y="172695"/>
                      <a:pt x="172695" y="222504"/>
                      <a:pt x="111252" y="222504"/>
                    </a:cubicBezTo>
                    <a:cubicBezTo>
                      <a:pt x="49809" y="222504"/>
                      <a:pt x="0" y="172695"/>
                      <a:pt x="0" y="111252"/>
                    </a:cubicBezTo>
                    <a:cubicBezTo>
                      <a:pt x="0" y="49809"/>
                      <a:pt x="49809" y="0"/>
                      <a:pt x="111252" y="0"/>
                    </a:cubicBezTo>
                    <a:cubicBezTo>
                      <a:pt x="172695" y="0"/>
                      <a:pt x="222504" y="49809"/>
                      <a:pt x="222504" y="111252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1">
                      <a:lumMod val="80000"/>
                      <a:lumOff val="20000"/>
                    </a:schemeClr>
                  </a:gs>
                </a:gsLst>
                <a:path path="circle">
                  <a:fillToRect t="100000" r="100000"/>
                </a:path>
              </a:gradFill>
              <a:ln w="76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r>
                  <a:rPr lang="en-US" altLang="zh-CN" sz="14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libaba PuHuiTi" pitchFamily="18" charset="-122"/>
                  </a:rPr>
                  <a:t>1</a:t>
                </a:r>
                <a:endParaRPr lang="zh-CN" altLang="en-US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libaba PuHuiTi" pitchFamily="18" charset="-122"/>
                </a:endParaRPr>
              </a:p>
            </p:txBody>
          </p:sp>
        </p:grpSp>
        <p:sp>
          <p:nvSpPr>
            <p:cNvPr id="164" name="文本框 163"/>
            <p:cNvSpPr txBox="1"/>
            <p:nvPr/>
          </p:nvSpPr>
          <p:spPr>
            <a:xfrm>
              <a:off x="1884" y="4585"/>
              <a:ext cx="4006" cy="48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400" b="1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创新战略与业务战略</a:t>
              </a:r>
              <a:r>
                <a:rPr lang="en-US" sz="1400" b="1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“</a:t>
              </a:r>
              <a:r>
                <a:rPr lang="zh-CN" altLang="en-US" sz="1400" b="1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两张皮</a:t>
              </a:r>
              <a:r>
                <a:rPr lang="en-US" altLang="zh-CN" sz="1400" b="1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”</a:t>
              </a:r>
              <a:endPara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sp>
        <p:nvSpPr>
          <p:cNvPr id="166" name="文本框 165"/>
          <p:cNvSpPr txBox="1"/>
          <p:nvPr/>
        </p:nvSpPr>
        <p:spPr>
          <a:xfrm>
            <a:off x="358140" y="3246755"/>
            <a:ext cx="4180840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p"/>
            </a:pPr>
            <a:r>
              <a:rPr lang="zh-CN" altLang="en-US" sz="12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缺乏中长期技术路线图与前瞻性布局，创新投入盲目跟风；</a:t>
            </a:r>
            <a:endParaRPr lang="zh-CN" altLang="en-US" sz="1200" b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p"/>
            </a:pPr>
            <a:r>
              <a:rPr lang="zh-CN" altLang="en-US" sz="1200" b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资源配置碎片化</a:t>
            </a:r>
            <a:r>
              <a:rPr lang="zh-CN" altLang="en-US" sz="12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，重点领域投入不足与重复建设并存；</a:t>
            </a:r>
            <a:endParaRPr lang="zh-CN" altLang="en-US" sz="1200" b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p"/>
            </a:pPr>
            <a:r>
              <a:rPr lang="zh-CN" altLang="en-US" sz="1200" b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创新战略未能有效解码为可执行的年度任务与考核指标</a:t>
            </a:r>
            <a:r>
              <a:rPr lang="zh-CN" altLang="en-US" sz="12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200" b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69" name="组合 168"/>
          <p:cNvGrpSpPr/>
          <p:nvPr/>
        </p:nvGrpSpPr>
        <p:grpSpPr>
          <a:xfrm>
            <a:off x="804545" y="4557395"/>
            <a:ext cx="3322320" cy="368300"/>
            <a:chOff x="1447" y="4533"/>
            <a:chExt cx="5232" cy="580"/>
          </a:xfrm>
        </p:grpSpPr>
        <p:grpSp>
          <p:nvGrpSpPr>
            <p:cNvPr id="170" name="组合 169"/>
            <p:cNvGrpSpPr/>
            <p:nvPr/>
          </p:nvGrpSpPr>
          <p:grpSpPr>
            <a:xfrm>
              <a:off x="1447" y="4533"/>
              <a:ext cx="5232" cy="580"/>
              <a:chOff x="1126" y="4533"/>
              <a:chExt cx="5086" cy="502"/>
            </a:xfrm>
          </p:grpSpPr>
          <p:sp>
            <p:nvSpPr>
              <p:cNvPr id="171" name="任意形状 16"/>
              <p:cNvSpPr/>
              <p:nvPr/>
            </p:nvSpPr>
            <p:spPr>
              <a:xfrm>
                <a:off x="1126" y="4533"/>
                <a:ext cx="5087" cy="502"/>
              </a:xfrm>
              <a:custGeom>
                <a:avLst/>
                <a:gdLst>
                  <a:gd name="connsiteX0" fmla="*/ 2401062 w 2401061"/>
                  <a:gd name="connsiteY0" fmla="*/ 0 h 318516"/>
                  <a:gd name="connsiteX1" fmla="*/ 2401062 w 2401061"/>
                  <a:gd name="connsiteY1" fmla="*/ 318516 h 318516"/>
                  <a:gd name="connsiteX2" fmla="*/ 164592 w 2401061"/>
                  <a:gd name="connsiteY2" fmla="*/ 318516 h 318516"/>
                  <a:gd name="connsiteX3" fmla="*/ 0 w 2401061"/>
                  <a:gd name="connsiteY3" fmla="*/ 159258 h 318516"/>
                  <a:gd name="connsiteX4" fmla="*/ 164592 w 2401061"/>
                  <a:gd name="connsiteY4" fmla="*/ 0 h 318516"/>
                  <a:gd name="connsiteX5" fmla="*/ 2401062 w 2401061"/>
                  <a:gd name="connsiteY5" fmla="*/ 0 h 3185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401061" h="318516">
                    <a:moveTo>
                      <a:pt x="2401062" y="0"/>
                    </a:moveTo>
                    <a:lnTo>
                      <a:pt x="2401062" y="318516"/>
                    </a:lnTo>
                    <a:lnTo>
                      <a:pt x="164592" y="318516"/>
                    </a:lnTo>
                    <a:cubicBezTo>
                      <a:pt x="73914" y="318516"/>
                      <a:pt x="0" y="246888"/>
                      <a:pt x="0" y="159258"/>
                    </a:cubicBezTo>
                    <a:cubicBezTo>
                      <a:pt x="0" y="71628"/>
                      <a:pt x="73914" y="0"/>
                      <a:pt x="164592" y="0"/>
                    </a:cubicBezTo>
                    <a:lnTo>
                      <a:pt x="2401062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>
                      <a:alpha val="45000"/>
                      <a:lumMod val="30000"/>
                      <a:lumOff val="70000"/>
                    </a:schemeClr>
                  </a:gs>
                  <a:gs pos="90000">
                    <a:schemeClr val="accent1">
                      <a:alpha val="0"/>
                    </a:schemeClr>
                  </a:gs>
                </a:gsLst>
                <a:lin ang="0" scaled="0"/>
              </a:gradFill>
              <a:ln w="76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  <p:sp>
            <p:nvSpPr>
              <p:cNvPr id="172" name="任意形状 17"/>
              <p:cNvSpPr/>
              <p:nvPr/>
            </p:nvSpPr>
            <p:spPr>
              <a:xfrm>
                <a:off x="1201" y="4607"/>
                <a:ext cx="350" cy="350"/>
              </a:xfrm>
              <a:custGeom>
                <a:avLst/>
                <a:gdLst>
                  <a:gd name="connsiteX0" fmla="*/ 222504 w 222503"/>
                  <a:gd name="connsiteY0" fmla="*/ 111252 h 222504"/>
                  <a:gd name="connsiteX1" fmla="*/ 111252 w 222503"/>
                  <a:gd name="connsiteY1" fmla="*/ 222504 h 222504"/>
                  <a:gd name="connsiteX2" fmla="*/ 0 w 222503"/>
                  <a:gd name="connsiteY2" fmla="*/ 111252 h 222504"/>
                  <a:gd name="connsiteX3" fmla="*/ 111252 w 222503"/>
                  <a:gd name="connsiteY3" fmla="*/ 0 h 222504"/>
                  <a:gd name="connsiteX4" fmla="*/ 222504 w 222503"/>
                  <a:gd name="connsiteY4" fmla="*/ 111252 h 2225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2503" h="222504">
                    <a:moveTo>
                      <a:pt x="222504" y="111252"/>
                    </a:moveTo>
                    <a:cubicBezTo>
                      <a:pt x="222504" y="172695"/>
                      <a:pt x="172695" y="222504"/>
                      <a:pt x="111252" y="222504"/>
                    </a:cubicBezTo>
                    <a:cubicBezTo>
                      <a:pt x="49809" y="222504"/>
                      <a:pt x="0" y="172695"/>
                      <a:pt x="0" y="111252"/>
                    </a:cubicBezTo>
                    <a:cubicBezTo>
                      <a:pt x="0" y="49809"/>
                      <a:pt x="49809" y="0"/>
                      <a:pt x="111252" y="0"/>
                    </a:cubicBezTo>
                    <a:cubicBezTo>
                      <a:pt x="172695" y="0"/>
                      <a:pt x="222504" y="49809"/>
                      <a:pt x="222504" y="111252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1">
                      <a:lumMod val="80000"/>
                      <a:lumOff val="20000"/>
                    </a:schemeClr>
                  </a:gs>
                </a:gsLst>
                <a:path path="circle">
                  <a:fillToRect t="100000" r="100000"/>
                </a:path>
              </a:gradFill>
              <a:ln w="76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r>
                  <a:rPr lang="en-US" altLang="zh-CN" sz="14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libaba PuHuiTi" pitchFamily="18" charset="-122"/>
                  </a:rPr>
                  <a:t>2</a:t>
                </a:r>
                <a:endParaRPr lang="en-US" altLang="zh-CN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libaba PuHuiTi" pitchFamily="18" charset="-122"/>
                </a:endParaRPr>
              </a:p>
            </p:txBody>
          </p:sp>
        </p:grpSp>
        <p:sp>
          <p:nvSpPr>
            <p:cNvPr id="173" name="文本框 172"/>
            <p:cNvSpPr txBox="1"/>
            <p:nvPr/>
          </p:nvSpPr>
          <p:spPr>
            <a:xfrm>
              <a:off x="2051" y="4570"/>
              <a:ext cx="3492" cy="48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400" b="1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研发与产业协同机制缺失</a:t>
              </a:r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sp>
        <p:nvSpPr>
          <p:cNvPr id="174" name="文本框 173"/>
          <p:cNvSpPr txBox="1"/>
          <p:nvPr/>
        </p:nvSpPr>
        <p:spPr>
          <a:xfrm>
            <a:off x="358775" y="4868545"/>
            <a:ext cx="4077970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p"/>
            </a:pPr>
            <a:r>
              <a:rPr lang="zh-CN" altLang="en-US" sz="12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研发部门与市场部门壁垒严重，</a:t>
            </a:r>
            <a:r>
              <a:rPr lang="zh-CN" altLang="en-US" sz="1200" b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需求传导机制失灵</a:t>
            </a:r>
            <a:r>
              <a:rPr lang="zh-CN" altLang="en-US" sz="12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zh-CN" altLang="en-US" sz="1200" b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p"/>
            </a:pPr>
            <a:r>
              <a:rPr lang="zh-CN" altLang="en-US" sz="1200" b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跨部门协同流程冗长</a:t>
            </a:r>
            <a:r>
              <a:rPr lang="zh-CN" altLang="en-US" sz="12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，决策效率低下，错失市场窗口期；</a:t>
            </a:r>
            <a:endParaRPr lang="zh-CN" altLang="en-US" sz="1200" b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p"/>
            </a:pPr>
            <a:r>
              <a:rPr lang="zh-CN" altLang="en-US" sz="1200" b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缺乏统一的创新统筹平台</a:t>
            </a:r>
            <a:r>
              <a:rPr lang="zh-CN" altLang="en-US" sz="12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，内部创新资源难以共享。</a:t>
            </a:r>
            <a:endParaRPr lang="zh-CN" altLang="en-US" sz="1200" b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77" name="组合 176"/>
          <p:cNvGrpSpPr/>
          <p:nvPr/>
        </p:nvGrpSpPr>
        <p:grpSpPr>
          <a:xfrm>
            <a:off x="4757420" y="2878455"/>
            <a:ext cx="3322320" cy="368300"/>
            <a:chOff x="1447" y="4533"/>
            <a:chExt cx="5232" cy="580"/>
          </a:xfrm>
        </p:grpSpPr>
        <p:grpSp>
          <p:nvGrpSpPr>
            <p:cNvPr id="178" name="组合 177"/>
            <p:cNvGrpSpPr/>
            <p:nvPr/>
          </p:nvGrpSpPr>
          <p:grpSpPr>
            <a:xfrm>
              <a:off x="1447" y="4533"/>
              <a:ext cx="5232" cy="580"/>
              <a:chOff x="1126" y="4533"/>
              <a:chExt cx="5086" cy="502"/>
            </a:xfrm>
          </p:grpSpPr>
          <p:sp>
            <p:nvSpPr>
              <p:cNvPr id="179" name="任意形状 16"/>
              <p:cNvSpPr/>
              <p:nvPr/>
            </p:nvSpPr>
            <p:spPr>
              <a:xfrm>
                <a:off x="1126" y="4533"/>
                <a:ext cx="5087" cy="502"/>
              </a:xfrm>
              <a:custGeom>
                <a:avLst/>
                <a:gdLst>
                  <a:gd name="connsiteX0" fmla="*/ 2401062 w 2401061"/>
                  <a:gd name="connsiteY0" fmla="*/ 0 h 318516"/>
                  <a:gd name="connsiteX1" fmla="*/ 2401062 w 2401061"/>
                  <a:gd name="connsiteY1" fmla="*/ 318516 h 318516"/>
                  <a:gd name="connsiteX2" fmla="*/ 164592 w 2401061"/>
                  <a:gd name="connsiteY2" fmla="*/ 318516 h 318516"/>
                  <a:gd name="connsiteX3" fmla="*/ 0 w 2401061"/>
                  <a:gd name="connsiteY3" fmla="*/ 159258 h 318516"/>
                  <a:gd name="connsiteX4" fmla="*/ 164592 w 2401061"/>
                  <a:gd name="connsiteY4" fmla="*/ 0 h 318516"/>
                  <a:gd name="connsiteX5" fmla="*/ 2401062 w 2401061"/>
                  <a:gd name="connsiteY5" fmla="*/ 0 h 3185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401061" h="318516">
                    <a:moveTo>
                      <a:pt x="2401062" y="0"/>
                    </a:moveTo>
                    <a:lnTo>
                      <a:pt x="2401062" y="318516"/>
                    </a:lnTo>
                    <a:lnTo>
                      <a:pt x="164592" y="318516"/>
                    </a:lnTo>
                    <a:cubicBezTo>
                      <a:pt x="73914" y="318516"/>
                      <a:pt x="0" y="246888"/>
                      <a:pt x="0" y="159258"/>
                    </a:cubicBezTo>
                    <a:cubicBezTo>
                      <a:pt x="0" y="71628"/>
                      <a:pt x="73914" y="0"/>
                      <a:pt x="164592" y="0"/>
                    </a:cubicBezTo>
                    <a:lnTo>
                      <a:pt x="2401062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>
                      <a:alpha val="45000"/>
                      <a:lumMod val="30000"/>
                      <a:lumOff val="70000"/>
                    </a:schemeClr>
                  </a:gs>
                  <a:gs pos="90000">
                    <a:schemeClr val="accent1">
                      <a:alpha val="0"/>
                    </a:schemeClr>
                  </a:gs>
                </a:gsLst>
                <a:lin ang="0" scaled="0"/>
              </a:gradFill>
              <a:ln w="76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  <p:sp>
            <p:nvSpPr>
              <p:cNvPr id="185" name="任意形状 17"/>
              <p:cNvSpPr/>
              <p:nvPr/>
            </p:nvSpPr>
            <p:spPr>
              <a:xfrm>
                <a:off x="1201" y="4607"/>
                <a:ext cx="350" cy="350"/>
              </a:xfrm>
              <a:custGeom>
                <a:avLst/>
                <a:gdLst>
                  <a:gd name="connsiteX0" fmla="*/ 222504 w 222503"/>
                  <a:gd name="connsiteY0" fmla="*/ 111252 h 222504"/>
                  <a:gd name="connsiteX1" fmla="*/ 111252 w 222503"/>
                  <a:gd name="connsiteY1" fmla="*/ 222504 h 222504"/>
                  <a:gd name="connsiteX2" fmla="*/ 0 w 222503"/>
                  <a:gd name="connsiteY2" fmla="*/ 111252 h 222504"/>
                  <a:gd name="connsiteX3" fmla="*/ 111252 w 222503"/>
                  <a:gd name="connsiteY3" fmla="*/ 0 h 222504"/>
                  <a:gd name="connsiteX4" fmla="*/ 222504 w 222503"/>
                  <a:gd name="connsiteY4" fmla="*/ 111252 h 2225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2503" h="222504">
                    <a:moveTo>
                      <a:pt x="222504" y="111252"/>
                    </a:moveTo>
                    <a:cubicBezTo>
                      <a:pt x="222504" y="172695"/>
                      <a:pt x="172695" y="222504"/>
                      <a:pt x="111252" y="222504"/>
                    </a:cubicBezTo>
                    <a:cubicBezTo>
                      <a:pt x="49809" y="222504"/>
                      <a:pt x="0" y="172695"/>
                      <a:pt x="0" y="111252"/>
                    </a:cubicBezTo>
                    <a:cubicBezTo>
                      <a:pt x="0" y="49809"/>
                      <a:pt x="49809" y="0"/>
                      <a:pt x="111252" y="0"/>
                    </a:cubicBezTo>
                    <a:cubicBezTo>
                      <a:pt x="172695" y="0"/>
                      <a:pt x="222504" y="49809"/>
                      <a:pt x="222504" y="111252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1">
                      <a:lumMod val="80000"/>
                      <a:lumOff val="20000"/>
                    </a:schemeClr>
                  </a:gs>
                </a:gsLst>
                <a:path path="circle">
                  <a:fillToRect t="100000" r="100000"/>
                </a:path>
              </a:gradFill>
              <a:ln w="76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r>
                  <a:rPr lang="en-US" altLang="zh-CN" sz="14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libaba PuHuiTi" pitchFamily="18" charset="-122"/>
                  </a:rPr>
                  <a:t>3</a:t>
                </a:r>
                <a:endParaRPr lang="en-US" altLang="zh-CN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libaba PuHuiTi" pitchFamily="18" charset="-122"/>
                </a:endParaRPr>
              </a:p>
            </p:txBody>
          </p:sp>
        </p:grpSp>
        <p:sp>
          <p:nvSpPr>
            <p:cNvPr id="186" name="文本框 185"/>
            <p:cNvSpPr txBox="1"/>
            <p:nvPr/>
          </p:nvSpPr>
          <p:spPr>
            <a:xfrm>
              <a:off x="2131" y="4585"/>
              <a:ext cx="3164" cy="48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400" b="1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科技成果转化链条断裂</a:t>
              </a:r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sp>
        <p:nvSpPr>
          <p:cNvPr id="187" name="文本框 186"/>
          <p:cNvSpPr txBox="1"/>
          <p:nvPr/>
        </p:nvSpPr>
        <p:spPr>
          <a:xfrm>
            <a:off x="4459605" y="3246755"/>
            <a:ext cx="3667760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p"/>
            </a:pPr>
            <a:r>
              <a:rPr lang="zh-CN" altLang="en-US" sz="1200" b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重研发轻转化</a:t>
            </a:r>
            <a:r>
              <a:rPr lang="zh-CN" altLang="en-US" sz="12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，中试环节投入不足、能力缺失；</a:t>
            </a:r>
            <a:endParaRPr lang="zh-CN" altLang="en-US" sz="1200" b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p"/>
            </a:pPr>
            <a:r>
              <a:rPr lang="zh-CN" altLang="en-US" sz="1200" b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缺乏专业化成果转化机构与市场化运营团队</a:t>
            </a:r>
            <a:r>
              <a:rPr lang="zh-CN" altLang="en-US" sz="12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zh-CN" altLang="en-US" sz="1200" b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p"/>
            </a:pPr>
            <a:r>
              <a:rPr lang="zh-CN" altLang="en-US" sz="1200" b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科技成果与市场需求脱节</a:t>
            </a:r>
            <a:r>
              <a:rPr lang="zh-CN" altLang="en-US" sz="12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，产业化成功率偏低。</a:t>
            </a:r>
            <a:endParaRPr lang="zh-CN" altLang="en-US" sz="1200" b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88" name="组合 187"/>
          <p:cNvGrpSpPr/>
          <p:nvPr/>
        </p:nvGrpSpPr>
        <p:grpSpPr>
          <a:xfrm>
            <a:off x="4708525" y="4557395"/>
            <a:ext cx="3322320" cy="368300"/>
            <a:chOff x="1447" y="4533"/>
            <a:chExt cx="5232" cy="580"/>
          </a:xfrm>
        </p:grpSpPr>
        <p:grpSp>
          <p:nvGrpSpPr>
            <p:cNvPr id="203" name="组合 202"/>
            <p:cNvGrpSpPr/>
            <p:nvPr/>
          </p:nvGrpSpPr>
          <p:grpSpPr>
            <a:xfrm>
              <a:off x="1447" y="4533"/>
              <a:ext cx="5232" cy="580"/>
              <a:chOff x="1126" y="4533"/>
              <a:chExt cx="5086" cy="502"/>
            </a:xfrm>
          </p:grpSpPr>
          <p:sp>
            <p:nvSpPr>
              <p:cNvPr id="218" name="任意形状 16"/>
              <p:cNvSpPr/>
              <p:nvPr/>
            </p:nvSpPr>
            <p:spPr>
              <a:xfrm>
                <a:off x="1126" y="4533"/>
                <a:ext cx="5087" cy="502"/>
              </a:xfrm>
              <a:custGeom>
                <a:avLst/>
                <a:gdLst>
                  <a:gd name="connsiteX0" fmla="*/ 2401062 w 2401061"/>
                  <a:gd name="connsiteY0" fmla="*/ 0 h 318516"/>
                  <a:gd name="connsiteX1" fmla="*/ 2401062 w 2401061"/>
                  <a:gd name="connsiteY1" fmla="*/ 318516 h 318516"/>
                  <a:gd name="connsiteX2" fmla="*/ 164592 w 2401061"/>
                  <a:gd name="connsiteY2" fmla="*/ 318516 h 318516"/>
                  <a:gd name="connsiteX3" fmla="*/ 0 w 2401061"/>
                  <a:gd name="connsiteY3" fmla="*/ 159258 h 318516"/>
                  <a:gd name="connsiteX4" fmla="*/ 164592 w 2401061"/>
                  <a:gd name="connsiteY4" fmla="*/ 0 h 318516"/>
                  <a:gd name="connsiteX5" fmla="*/ 2401062 w 2401061"/>
                  <a:gd name="connsiteY5" fmla="*/ 0 h 3185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401061" h="318516">
                    <a:moveTo>
                      <a:pt x="2401062" y="0"/>
                    </a:moveTo>
                    <a:lnTo>
                      <a:pt x="2401062" y="318516"/>
                    </a:lnTo>
                    <a:lnTo>
                      <a:pt x="164592" y="318516"/>
                    </a:lnTo>
                    <a:cubicBezTo>
                      <a:pt x="73914" y="318516"/>
                      <a:pt x="0" y="246888"/>
                      <a:pt x="0" y="159258"/>
                    </a:cubicBezTo>
                    <a:cubicBezTo>
                      <a:pt x="0" y="71628"/>
                      <a:pt x="73914" y="0"/>
                      <a:pt x="164592" y="0"/>
                    </a:cubicBezTo>
                    <a:lnTo>
                      <a:pt x="2401062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>
                      <a:alpha val="45000"/>
                      <a:lumMod val="30000"/>
                      <a:lumOff val="70000"/>
                    </a:schemeClr>
                  </a:gs>
                  <a:gs pos="90000">
                    <a:schemeClr val="accent1">
                      <a:alpha val="0"/>
                    </a:schemeClr>
                  </a:gs>
                </a:gsLst>
                <a:lin ang="0" scaled="0"/>
              </a:gradFill>
              <a:ln w="76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  <p:sp>
            <p:nvSpPr>
              <p:cNvPr id="234" name="任意形状 17"/>
              <p:cNvSpPr/>
              <p:nvPr/>
            </p:nvSpPr>
            <p:spPr>
              <a:xfrm>
                <a:off x="1201" y="4607"/>
                <a:ext cx="350" cy="350"/>
              </a:xfrm>
              <a:custGeom>
                <a:avLst/>
                <a:gdLst>
                  <a:gd name="connsiteX0" fmla="*/ 222504 w 222503"/>
                  <a:gd name="connsiteY0" fmla="*/ 111252 h 222504"/>
                  <a:gd name="connsiteX1" fmla="*/ 111252 w 222503"/>
                  <a:gd name="connsiteY1" fmla="*/ 222504 h 222504"/>
                  <a:gd name="connsiteX2" fmla="*/ 0 w 222503"/>
                  <a:gd name="connsiteY2" fmla="*/ 111252 h 222504"/>
                  <a:gd name="connsiteX3" fmla="*/ 111252 w 222503"/>
                  <a:gd name="connsiteY3" fmla="*/ 0 h 222504"/>
                  <a:gd name="connsiteX4" fmla="*/ 222504 w 222503"/>
                  <a:gd name="connsiteY4" fmla="*/ 111252 h 2225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2503" h="222504">
                    <a:moveTo>
                      <a:pt x="222504" y="111252"/>
                    </a:moveTo>
                    <a:cubicBezTo>
                      <a:pt x="222504" y="172695"/>
                      <a:pt x="172695" y="222504"/>
                      <a:pt x="111252" y="222504"/>
                    </a:cubicBezTo>
                    <a:cubicBezTo>
                      <a:pt x="49809" y="222504"/>
                      <a:pt x="0" y="172695"/>
                      <a:pt x="0" y="111252"/>
                    </a:cubicBezTo>
                    <a:cubicBezTo>
                      <a:pt x="0" y="49809"/>
                      <a:pt x="49809" y="0"/>
                      <a:pt x="111252" y="0"/>
                    </a:cubicBezTo>
                    <a:cubicBezTo>
                      <a:pt x="172695" y="0"/>
                      <a:pt x="222504" y="49809"/>
                      <a:pt x="222504" y="111252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1">
                      <a:lumMod val="80000"/>
                      <a:lumOff val="20000"/>
                    </a:schemeClr>
                  </a:gs>
                </a:gsLst>
                <a:path path="circle">
                  <a:fillToRect t="100000" r="100000"/>
                </a:path>
              </a:gradFill>
              <a:ln w="76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r>
                  <a:rPr lang="en-US" altLang="zh-CN" sz="14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libaba PuHuiTi" pitchFamily="18" charset="-122"/>
                  </a:rPr>
                  <a:t>4</a:t>
                </a:r>
                <a:endParaRPr lang="en-US" altLang="zh-CN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libaba PuHuiTi" pitchFamily="18" charset="-122"/>
                </a:endParaRPr>
              </a:p>
            </p:txBody>
          </p:sp>
        </p:grpSp>
        <p:sp>
          <p:nvSpPr>
            <p:cNvPr id="235" name="文本框 234"/>
            <p:cNvSpPr txBox="1"/>
            <p:nvPr/>
          </p:nvSpPr>
          <p:spPr>
            <a:xfrm>
              <a:off x="2208" y="4585"/>
              <a:ext cx="3226" cy="48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400" b="1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创新人才激励机制滞后</a:t>
              </a:r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sp>
        <p:nvSpPr>
          <p:cNvPr id="236" name="文本框 235"/>
          <p:cNvSpPr txBox="1"/>
          <p:nvPr/>
        </p:nvSpPr>
        <p:spPr>
          <a:xfrm>
            <a:off x="4459605" y="4887595"/>
            <a:ext cx="3915410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p"/>
            </a:pPr>
            <a:r>
              <a:rPr lang="zh-CN" altLang="en-US" sz="12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过度侧重短期业绩考核，</a:t>
            </a:r>
            <a:r>
              <a:rPr lang="zh-CN" altLang="en-US" sz="1200" b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缺乏长周期研发考核机制</a:t>
            </a:r>
            <a:r>
              <a:rPr lang="zh-CN" altLang="en-US" sz="12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zh-CN" altLang="en-US" sz="1200" b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p"/>
            </a:pPr>
            <a:r>
              <a:rPr lang="zh-CN" altLang="en-US" sz="1200" b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中长期激励覆盖面窄、力度不足</a:t>
            </a:r>
            <a:r>
              <a:rPr lang="zh-CN" altLang="en-US" sz="12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，难以留住核心人才；</a:t>
            </a:r>
            <a:endParaRPr lang="zh-CN" altLang="en-US" sz="1200" b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p"/>
            </a:pPr>
            <a:r>
              <a:rPr lang="zh-CN" altLang="en-US" sz="1200" b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复合型创新人才短缺</a:t>
            </a:r>
            <a:r>
              <a:rPr lang="zh-CN" altLang="en-US" sz="12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，跨学科团队建设滞后。</a:t>
            </a:r>
            <a:endParaRPr lang="zh-CN" altLang="en-US" sz="1200" b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7" name="上箭头 236"/>
          <p:cNvSpPr/>
          <p:nvPr/>
        </p:nvSpPr>
        <p:spPr>
          <a:xfrm rot="5400000">
            <a:off x="8206105" y="2934335"/>
            <a:ext cx="647700" cy="309880"/>
          </a:xfrm>
          <a:prstGeom prst="upArrow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accent1"/>
              </a:gs>
            </a:gsLst>
            <a:lin ang="16200000" scaled="1"/>
          </a:gra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kumimoji="1" lang="zh-CN" altLang="en-US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238" name="任意形状 8"/>
          <p:cNvSpPr/>
          <p:nvPr/>
        </p:nvSpPr>
        <p:spPr>
          <a:xfrm>
            <a:off x="8685530" y="1826895"/>
            <a:ext cx="3173730" cy="4513580"/>
          </a:xfrm>
          <a:custGeom>
            <a:avLst/>
            <a:gdLst>
              <a:gd name="connsiteX0" fmla="*/ 0 w 2702052"/>
              <a:gd name="connsiteY0" fmla="*/ 0 h 2467356"/>
              <a:gd name="connsiteX1" fmla="*/ 2702052 w 2702052"/>
              <a:gd name="connsiteY1" fmla="*/ 0 h 2467356"/>
              <a:gd name="connsiteX2" fmla="*/ 2702052 w 2702052"/>
              <a:gd name="connsiteY2" fmla="*/ 2467356 h 2467356"/>
              <a:gd name="connsiteX3" fmla="*/ 0 w 2702052"/>
              <a:gd name="connsiteY3" fmla="*/ 2467356 h 2467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02052" h="2467356">
                <a:moveTo>
                  <a:pt x="0" y="0"/>
                </a:moveTo>
                <a:lnTo>
                  <a:pt x="2702052" y="0"/>
                </a:lnTo>
                <a:lnTo>
                  <a:pt x="2702052" y="2467356"/>
                </a:lnTo>
                <a:lnTo>
                  <a:pt x="0" y="2467356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  <a:alpha val="40000"/>
            </a:schemeClr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cxnSp>
        <p:nvCxnSpPr>
          <p:cNvPr id="239" name="直线连接符 73"/>
          <p:cNvCxnSpPr/>
          <p:nvPr/>
        </p:nvCxnSpPr>
        <p:spPr>
          <a:xfrm>
            <a:off x="8803904" y="1952170"/>
            <a:ext cx="0" cy="4221480"/>
          </a:xfrm>
          <a:prstGeom prst="line">
            <a:avLst/>
          </a:prstGeom>
          <a:ln w="15875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0" name="任意形状 68"/>
          <p:cNvSpPr/>
          <p:nvPr/>
        </p:nvSpPr>
        <p:spPr>
          <a:xfrm>
            <a:off x="8764534" y="2055667"/>
            <a:ext cx="83820" cy="83820"/>
          </a:xfrm>
          <a:custGeom>
            <a:avLst/>
            <a:gdLst>
              <a:gd name="connsiteX0" fmla="*/ 83820 w 83820"/>
              <a:gd name="connsiteY0" fmla="*/ 41910 h 83820"/>
              <a:gd name="connsiteX1" fmla="*/ 41910 w 83820"/>
              <a:gd name="connsiteY1" fmla="*/ 83820 h 83820"/>
              <a:gd name="connsiteX2" fmla="*/ 0 w 83820"/>
              <a:gd name="connsiteY2" fmla="*/ 41910 h 83820"/>
              <a:gd name="connsiteX3" fmla="*/ 41910 w 83820"/>
              <a:gd name="connsiteY3" fmla="*/ 0 h 83820"/>
              <a:gd name="connsiteX4" fmla="*/ 83820 w 83820"/>
              <a:gd name="connsiteY4" fmla="*/ 41910 h 83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820" h="83820">
                <a:moveTo>
                  <a:pt x="83820" y="41910"/>
                </a:moveTo>
                <a:cubicBezTo>
                  <a:pt x="83820" y="65056"/>
                  <a:pt x="65056" y="83820"/>
                  <a:pt x="41910" y="83820"/>
                </a:cubicBezTo>
                <a:cubicBezTo>
                  <a:pt x="18764" y="83820"/>
                  <a:pt x="0" y="65056"/>
                  <a:pt x="0" y="41910"/>
                </a:cubicBezTo>
                <a:cubicBezTo>
                  <a:pt x="0" y="18764"/>
                  <a:pt x="18764" y="0"/>
                  <a:pt x="41910" y="0"/>
                </a:cubicBezTo>
                <a:cubicBezTo>
                  <a:pt x="65056" y="0"/>
                  <a:pt x="83820" y="18764"/>
                  <a:pt x="83820" y="41910"/>
                </a:cubicBezTo>
                <a:close/>
              </a:path>
            </a:pathLst>
          </a:custGeom>
          <a:solidFill>
            <a:schemeClr val="accent1"/>
          </a:solidFill>
          <a:ln w="1524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241" name="文本框 240"/>
          <p:cNvSpPr txBox="1"/>
          <p:nvPr/>
        </p:nvSpPr>
        <p:spPr>
          <a:xfrm>
            <a:off x="9471343" y="1905635"/>
            <a:ext cx="1804035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打造原创技术策源地</a:t>
            </a:r>
            <a:endParaRPr lang="zh-CN" altLang="en-US" sz="1400" b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2" name="文本框 241"/>
          <p:cNvSpPr txBox="1"/>
          <p:nvPr/>
        </p:nvSpPr>
        <p:spPr>
          <a:xfrm>
            <a:off x="8763635" y="2139315"/>
            <a:ext cx="3219450" cy="10502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ü"/>
            </a:pPr>
            <a:r>
              <a:rPr lang="zh-CN" altLang="en-US" sz="12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加大基础研究与前沿技术投入，突破关键核心技术；</a:t>
            </a:r>
            <a:endParaRPr lang="zh-CN" altLang="en-US" sz="1200" b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ü"/>
            </a:pPr>
            <a:r>
              <a:rPr lang="zh-CN" altLang="en-US" sz="12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构建自主可控技术体系，引领行业技术发展方向。</a:t>
            </a:r>
            <a:endParaRPr lang="en-US" altLang="zh-CN" sz="1200" b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3" name="任意形状 68"/>
          <p:cNvSpPr/>
          <p:nvPr/>
        </p:nvSpPr>
        <p:spPr>
          <a:xfrm>
            <a:off x="8764534" y="3244387"/>
            <a:ext cx="83820" cy="83820"/>
          </a:xfrm>
          <a:custGeom>
            <a:avLst/>
            <a:gdLst>
              <a:gd name="connsiteX0" fmla="*/ 83820 w 83820"/>
              <a:gd name="connsiteY0" fmla="*/ 41910 h 83820"/>
              <a:gd name="connsiteX1" fmla="*/ 41910 w 83820"/>
              <a:gd name="connsiteY1" fmla="*/ 83820 h 83820"/>
              <a:gd name="connsiteX2" fmla="*/ 0 w 83820"/>
              <a:gd name="connsiteY2" fmla="*/ 41910 h 83820"/>
              <a:gd name="connsiteX3" fmla="*/ 41910 w 83820"/>
              <a:gd name="connsiteY3" fmla="*/ 0 h 83820"/>
              <a:gd name="connsiteX4" fmla="*/ 83820 w 83820"/>
              <a:gd name="connsiteY4" fmla="*/ 41910 h 83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820" h="83820">
                <a:moveTo>
                  <a:pt x="83820" y="41910"/>
                </a:moveTo>
                <a:cubicBezTo>
                  <a:pt x="83820" y="65056"/>
                  <a:pt x="65056" y="83820"/>
                  <a:pt x="41910" y="83820"/>
                </a:cubicBezTo>
                <a:cubicBezTo>
                  <a:pt x="18764" y="83820"/>
                  <a:pt x="0" y="65056"/>
                  <a:pt x="0" y="41910"/>
                </a:cubicBezTo>
                <a:cubicBezTo>
                  <a:pt x="0" y="18764"/>
                  <a:pt x="18764" y="0"/>
                  <a:pt x="41910" y="0"/>
                </a:cubicBezTo>
                <a:cubicBezTo>
                  <a:pt x="65056" y="0"/>
                  <a:pt x="83820" y="18764"/>
                  <a:pt x="83820" y="41910"/>
                </a:cubicBezTo>
                <a:close/>
              </a:path>
            </a:pathLst>
          </a:custGeom>
          <a:solidFill>
            <a:schemeClr val="accent1"/>
          </a:solidFill>
          <a:ln w="1524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244" name="文本框 243"/>
          <p:cNvSpPr txBox="1"/>
          <p:nvPr/>
        </p:nvSpPr>
        <p:spPr>
          <a:xfrm>
            <a:off x="9545320" y="3094355"/>
            <a:ext cx="1656080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构建产业创新生态</a:t>
            </a:r>
            <a:endParaRPr lang="zh-CN" altLang="en-US" sz="1400" b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5" name="文本框 244"/>
          <p:cNvSpPr txBox="1"/>
          <p:nvPr/>
        </p:nvSpPr>
        <p:spPr>
          <a:xfrm>
            <a:off x="8763635" y="3328035"/>
            <a:ext cx="3219450" cy="10502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ü"/>
            </a:pPr>
            <a:r>
              <a:rPr lang="zh-CN" altLang="en-US" sz="12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牵头组建创新联合体，整合产业链上下游创新资源；</a:t>
            </a:r>
            <a:endParaRPr lang="zh-CN" altLang="en-US" sz="1200" b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ü"/>
            </a:pPr>
            <a:r>
              <a:rPr lang="zh-CN" altLang="en-US" sz="12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推动产学研深度融合，提升产业链整体竞争力。</a:t>
            </a:r>
            <a:endParaRPr lang="zh-CN" altLang="en-US" sz="1200" b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6" name="任意形状 68"/>
          <p:cNvSpPr/>
          <p:nvPr/>
        </p:nvSpPr>
        <p:spPr>
          <a:xfrm>
            <a:off x="8764534" y="4408977"/>
            <a:ext cx="83820" cy="83820"/>
          </a:xfrm>
          <a:custGeom>
            <a:avLst/>
            <a:gdLst>
              <a:gd name="connsiteX0" fmla="*/ 83820 w 83820"/>
              <a:gd name="connsiteY0" fmla="*/ 41910 h 83820"/>
              <a:gd name="connsiteX1" fmla="*/ 41910 w 83820"/>
              <a:gd name="connsiteY1" fmla="*/ 83820 h 83820"/>
              <a:gd name="connsiteX2" fmla="*/ 0 w 83820"/>
              <a:gd name="connsiteY2" fmla="*/ 41910 h 83820"/>
              <a:gd name="connsiteX3" fmla="*/ 41910 w 83820"/>
              <a:gd name="connsiteY3" fmla="*/ 0 h 83820"/>
              <a:gd name="connsiteX4" fmla="*/ 83820 w 83820"/>
              <a:gd name="connsiteY4" fmla="*/ 41910 h 83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820" h="83820">
                <a:moveTo>
                  <a:pt x="83820" y="41910"/>
                </a:moveTo>
                <a:cubicBezTo>
                  <a:pt x="83820" y="65056"/>
                  <a:pt x="65056" y="83820"/>
                  <a:pt x="41910" y="83820"/>
                </a:cubicBezTo>
                <a:cubicBezTo>
                  <a:pt x="18764" y="83820"/>
                  <a:pt x="0" y="65056"/>
                  <a:pt x="0" y="41910"/>
                </a:cubicBezTo>
                <a:cubicBezTo>
                  <a:pt x="0" y="18764"/>
                  <a:pt x="18764" y="0"/>
                  <a:pt x="41910" y="0"/>
                </a:cubicBezTo>
                <a:cubicBezTo>
                  <a:pt x="65056" y="0"/>
                  <a:pt x="83820" y="18764"/>
                  <a:pt x="83820" y="41910"/>
                </a:cubicBezTo>
                <a:close/>
              </a:path>
            </a:pathLst>
          </a:custGeom>
          <a:solidFill>
            <a:schemeClr val="accent1"/>
          </a:solidFill>
          <a:ln w="1524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247" name="文本框 246"/>
          <p:cNvSpPr txBox="1"/>
          <p:nvPr/>
        </p:nvSpPr>
        <p:spPr>
          <a:xfrm>
            <a:off x="9464993" y="4250690"/>
            <a:ext cx="1816735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培育新质生产力引擎</a:t>
            </a:r>
            <a:endParaRPr lang="zh-CN" altLang="en-US" sz="1400" b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8" name="文本框 247"/>
          <p:cNvSpPr txBox="1"/>
          <p:nvPr/>
        </p:nvSpPr>
        <p:spPr>
          <a:xfrm>
            <a:off x="8763635" y="4492625"/>
            <a:ext cx="3219450" cy="810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ü"/>
            </a:pPr>
            <a:r>
              <a:rPr lang="zh-CN" altLang="en-US" sz="12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构建现代化创新管理体系，提升创新效率与效益；</a:t>
            </a:r>
            <a:endParaRPr lang="zh-CN" altLang="en-US" sz="1200" b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ü"/>
            </a:pPr>
            <a:r>
              <a:rPr lang="zh-CN" altLang="en-US" sz="12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以技术创新催生新产业、新模式、新赛道。</a:t>
            </a:r>
            <a:endParaRPr lang="zh-CN" altLang="en-US" sz="1200" b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9" name="任意形状 68"/>
          <p:cNvSpPr/>
          <p:nvPr/>
        </p:nvSpPr>
        <p:spPr>
          <a:xfrm>
            <a:off x="8764534" y="5386242"/>
            <a:ext cx="83820" cy="83820"/>
          </a:xfrm>
          <a:custGeom>
            <a:avLst/>
            <a:gdLst>
              <a:gd name="connsiteX0" fmla="*/ 83820 w 83820"/>
              <a:gd name="connsiteY0" fmla="*/ 41910 h 83820"/>
              <a:gd name="connsiteX1" fmla="*/ 41910 w 83820"/>
              <a:gd name="connsiteY1" fmla="*/ 83820 h 83820"/>
              <a:gd name="connsiteX2" fmla="*/ 0 w 83820"/>
              <a:gd name="connsiteY2" fmla="*/ 41910 h 83820"/>
              <a:gd name="connsiteX3" fmla="*/ 41910 w 83820"/>
              <a:gd name="connsiteY3" fmla="*/ 0 h 83820"/>
              <a:gd name="connsiteX4" fmla="*/ 83820 w 83820"/>
              <a:gd name="connsiteY4" fmla="*/ 41910 h 83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820" h="83820">
                <a:moveTo>
                  <a:pt x="83820" y="41910"/>
                </a:moveTo>
                <a:cubicBezTo>
                  <a:pt x="83820" y="65056"/>
                  <a:pt x="65056" y="83820"/>
                  <a:pt x="41910" y="83820"/>
                </a:cubicBezTo>
                <a:cubicBezTo>
                  <a:pt x="18764" y="83820"/>
                  <a:pt x="0" y="65056"/>
                  <a:pt x="0" y="41910"/>
                </a:cubicBezTo>
                <a:cubicBezTo>
                  <a:pt x="0" y="18764"/>
                  <a:pt x="18764" y="0"/>
                  <a:pt x="41910" y="0"/>
                </a:cubicBezTo>
                <a:cubicBezTo>
                  <a:pt x="65056" y="0"/>
                  <a:pt x="83820" y="18764"/>
                  <a:pt x="83820" y="41910"/>
                </a:cubicBezTo>
                <a:close/>
              </a:path>
            </a:pathLst>
          </a:custGeom>
          <a:solidFill>
            <a:schemeClr val="accent1"/>
          </a:solidFill>
          <a:ln w="1524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250" name="文本框 249"/>
          <p:cNvSpPr txBox="1"/>
          <p:nvPr/>
        </p:nvSpPr>
        <p:spPr>
          <a:xfrm>
            <a:off x="9545320" y="5236210"/>
            <a:ext cx="1656080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建设全球人才高地</a:t>
            </a:r>
            <a:endParaRPr lang="zh-CN" altLang="en-US" sz="1400" b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1" name="文本框 250"/>
          <p:cNvSpPr txBox="1"/>
          <p:nvPr/>
        </p:nvSpPr>
        <p:spPr>
          <a:xfrm>
            <a:off x="8763635" y="5469890"/>
            <a:ext cx="3219450" cy="810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ü"/>
            </a:pPr>
            <a:r>
              <a:rPr lang="zh-CN" altLang="en-US" sz="12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完善人才培养、引进、使用机制，集聚全球顶尖人才</a:t>
            </a:r>
            <a:endParaRPr lang="zh-CN" altLang="en-US" sz="1200" b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ü"/>
            </a:pPr>
            <a:r>
              <a:rPr lang="zh-CN" altLang="en-US" sz="12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打造具有国际竞争力的人才发展环境</a:t>
            </a:r>
            <a:endParaRPr lang="zh-CN" altLang="en-US" sz="1200" b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2" name="上箭头 251"/>
          <p:cNvSpPr/>
          <p:nvPr/>
        </p:nvSpPr>
        <p:spPr>
          <a:xfrm rot="5400000">
            <a:off x="8205470" y="4203065"/>
            <a:ext cx="647700" cy="309880"/>
          </a:xfrm>
          <a:prstGeom prst="upArrow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accent1"/>
              </a:gs>
            </a:gsLst>
            <a:lin ang="16200000" scaled="1"/>
          </a:gra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kumimoji="1" lang="zh-CN" altLang="en-US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254" name="上箭头 253"/>
          <p:cNvSpPr/>
          <p:nvPr/>
        </p:nvSpPr>
        <p:spPr>
          <a:xfrm rot="5400000">
            <a:off x="8205470" y="5471160"/>
            <a:ext cx="647700" cy="311150"/>
          </a:xfrm>
          <a:prstGeom prst="upArrow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accent1"/>
              </a:gs>
            </a:gsLst>
            <a:lin ang="16200000" scaled="1"/>
          </a:gra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kumimoji="1" lang="zh-CN" altLang="en-US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7240905" y="0"/>
            <a:ext cx="4952365" cy="259080"/>
            <a:chOff x="11403" y="0"/>
            <a:chExt cx="7799" cy="408"/>
          </a:xfrm>
        </p:grpSpPr>
        <p:sp>
          <p:nvSpPr>
            <p:cNvPr id="24" name="矩形 23"/>
            <p:cNvSpPr/>
            <p:nvPr/>
          </p:nvSpPr>
          <p:spPr>
            <a:xfrm>
              <a:off x="11403" y="0"/>
              <a:ext cx="1540" cy="40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规划背景</a:t>
              </a:r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12969" y="0"/>
              <a:ext cx="1540" cy="408"/>
            </a:xfrm>
            <a:prstGeom prst="rect">
              <a:avLst/>
            </a:prstGeom>
            <a:solidFill>
              <a:schemeClr val="accent6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顶层</a:t>
              </a: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设计</a:t>
              </a:r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14534" y="0"/>
              <a:ext cx="1540" cy="408"/>
            </a:xfrm>
            <a:prstGeom prst="rect">
              <a:avLst/>
            </a:prstGeom>
            <a:solidFill>
              <a:schemeClr val="accent6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重点任务</a:t>
              </a:r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6099" y="0"/>
              <a:ext cx="1538" cy="408"/>
            </a:xfrm>
            <a:prstGeom prst="rect">
              <a:avLst/>
            </a:prstGeom>
            <a:solidFill>
              <a:schemeClr val="accent6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保障机制</a:t>
              </a:r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17662" y="0"/>
              <a:ext cx="1540" cy="408"/>
            </a:xfrm>
            <a:prstGeom prst="rect">
              <a:avLst/>
            </a:prstGeom>
            <a:solidFill>
              <a:schemeClr val="accent6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实施路径</a:t>
              </a:r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/>
          <p:cNvSpPr/>
          <p:nvPr/>
        </p:nvSpPr>
        <p:spPr>
          <a:xfrm>
            <a:off x="684530" y="2382520"/>
            <a:ext cx="101600" cy="34442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</a:fld>
            <a:endParaRPr lang="en-US" altLang="zh-CN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0399" y="89535"/>
            <a:ext cx="10858500" cy="102870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sz="2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顶层设计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| 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以全链条核心技术攻关为主线，以创新平台建设、成果转化体系、人才发展体系为三大核心抓手，配套五大保障机制，打造自主可控、安全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高效的核心技术体系</a:t>
            </a:r>
            <a:endParaRPr lang="zh-CN" altLang="en-US" sz="2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等腰三角形 2"/>
          <p:cNvSpPr/>
          <p:nvPr/>
        </p:nvSpPr>
        <p:spPr>
          <a:xfrm>
            <a:off x="450850" y="1183640"/>
            <a:ext cx="11170285" cy="72136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495993" y="1327468"/>
            <a:ext cx="5080000" cy="60769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400" b="1">
                <a:solidFill>
                  <a:schemeClr val="bg1"/>
                </a:solidFill>
              </a:rPr>
              <a:t>打造自主可控、安全高效的核心技术体系</a:t>
            </a:r>
            <a:endParaRPr lang="zh-CN" altLang="en-US" sz="1400" b="1">
              <a:solidFill>
                <a:schemeClr val="bg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zh-CN" altLang="en-US" sz="1400" b="1">
                <a:solidFill>
                  <a:schemeClr val="bg1"/>
                </a:solidFill>
              </a:rPr>
              <a:t>成为行业领先的原创技术策源地与产业创新高地</a:t>
            </a:r>
            <a:endParaRPr lang="zh-CN" altLang="en-US" sz="1400" b="1">
              <a:solidFill>
                <a:schemeClr val="bg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450850" y="2011045"/>
            <a:ext cx="608965" cy="4311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原则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158240" y="1986280"/>
            <a:ext cx="10462895" cy="447040"/>
          </a:xfrm>
          <a:prstGeom prst="rect">
            <a:avLst/>
          </a:prstGeom>
          <a:solidFill>
            <a:schemeClr val="accent3">
              <a:lumMod val="20000"/>
              <a:lumOff val="80000"/>
              <a:alpha val="40000"/>
            </a:schemeClr>
          </a:solidFill>
          <a:ln w="635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1361440" y="2031365"/>
            <a:ext cx="1686560" cy="36131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战略引领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3479165" y="2031365"/>
            <a:ext cx="1686560" cy="36131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自主可控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5596890" y="2031365"/>
            <a:ext cx="1686560" cy="36131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开放协同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7714615" y="2031365"/>
            <a:ext cx="1686560" cy="36131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市场导向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9832340" y="2031365"/>
            <a:ext cx="1686560" cy="36131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动态优化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450850" y="2548255"/>
            <a:ext cx="608965" cy="31330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重点任务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158240" y="2548255"/>
            <a:ext cx="10462260" cy="3141980"/>
          </a:xfrm>
          <a:prstGeom prst="rect">
            <a:avLst/>
          </a:prstGeom>
          <a:solidFill>
            <a:schemeClr val="accent3">
              <a:lumMod val="20000"/>
              <a:lumOff val="80000"/>
              <a:alpha val="40000"/>
            </a:schemeClr>
          </a:solidFill>
          <a:ln w="635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450850" y="5787390"/>
            <a:ext cx="608965" cy="4311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机制保障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158240" y="5786120"/>
            <a:ext cx="10462895" cy="436880"/>
          </a:xfrm>
          <a:prstGeom prst="rect">
            <a:avLst/>
          </a:prstGeom>
          <a:solidFill>
            <a:schemeClr val="accent3">
              <a:lumMod val="20000"/>
              <a:lumOff val="80000"/>
              <a:alpha val="40000"/>
            </a:schemeClr>
          </a:solidFill>
          <a:ln w="635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燕尾形 17"/>
          <p:cNvSpPr/>
          <p:nvPr/>
        </p:nvSpPr>
        <p:spPr>
          <a:xfrm>
            <a:off x="1249680" y="5845810"/>
            <a:ext cx="2352675" cy="336550"/>
          </a:xfrm>
          <a:prstGeom prst="chevron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资金保障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燕尾形 19"/>
          <p:cNvSpPr/>
          <p:nvPr/>
        </p:nvSpPr>
        <p:spPr>
          <a:xfrm>
            <a:off x="3888740" y="5845810"/>
            <a:ext cx="2352675" cy="336550"/>
          </a:xfrm>
          <a:prstGeom prst="chevron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能力保障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燕尾形 20"/>
          <p:cNvSpPr/>
          <p:nvPr/>
        </p:nvSpPr>
        <p:spPr>
          <a:xfrm>
            <a:off x="6527800" y="5845810"/>
            <a:ext cx="2352675" cy="336550"/>
          </a:xfrm>
          <a:prstGeom prst="chevron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知识产权保障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燕尾形 21"/>
          <p:cNvSpPr/>
          <p:nvPr/>
        </p:nvSpPr>
        <p:spPr>
          <a:xfrm>
            <a:off x="9166860" y="5845810"/>
            <a:ext cx="2352675" cy="336550"/>
          </a:xfrm>
          <a:prstGeom prst="chevron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文化保障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608455" y="2613660"/>
            <a:ext cx="9801225" cy="370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构建以全链条核心技术攻关为主线，以创新平台建设、成果转化体系、人才发展体系为抓手的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1+3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”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科技创新实施路径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5" name="对角圆角矩形 24"/>
          <p:cNvSpPr/>
          <p:nvPr/>
        </p:nvSpPr>
        <p:spPr>
          <a:xfrm>
            <a:off x="1813560" y="3022600"/>
            <a:ext cx="1788160" cy="274320"/>
          </a:xfrm>
          <a:prstGeom prst="round2Diag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条主线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对角圆角矩形 25"/>
          <p:cNvSpPr/>
          <p:nvPr/>
        </p:nvSpPr>
        <p:spPr>
          <a:xfrm>
            <a:off x="7122160" y="3022600"/>
            <a:ext cx="1788160" cy="274320"/>
          </a:xfrm>
          <a:prstGeom prst="round2Diag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大核心抓手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1280160" y="3388360"/>
            <a:ext cx="2855595" cy="2204085"/>
          </a:xfrm>
          <a:prstGeom prst="round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50000"/>
              </a:schemeClr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4201160" y="3378200"/>
            <a:ext cx="7317740" cy="2213610"/>
          </a:xfrm>
          <a:prstGeom prst="round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50000"/>
              </a:schemeClr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4824413" y="3416935"/>
            <a:ext cx="1280160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accent2"/>
                </a:solidFill>
              </a:rPr>
              <a:t>创新平台建设</a:t>
            </a:r>
            <a:endParaRPr lang="zh-CN" altLang="en-US" sz="1400" b="1">
              <a:solidFill>
                <a:schemeClr val="accent2"/>
              </a:solidFill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4307840" y="3726815"/>
            <a:ext cx="2313305" cy="1744345"/>
          </a:xfrm>
          <a:prstGeom prst="rect">
            <a:avLst/>
          </a:prstGeom>
          <a:solidFill>
            <a:schemeClr val="accent5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just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搭建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决策-咨询-管理-实施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四级联动组织架构；</a:t>
            </a:r>
            <a:endParaRPr lang="en-US" altLang="zh-CN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 algn="just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争创国家、省、市多级创新平台体系；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 algn="just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搭建产学研用协同、产业链联动的全球开放合作网络。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7218998" y="3416935"/>
            <a:ext cx="1280160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accent2"/>
                </a:solidFill>
              </a:rPr>
              <a:t>成果转化体系</a:t>
            </a:r>
            <a:endParaRPr lang="zh-CN" altLang="en-US" sz="1400" b="1">
              <a:solidFill>
                <a:schemeClr val="accent2"/>
              </a:solidFill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6702425" y="3726815"/>
            <a:ext cx="2313305" cy="1744345"/>
          </a:xfrm>
          <a:prstGeom prst="rect">
            <a:avLst/>
          </a:prstGeom>
          <a:solidFill>
            <a:schemeClr val="accent5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just">
              <a:lnSpc>
                <a:spcPct val="130000"/>
              </a:lnSpc>
              <a:buFont typeface="Wingdings" panose="05000000000000000000" charset="0"/>
              <a:buChar char="p"/>
            </a:pP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构建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源头激活-载体培育-市场流通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三级全链条转化体系；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 algn="just">
              <a:lnSpc>
                <a:spcPct val="130000"/>
              </a:lnSpc>
              <a:buFont typeface="Wingdings" panose="05000000000000000000" charset="0"/>
              <a:buChar char="p"/>
            </a:pP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建立二维项目分类管控机制；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 algn="just">
              <a:lnSpc>
                <a:spcPct val="130000"/>
              </a:lnSpc>
              <a:buFont typeface="Wingdings" panose="05000000000000000000" charset="0"/>
              <a:buChar char="p"/>
            </a:pP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健全多层次协同工作机制，打通从技术到产业的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最后一公里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9612948" y="3416935"/>
            <a:ext cx="1280160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accent2"/>
                </a:solidFill>
              </a:rPr>
              <a:t>人才发展体系</a:t>
            </a:r>
            <a:endParaRPr lang="zh-CN" altLang="en-US" sz="1400" b="1">
              <a:solidFill>
                <a:schemeClr val="accent2"/>
              </a:solidFill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9096375" y="3726815"/>
            <a:ext cx="2313305" cy="1744345"/>
          </a:xfrm>
          <a:prstGeom prst="rect">
            <a:avLst/>
          </a:prstGeom>
          <a:solidFill>
            <a:schemeClr val="accent5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just">
              <a:lnSpc>
                <a:spcPct val="130000"/>
              </a:lnSpc>
              <a:buFont typeface="Wingdings" panose="05000000000000000000" charset="0"/>
              <a:buChar char="p"/>
            </a:pP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构建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选-用-育-激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全链条人才发展机制；</a:t>
            </a:r>
            <a:endParaRPr lang="en-US" altLang="zh-CN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 algn="just">
              <a:lnSpc>
                <a:spcPct val="130000"/>
              </a:lnSpc>
              <a:buFont typeface="Wingdings" panose="05000000000000000000" charset="0"/>
              <a:buChar char="p"/>
            </a:pP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建立分类分层人才评价体系；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 algn="just">
              <a:lnSpc>
                <a:spcPct val="130000"/>
              </a:lnSpc>
              <a:buFont typeface="Wingdings" panose="05000000000000000000" charset="0"/>
              <a:buChar char="p"/>
            </a:pP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实施股权、期权、分红等多元化中长期激励；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 algn="just">
              <a:lnSpc>
                <a:spcPct val="130000"/>
              </a:lnSpc>
              <a:buFont typeface="Wingdings" panose="05000000000000000000" charset="0"/>
              <a:buChar char="p"/>
            </a:pP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营造鼓励创新、宽容失败的创新文化氛围。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1794193" y="3420110"/>
            <a:ext cx="1827530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accent1"/>
                </a:solidFill>
              </a:rPr>
              <a:t>全链条核心技术攻关</a:t>
            </a:r>
            <a:endParaRPr lang="zh-CN" altLang="en-US" sz="1400" b="1">
              <a:solidFill>
                <a:schemeClr val="accent1"/>
              </a:solidFill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1361440" y="3726815"/>
            <a:ext cx="2647315" cy="1744345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just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构建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基础研究-技术攻关-产业化应用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分层分类全链条攻关体系；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 algn="just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建立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战略价值×技术成熟度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二维矩阵，实施差异化攻关策略；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 algn="just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明确关键攻关节点，设置量化里程碑指标。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7240905" y="0"/>
            <a:ext cx="4952365" cy="259080"/>
            <a:chOff x="11403" y="0"/>
            <a:chExt cx="7799" cy="408"/>
          </a:xfrm>
        </p:grpSpPr>
        <p:sp>
          <p:nvSpPr>
            <p:cNvPr id="29" name="矩形 28"/>
            <p:cNvSpPr/>
            <p:nvPr/>
          </p:nvSpPr>
          <p:spPr>
            <a:xfrm>
              <a:off x="11403" y="0"/>
              <a:ext cx="1540" cy="408"/>
            </a:xfrm>
            <a:prstGeom prst="rect">
              <a:avLst/>
            </a:prstGeom>
            <a:solidFill>
              <a:schemeClr val="accent6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规划背景</a:t>
              </a:r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12969" y="0"/>
              <a:ext cx="1540" cy="40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顶层</a:t>
              </a: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设计</a:t>
              </a:r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矩形 30"/>
            <p:cNvSpPr/>
            <p:nvPr/>
          </p:nvSpPr>
          <p:spPr>
            <a:xfrm>
              <a:off x="14534" y="0"/>
              <a:ext cx="1540" cy="408"/>
            </a:xfrm>
            <a:prstGeom prst="rect">
              <a:avLst/>
            </a:prstGeom>
            <a:solidFill>
              <a:schemeClr val="accent6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重点任务</a:t>
              </a:r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16099" y="0"/>
              <a:ext cx="1538" cy="408"/>
            </a:xfrm>
            <a:prstGeom prst="rect">
              <a:avLst/>
            </a:prstGeom>
            <a:solidFill>
              <a:schemeClr val="accent6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保障机制</a:t>
              </a:r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矩形 32"/>
            <p:cNvSpPr/>
            <p:nvPr/>
          </p:nvSpPr>
          <p:spPr>
            <a:xfrm>
              <a:off x="17662" y="0"/>
              <a:ext cx="1540" cy="408"/>
            </a:xfrm>
            <a:prstGeom prst="rect">
              <a:avLst/>
            </a:prstGeom>
            <a:solidFill>
              <a:schemeClr val="accent6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实施路径</a:t>
              </a:r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</a:fld>
            <a:endParaRPr lang="en-US" altLang="zh-CN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0399" y="89535"/>
            <a:ext cx="10858500" cy="102870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sz="2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重点任务一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| </a:t>
            </a:r>
            <a:r>
              <a:rPr sz="2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运用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sz="2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五看三定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sz="2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方法论，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构建分层分类核心技术攻关体系</a:t>
            </a:r>
            <a:endParaRPr lang="zh-CN" altLang="en-US" sz="2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占位符 9"/>
          <p:cNvSpPr>
            <a:spLocks noGrp="1"/>
          </p:cNvSpPr>
          <p:nvPr/>
        </p:nvSpPr>
        <p:spPr>
          <a:xfrm>
            <a:off x="566420" y="1118235"/>
            <a:ext cx="11171555" cy="838200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noAutofit/>
          </a:bodyPr>
          <a:lstStyle>
            <a:lvl1pPr marL="0" indent="0" algn="just" defTabSz="914400" rtl="0" eaLnBrk="1" latinLnBrk="0" hangingPunct="1">
              <a:lnSpc>
                <a:spcPct val="120000"/>
              </a:lnSpc>
              <a:spcBef>
                <a:spcPts val="0"/>
              </a:spcBef>
              <a:buFontTx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精准承接国家核心技术攻关战略要求，锚定企业科技创新发展目标，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运用华为 "五看三定" 战略方法论，构建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基础研究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技术攻关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产业化应用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全链条分层分类攻关体系，集中力量突破关键核心技术瓶颈，打造自主可控的核心技术体系。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9" name="任意形状 1"/>
          <p:cNvSpPr/>
          <p:nvPr/>
        </p:nvSpPr>
        <p:spPr>
          <a:xfrm>
            <a:off x="436880" y="1857375"/>
            <a:ext cx="11171555" cy="866140"/>
          </a:xfrm>
          <a:custGeom>
            <a:avLst/>
            <a:gdLst>
              <a:gd name="connsiteX0" fmla="*/ 0 w 11277600"/>
              <a:gd name="connsiteY0" fmla="*/ 0 h 1014222"/>
              <a:gd name="connsiteX1" fmla="*/ 11277600 w 11277600"/>
              <a:gd name="connsiteY1" fmla="*/ 0 h 1014222"/>
              <a:gd name="connsiteX2" fmla="*/ 11277600 w 11277600"/>
              <a:gd name="connsiteY2" fmla="*/ 1014222 h 1014222"/>
              <a:gd name="connsiteX3" fmla="*/ 0 w 11277600"/>
              <a:gd name="connsiteY3" fmla="*/ 1014222 h 10142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77600" h="1014222">
                <a:moveTo>
                  <a:pt x="0" y="0"/>
                </a:moveTo>
                <a:lnTo>
                  <a:pt x="11277600" y="0"/>
                </a:lnTo>
                <a:lnTo>
                  <a:pt x="11277600" y="1014222"/>
                </a:lnTo>
                <a:lnTo>
                  <a:pt x="0" y="1014222"/>
                </a:lnTo>
                <a:close/>
              </a:path>
            </a:pathLst>
          </a:custGeom>
          <a:solidFill>
            <a:schemeClr val="accent5">
              <a:alpha val="50000"/>
            </a:schemeClr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4385310" y="1857375"/>
            <a:ext cx="3168650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五看洞察：系统扫描技术创新机会点</a:t>
            </a:r>
            <a:endParaRPr lang="zh-CN" altLang="en-US" sz="1400" b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1100138" y="2245995"/>
            <a:ext cx="9845040" cy="386715"/>
            <a:chOff x="2378" y="3536"/>
            <a:chExt cx="15504" cy="609"/>
          </a:xfrm>
        </p:grpSpPr>
        <p:sp>
          <p:nvSpPr>
            <p:cNvPr id="30" name="任意形状 2"/>
            <p:cNvSpPr/>
            <p:nvPr/>
          </p:nvSpPr>
          <p:spPr>
            <a:xfrm>
              <a:off x="2378" y="3537"/>
              <a:ext cx="2580" cy="608"/>
            </a:xfrm>
            <a:prstGeom prst="roundRect">
              <a:avLst/>
            </a:prstGeom>
            <a:pattFill prst="ltUpDiag">
              <a:fgClr>
                <a:srgbClr val="EFEFEF"/>
              </a:fgClr>
              <a:bgClr>
                <a:srgbClr val="FFFFFF"/>
              </a:bgClr>
            </a:patt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Alibaba PuHuiTi" pitchFamily="18" charset="-122"/>
                <a:ea typeface="Alibaba PuHuiTi" pitchFamily="18" charset="-122"/>
                <a:cs typeface="Alibaba PuHuiTi" pitchFamily="18" charset="-122"/>
              </a:endParaRPr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2952" y="3600"/>
              <a:ext cx="1433" cy="48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indent="0" algn="just"/>
              <a:r>
                <a:rPr lang="zh-CN" altLang="en-US" sz="1400" b="1" i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宏观趋势</a:t>
              </a:r>
              <a:endParaRPr lang="zh-CN" altLang="en-US" sz="1400" b="1" i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0" name="任意形状 2"/>
            <p:cNvSpPr/>
            <p:nvPr/>
          </p:nvSpPr>
          <p:spPr>
            <a:xfrm>
              <a:off x="5609" y="3537"/>
              <a:ext cx="2580" cy="608"/>
            </a:xfrm>
            <a:prstGeom prst="roundRect">
              <a:avLst/>
            </a:prstGeom>
            <a:pattFill prst="ltUpDiag">
              <a:fgClr>
                <a:srgbClr val="EFEFEF"/>
              </a:fgClr>
              <a:bgClr>
                <a:srgbClr val="FFFFFF"/>
              </a:bgClr>
            </a:patt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Alibaba PuHuiTi" pitchFamily="18" charset="-122"/>
                <a:ea typeface="Alibaba PuHuiTi" pitchFamily="18" charset="-122"/>
                <a:cs typeface="Alibaba PuHuiTi" pitchFamily="18" charset="-122"/>
              </a:endParaRPr>
            </a:p>
          </p:txBody>
        </p:sp>
        <p:sp>
          <p:nvSpPr>
            <p:cNvPr id="51" name="任意形状 2"/>
            <p:cNvSpPr/>
            <p:nvPr/>
          </p:nvSpPr>
          <p:spPr>
            <a:xfrm>
              <a:off x="8840" y="3537"/>
              <a:ext cx="2580" cy="608"/>
            </a:xfrm>
            <a:prstGeom prst="roundRect">
              <a:avLst/>
            </a:prstGeom>
            <a:pattFill prst="ltUpDiag">
              <a:fgClr>
                <a:srgbClr val="EFEFEF"/>
              </a:fgClr>
              <a:bgClr>
                <a:srgbClr val="FFFFFF"/>
              </a:bgClr>
            </a:patt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Alibaba PuHuiTi" pitchFamily="18" charset="-122"/>
                <a:ea typeface="Alibaba PuHuiTi" pitchFamily="18" charset="-122"/>
                <a:cs typeface="Alibaba PuHuiTi" pitchFamily="18" charset="-122"/>
              </a:endParaRPr>
            </a:p>
          </p:txBody>
        </p:sp>
        <p:sp>
          <p:nvSpPr>
            <p:cNvPr id="52" name="任意形状 2"/>
            <p:cNvSpPr/>
            <p:nvPr/>
          </p:nvSpPr>
          <p:spPr>
            <a:xfrm>
              <a:off x="12071" y="3536"/>
              <a:ext cx="2580" cy="608"/>
            </a:xfrm>
            <a:prstGeom prst="roundRect">
              <a:avLst/>
            </a:prstGeom>
            <a:pattFill prst="ltUpDiag">
              <a:fgClr>
                <a:srgbClr val="EFEFEF"/>
              </a:fgClr>
              <a:bgClr>
                <a:srgbClr val="FFFFFF"/>
              </a:bgClr>
            </a:patt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Alibaba PuHuiTi" pitchFamily="18" charset="-122"/>
                <a:ea typeface="Alibaba PuHuiTi" pitchFamily="18" charset="-122"/>
                <a:cs typeface="Alibaba PuHuiTi" pitchFamily="18" charset="-122"/>
              </a:endParaRPr>
            </a:p>
          </p:txBody>
        </p:sp>
        <p:sp>
          <p:nvSpPr>
            <p:cNvPr id="53" name="任意形状 2"/>
            <p:cNvSpPr/>
            <p:nvPr/>
          </p:nvSpPr>
          <p:spPr>
            <a:xfrm>
              <a:off x="15302" y="3537"/>
              <a:ext cx="2580" cy="608"/>
            </a:xfrm>
            <a:prstGeom prst="roundRect">
              <a:avLst/>
            </a:prstGeom>
            <a:pattFill prst="ltUpDiag">
              <a:fgClr>
                <a:srgbClr val="EFEFEF"/>
              </a:fgClr>
              <a:bgClr>
                <a:srgbClr val="FFFFFF"/>
              </a:bgClr>
            </a:patt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Alibaba PuHuiTi" pitchFamily="18" charset="-122"/>
                <a:ea typeface="Alibaba PuHuiTi" pitchFamily="18" charset="-122"/>
                <a:cs typeface="Alibaba PuHuiTi" pitchFamily="18" charset="-122"/>
              </a:endParaRPr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6182" y="3600"/>
              <a:ext cx="1433" cy="48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indent="0" algn="just"/>
              <a:r>
                <a:rPr lang="zh-CN" altLang="en-US" sz="1400" b="1" i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市场客户</a:t>
              </a:r>
              <a:endParaRPr lang="zh-CN" altLang="en-US" sz="1400" b="1" i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6" name="文本框 55"/>
            <p:cNvSpPr txBox="1"/>
            <p:nvPr/>
          </p:nvSpPr>
          <p:spPr>
            <a:xfrm>
              <a:off x="15875" y="3600"/>
              <a:ext cx="1433" cy="48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indent="0" algn="just"/>
              <a:r>
                <a:rPr lang="zh-CN" altLang="en-US" sz="1400" b="1" i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合作伙伴</a:t>
              </a:r>
              <a:endParaRPr lang="zh-CN" altLang="en-US" sz="1400" b="1" i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12645" y="3600"/>
              <a:ext cx="1433" cy="48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indent="0" algn="just"/>
              <a:r>
                <a:rPr lang="zh-CN" altLang="en-US" sz="1400" b="1" i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自身机会</a:t>
              </a:r>
              <a:endParaRPr lang="zh-CN" altLang="en-US" sz="1400" b="1" i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9413" y="3600"/>
              <a:ext cx="1433" cy="48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indent="0" algn="just"/>
              <a:r>
                <a:rPr lang="zh-CN" altLang="en-US" sz="1400" b="1" i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竞争对手</a:t>
              </a:r>
              <a:endParaRPr lang="zh-CN" altLang="en-US" sz="1400" b="1" i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9" name="文本框 58"/>
          <p:cNvSpPr txBox="1"/>
          <p:nvPr/>
        </p:nvSpPr>
        <p:spPr>
          <a:xfrm>
            <a:off x="4515485" y="2813050"/>
            <a:ext cx="3168650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三定落地：构建全链条精准攻关体系</a:t>
            </a:r>
            <a:endParaRPr lang="zh-CN" altLang="en-US" sz="1400" b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任意形状 1"/>
          <p:cNvSpPr/>
          <p:nvPr/>
        </p:nvSpPr>
        <p:spPr>
          <a:xfrm>
            <a:off x="2370455" y="3165475"/>
            <a:ext cx="5992495" cy="3042285"/>
          </a:xfrm>
          <a:custGeom>
            <a:avLst/>
            <a:gdLst>
              <a:gd name="connsiteX0" fmla="*/ 0 w 2773680"/>
              <a:gd name="connsiteY0" fmla="*/ 0 h 131063"/>
              <a:gd name="connsiteX1" fmla="*/ 2773680 w 2773680"/>
              <a:gd name="connsiteY1" fmla="*/ 0 h 131063"/>
              <a:gd name="connsiteX2" fmla="*/ 2773680 w 2773680"/>
              <a:gd name="connsiteY2" fmla="*/ 131064 h 131063"/>
              <a:gd name="connsiteX3" fmla="*/ 0 w 2773680"/>
              <a:gd name="connsiteY3" fmla="*/ 131064 h 1310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73680" h="131063">
                <a:moveTo>
                  <a:pt x="0" y="0"/>
                </a:moveTo>
                <a:lnTo>
                  <a:pt x="2773680" y="0"/>
                </a:lnTo>
                <a:lnTo>
                  <a:pt x="2773680" y="131064"/>
                </a:lnTo>
                <a:lnTo>
                  <a:pt x="0" y="131064"/>
                </a:lnTo>
                <a:close/>
              </a:path>
            </a:pathLst>
          </a:custGeom>
          <a:gradFill>
            <a:gsLst>
              <a:gs pos="100000">
                <a:schemeClr val="accent3">
                  <a:lumMod val="20000"/>
                  <a:lumOff val="80000"/>
                </a:schemeClr>
              </a:gs>
              <a:gs pos="0">
                <a:schemeClr val="bg1">
                  <a:alpha val="0"/>
                </a:schemeClr>
              </a:gs>
            </a:gsLst>
            <a:lin ang="16200000" scaled="0"/>
          </a:gradFill>
          <a:ln w="20678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u="none" strike="noStrike" kern="1200" cap="none" spc="0" normalizeH="0" baseline="0" noProof="0">
              <a:ln>
                <a:noFill/>
              </a:ln>
              <a:solidFill>
                <a:srgbClr val="383535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63" name="任意多边形 62"/>
          <p:cNvSpPr/>
          <p:nvPr/>
        </p:nvSpPr>
        <p:spPr>
          <a:xfrm rot="10800000">
            <a:off x="2848293" y="3174365"/>
            <a:ext cx="5036820" cy="3183890"/>
          </a:xfrm>
          <a:custGeom>
            <a:avLst/>
            <a:gdLst>
              <a:gd name="adj" fmla="val 62623"/>
              <a:gd name="maxAdj" fmla="*/ 50000 w ss"/>
              <a:gd name="a" fmla="pin 0 adj maxAdj"/>
              <a:gd name="x1" fmla="*/ ss a 200000"/>
              <a:gd name="x2" fmla="*/ ss a 100000"/>
              <a:gd name="x3" fmla="+- r 0 x2"/>
              <a:gd name="x4" fmla="+- r 0 x1"/>
              <a:gd name="il" fmla="*/ wd3 a maxAdj"/>
              <a:gd name="it" fmla="*/ hd3 a maxAdj"/>
              <a:gd name="ir" fmla="+- r 0 il"/>
            </a:gdLst>
            <a:ahLst/>
            <a:cxnLst>
              <a:cxn ang="3">
                <a:pos x="hc" y="t"/>
              </a:cxn>
              <a:cxn ang="cd2">
                <a:pos x="x1" y="vc"/>
              </a:cxn>
              <a:cxn ang="cd4">
                <a:pos x="hc" y="b"/>
              </a:cxn>
              <a:cxn ang="0">
                <a:pos x="x4" y="vc"/>
              </a:cxn>
            </a:cxnLst>
            <a:rect l="l" t="t" r="r" b="b"/>
            <a:pathLst>
              <a:path w="6796" h="4405">
                <a:moveTo>
                  <a:pt x="0" y="4405"/>
                </a:moveTo>
                <a:lnTo>
                  <a:pt x="2182" y="921"/>
                </a:lnTo>
                <a:lnTo>
                  <a:pt x="925" y="921"/>
                </a:lnTo>
                <a:lnTo>
                  <a:pt x="3399" y="0"/>
                </a:lnTo>
                <a:lnTo>
                  <a:pt x="5873" y="921"/>
                </a:lnTo>
                <a:lnTo>
                  <a:pt x="4614" y="921"/>
                </a:lnTo>
                <a:lnTo>
                  <a:pt x="6796" y="4405"/>
                </a:lnTo>
                <a:lnTo>
                  <a:pt x="0" y="4405"/>
                </a:lnTo>
                <a:close/>
              </a:path>
            </a:pathLst>
          </a:custGeom>
          <a:solidFill>
            <a:schemeClr val="accent5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30000"/>
              </a:lnSpc>
            </a:pP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2370455" y="3761740"/>
            <a:ext cx="1285875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4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发散创新方向</a:t>
            </a:r>
            <a:endParaRPr lang="zh-CN" altLang="en-US" sz="1400" b="1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3746500" y="3209290"/>
            <a:ext cx="3240405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>
              <a:buNone/>
            </a:pPr>
            <a:r>
              <a:rPr lang="zh-CN" altLang="en-US" sz="1400" b="1"/>
              <a:t>定方向：三维匹配度筛选锁定核心赛道</a:t>
            </a:r>
            <a:endParaRPr lang="zh-CN" altLang="en-US" sz="1400" b="1"/>
          </a:p>
        </p:txBody>
      </p:sp>
      <p:sp>
        <p:nvSpPr>
          <p:cNvPr id="68" name="圆角矩形 67"/>
          <p:cNvSpPr/>
          <p:nvPr/>
        </p:nvSpPr>
        <p:spPr>
          <a:xfrm>
            <a:off x="3656330" y="3605530"/>
            <a:ext cx="1186180" cy="286385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XX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应用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圆角矩形 68"/>
          <p:cNvSpPr/>
          <p:nvPr/>
        </p:nvSpPr>
        <p:spPr>
          <a:xfrm>
            <a:off x="3929380" y="3981450"/>
            <a:ext cx="1797050" cy="286385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量子计算与区块链结合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圆角矩形 69"/>
          <p:cNvSpPr/>
          <p:nvPr/>
        </p:nvSpPr>
        <p:spPr>
          <a:xfrm>
            <a:off x="4996180" y="3602990"/>
            <a:ext cx="1065530" cy="286385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XX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机器人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圆角矩形 70"/>
          <p:cNvSpPr/>
          <p:nvPr/>
        </p:nvSpPr>
        <p:spPr>
          <a:xfrm>
            <a:off x="5999480" y="3976370"/>
            <a:ext cx="1783080" cy="286385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endParaRPr lang="en-US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圆角矩形 71"/>
          <p:cNvSpPr/>
          <p:nvPr/>
        </p:nvSpPr>
        <p:spPr>
          <a:xfrm>
            <a:off x="6215380" y="3602990"/>
            <a:ext cx="2139315" cy="286385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智能技术应用与业务自动化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2370455" y="4549140"/>
            <a:ext cx="1435735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4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匹配度筛选漏斗</a:t>
            </a:r>
            <a:endParaRPr lang="zh-CN" altLang="en-US" sz="1400" b="1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cxnSp>
        <p:nvCxnSpPr>
          <p:cNvPr id="74" name="直接连接符 73"/>
          <p:cNvCxnSpPr/>
          <p:nvPr/>
        </p:nvCxnSpPr>
        <p:spPr>
          <a:xfrm>
            <a:off x="2413635" y="4340860"/>
            <a:ext cx="5896610" cy="0"/>
          </a:xfrm>
          <a:prstGeom prst="line">
            <a:avLst/>
          </a:prstGeom>
          <a:ln w="6350" cap="flat" cmpd="sng" algn="ctr">
            <a:solidFill>
              <a:schemeClr val="bg1">
                <a:lumMod val="75000"/>
              </a:schemeClr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5" name="矩形 74"/>
          <p:cNvSpPr/>
          <p:nvPr/>
        </p:nvSpPr>
        <p:spPr>
          <a:xfrm>
            <a:off x="3806190" y="4418965"/>
            <a:ext cx="2018665" cy="3067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与科技创新战略匹配度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5999480" y="4425315"/>
            <a:ext cx="2147570" cy="3067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与当前企业资源的匹配度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4919345" y="4810125"/>
            <a:ext cx="2147570" cy="3067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与投入可持续性的匹配度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8" name="直接连接符 77"/>
          <p:cNvCxnSpPr/>
          <p:nvPr/>
        </p:nvCxnSpPr>
        <p:spPr>
          <a:xfrm>
            <a:off x="2413635" y="5182870"/>
            <a:ext cx="5896610" cy="0"/>
          </a:xfrm>
          <a:prstGeom prst="line">
            <a:avLst/>
          </a:prstGeom>
          <a:ln w="6350" cap="flat" cmpd="sng" algn="ctr">
            <a:solidFill>
              <a:schemeClr val="bg1">
                <a:lumMod val="75000"/>
              </a:schemeClr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9" name="文本框 78"/>
          <p:cNvSpPr txBox="1"/>
          <p:nvPr/>
        </p:nvSpPr>
        <p:spPr>
          <a:xfrm>
            <a:off x="2370455" y="5666740"/>
            <a:ext cx="1435735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4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匹配度矩阵评估</a:t>
            </a:r>
            <a:endParaRPr lang="zh-CN" altLang="en-US" sz="1400" b="1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pic>
        <p:nvPicPr>
          <p:cNvPr id="81" name="图片 8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63645" y="5267960"/>
            <a:ext cx="3303270" cy="1146810"/>
          </a:xfrm>
          <a:prstGeom prst="rect">
            <a:avLst/>
          </a:prstGeom>
        </p:spPr>
      </p:pic>
      <p:sp>
        <p:nvSpPr>
          <p:cNvPr id="82" name="右箭头 81"/>
          <p:cNvSpPr/>
          <p:nvPr/>
        </p:nvSpPr>
        <p:spPr>
          <a:xfrm>
            <a:off x="7126605" y="5561965"/>
            <a:ext cx="257810" cy="634365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3" name="圆角矩形 82"/>
          <p:cNvSpPr/>
          <p:nvPr/>
        </p:nvSpPr>
        <p:spPr>
          <a:xfrm>
            <a:off x="7416165" y="5331460"/>
            <a:ext cx="930910" cy="26733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赛道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" name="圆角矩形 83"/>
          <p:cNvSpPr/>
          <p:nvPr/>
        </p:nvSpPr>
        <p:spPr>
          <a:xfrm>
            <a:off x="7416165" y="5695950"/>
            <a:ext cx="930910" cy="26733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赛道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5" name="圆角矩形 84"/>
          <p:cNvSpPr/>
          <p:nvPr/>
        </p:nvSpPr>
        <p:spPr>
          <a:xfrm>
            <a:off x="7416165" y="6037580"/>
            <a:ext cx="930910" cy="26733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赛道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任意形状 1"/>
          <p:cNvSpPr/>
          <p:nvPr/>
        </p:nvSpPr>
        <p:spPr>
          <a:xfrm>
            <a:off x="8447405" y="3165475"/>
            <a:ext cx="3356610" cy="3052445"/>
          </a:xfrm>
          <a:custGeom>
            <a:avLst/>
            <a:gdLst>
              <a:gd name="connsiteX0" fmla="*/ 0 w 2773680"/>
              <a:gd name="connsiteY0" fmla="*/ 0 h 131063"/>
              <a:gd name="connsiteX1" fmla="*/ 2773680 w 2773680"/>
              <a:gd name="connsiteY1" fmla="*/ 0 h 131063"/>
              <a:gd name="connsiteX2" fmla="*/ 2773680 w 2773680"/>
              <a:gd name="connsiteY2" fmla="*/ 131064 h 131063"/>
              <a:gd name="connsiteX3" fmla="*/ 0 w 2773680"/>
              <a:gd name="connsiteY3" fmla="*/ 131064 h 1310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73680" h="131063">
                <a:moveTo>
                  <a:pt x="0" y="0"/>
                </a:moveTo>
                <a:lnTo>
                  <a:pt x="2773680" y="0"/>
                </a:lnTo>
                <a:lnTo>
                  <a:pt x="2773680" y="131064"/>
                </a:lnTo>
                <a:lnTo>
                  <a:pt x="0" y="131064"/>
                </a:lnTo>
                <a:close/>
              </a:path>
            </a:pathLst>
          </a:custGeom>
          <a:gradFill>
            <a:gsLst>
              <a:gs pos="100000">
                <a:schemeClr val="accent3">
                  <a:lumMod val="20000"/>
                  <a:lumOff val="80000"/>
                </a:schemeClr>
              </a:gs>
              <a:gs pos="0">
                <a:schemeClr val="bg1">
                  <a:alpha val="0"/>
                </a:schemeClr>
              </a:gs>
            </a:gsLst>
            <a:lin ang="16200000" scaled="0"/>
          </a:gradFill>
          <a:ln w="20678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u="none" strike="noStrike" kern="1200" cap="none" spc="0" normalizeH="0" baseline="0" noProof="0">
              <a:ln>
                <a:noFill/>
              </a:ln>
              <a:solidFill>
                <a:srgbClr val="383535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8605520" y="3209290"/>
            <a:ext cx="3040380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>
              <a:buNone/>
            </a:pPr>
            <a:r>
              <a:rPr lang="zh-CN" altLang="en-US" sz="1400" b="1"/>
              <a:t>定策略：分层分类全链条差异化攻关</a:t>
            </a:r>
            <a:endParaRPr lang="zh-CN" altLang="en-US" sz="1400" b="1"/>
          </a:p>
        </p:txBody>
      </p:sp>
      <p:pic>
        <p:nvPicPr>
          <p:cNvPr id="93" name="图片 9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7405" y="3515995"/>
            <a:ext cx="3444240" cy="2242185"/>
          </a:xfrm>
          <a:prstGeom prst="rect">
            <a:avLst/>
          </a:prstGeom>
        </p:spPr>
      </p:pic>
      <p:sp>
        <p:nvSpPr>
          <p:cNvPr id="94" name="文本框 93"/>
          <p:cNvSpPr txBox="1"/>
          <p:nvPr/>
        </p:nvSpPr>
        <p:spPr>
          <a:xfrm>
            <a:off x="8447405" y="5676265"/>
            <a:ext cx="3569970" cy="810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>
              <a:lnSpc>
                <a:spcPct val="130000"/>
              </a:lnSpc>
              <a:buFont typeface="Wingdings" panose="05000000000000000000" charset="0"/>
              <a:buChar char="p"/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不同成熟度阶段匹配不同的攻关重点与投入策略；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 algn="just">
              <a:lnSpc>
                <a:spcPct val="130000"/>
              </a:lnSpc>
              <a:buFont typeface="Wingdings" panose="05000000000000000000" charset="0"/>
              <a:buChar char="p"/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针对每条技术赛道分解关键攻关节点，设置量化里程碑指标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任意形状 1"/>
          <p:cNvSpPr/>
          <p:nvPr/>
        </p:nvSpPr>
        <p:spPr>
          <a:xfrm>
            <a:off x="136525" y="3164205"/>
            <a:ext cx="2152015" cy="3052445"/>
          </a:xfrm>
          <a:custGeom>
            <a:avLst/>
            <a:gdLst>
              <a:gd name="connsiteX0" fmla="*/ 0 w 2773680"/>
              <a:gd name="connsiteY0" fmla="*/ 0 h 131063"/>
              <a:gd name="connsiteX1" fmla="*/ 2773680 w 2773680"/>
              <a:gd name="connsiteY1" fmla="*/ 0 h 131063"/>
              <a:gd name="connsiteX2" fmla="*/ 2773680 w 2773680"/>
              <a:gd name="connsiteY2" fmla="*/ 131064 h 131063"/>
              <a:gd name="connsiteX3" fmla="*/ 0 w 2773680"/>
              <a:gd name="connsiteY3" fmla="*/ 131064 h 1310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73680" h="131063">
                <a:moveTo>
                  <a:pt x="0" y="0"/>
                </a:moveTo>
                <a:lnTo>
                  <a:pt x="2773680" y="0"/>
                </a:lnTo>
                <a:lnTo>
                  <a:pt x="2773680" y="131064"/>
                </a:lnTo>
                <a:lnTo>
                  <a:pt x="0" y="131064"/>
                </a:lnTo>
                <a:close/>
              </a:path>
            </a:pathLst>
          </a:custGeom>
          <a:gradFill>
            <a:gsLst>
              <a:gs pos="100000">
                <a:schemeClr val="accent3">
                  <a:lumMod val="20000"/>
                  <a:lumOff val="80000"/>
                </a:schemeClr>
              </a:gs>
              <a:gs pos="0">
                <a:schemeClr val="bg1">
                  <a:alpha val="0"/>
                </a:schemeClr>
              </a:gs>
            </a:gsLst>
            <a:lin ang="16200000" scaled="0"/>
          </a:gradFill>
          <a:ln w="20678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u="none" strike="noStrike" kern="1200" cap="none" spc="0" normalizeH="0" baseline="0" noProof="0">
              <a:ln>
                <a:noFill/>
              </a:ln>
              <a:solidFill>
                <a:srgbClr val="383535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36525" y="3208020"/>
            <a:ext cx="2181860" cy="607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algn="ctr">
              <a:lnSpc>
                <a:spcPct val="120000"/>
              </a:lnSpc>
              <a:buNone/>
            </a:pPr>
            <a:r>
              <a:rPr lang="zh-CN" altLang="en-US" sz="1400" b="1" dirty="0"/>
              <a:t>定控制点：明确战略核心控制点与竞争壁垒</a:t>
            </a:r>
            <a:endParaRPr lang="zh-CN" altLang="en-US" sz="1400" b="1" dirty="0"/>
          </a:p>
        </p:txBody>
      </p:sp>
      <p:sp>
        <p:nvSpPr>
          <p:cNvPr id="7" name="文本框 6"/>
          <p:cNvSpPr txBox="1"/>
          <p:nvPr/>
        </p:nvSpPr>
        <p:spPr>
          <a:xfrm>
            <a:off x="128905" y="3815715"/>
            <a:ext cx="2199640" cy="23069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sz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技术壁垒：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掌握核心技术与专利标准；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 algn="just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sz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专利壁垒：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构建高价值专利组合，参与国际标准制定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 algn="just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sz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能力壁垒：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打造研发与工程化转化能力；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 algn="just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sz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风险壁垒：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建立重大战略风险预警机制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/>
          <p:cNvSpPr/>
          <p:nvPr>
            <p:custDataLst>
              <p:tags r:id="rId3"/>
            </p:custDataLst>
          </p:nvPr>
        </p:nvSpPr>
        <p:spPr>
          <a:xfrm rot="20700000">
            <a:off x="4629150" y="5437505"/>
            <a:ext cx="2471420" cy="6451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>
              <a:defRPr/>
            </a:pPr>
            <a:r>
              <a:rPr lang="en-US" altLang="zh-CN" sz="3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lumMod val="40000"/>
                    <a:lumOff val="6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Sample</a:t>
            </a:r>
            <a:endParaRPr lang="en-US" altLang="zh-CN" sz="36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  <a:lumMod val="40000"/>
                  <a:lumOff val="60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7240905" y="0"/>
            <a:ext cx="4952365" cy="259080"/>
            <a:chOff x="11403" y="0"/>
            <a:chExt cx="7799" cy="408"/>
          </a:xfrm>
        </p:grpSpPr>
        <p:sp>
          <p:nvSpPr>
            <p:cNvPr id="9" name="矩形 8"/>
            <p:cNvSpPr/>
            <p:nvPr/>
          </p:nvSpPr>
          <p:spPr>
            <a:xfrm>
              <a:off x="11403" y="0"/>
              <a:ext cx="1540" cy="408"/>
            </a:xfrm>
            <a:prstGeom prst="rect">
              <a:avLst/>
            </a:prstGeom>
            <a:solidFill>
              <a:schemeClr val="accent6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规划背景</a:t>
              </a:r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12969" y="0"/>
              <a:ext cx="1540" cy="408"/>
            </a:xfrm>
            <a:prstGeom prst="rect">
              <a:avLst/>
            </a:prstGeom>
            <a:solidFill>
              <a:schemeClr val="accent6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顶层</a:t>
              </a: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设计</a:t>
              </a:r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矩形 30"/>
            <p:cNvSpPr/>
            <p:nvPr/>
          </p:nvSpPr>
          <p:spPr>
            <a:xfrm>
              <a:off x="14534" y="0"/>
              <a:ext cx="1540" cy="40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重点任务</a:t>
              </a:r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16099" y="0"/>
              <a:ext cx="1538" cy="408"/>
            </a:xfrm>
            <a:prstGeom prst="rect">
              <a:avLst/>
            </a:prstGeom>
            <a:solidFill>
              <a:schemeClr val="accent6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保障机制</a:t>
              </a:r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矩形 32"/>
            <p:cNvSpPr/>
            <p:nvPr/>
          </p:nvSpPr>
          <p:spPr>
            <a:xfrm>
              <a:off x="17662" y="0"/>
              <a:ext cx="1540" cy="408"/>
            </a:xfrm>
            <a:prstGeom prst="rect">
              <a:avLst/>
            </a:prstGeom>
            <a:solidFill>
              <a:schemeClr val="accent6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实施路径</a:t>
              </a:r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</a:fld>
            <a:endParaRPr lang="en-US" altLang="zh-CN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0399" y="89535"/>
            <a:ext cx="10858500" cy="1028700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sz="2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重点任务二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| 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搭建“决策-咨询-管理-实施”四级联动架构，构建内外协同的立体化创新平台体系，形成权责清晰、资源高效流动的立体化创新组织</a:t>
            </a:r>
            <a:endParaRPr lang="zh-CN" altLang="en-US" sz="2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占位符 9"/>
          <p:cNvSpPr>
            <a:spLocks noGrp="1"/>
          </p:cNvSpPr>
          <p:nvPr/>
        </p:nvSpPr>
        <p:spPr>
          <a:xfrm>
            <a:off x="566420" y="1118235"/>
            <a:ext cx="11264900" cy="838200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noAutofit/>
          </a:bodyPr>
          <a:lstStyle>
            <a:lvl1pPr marL="0" indent="0" algn="just" defTabSz="914400" rtl="0" eaLnBrk="1" latinLnBrk="0" hangingPunct="1">
              <a:lnSpc>
                <a:spcPct val="120000"/>
              </a:lnSpc>
              <a:spcBef>
                <a:spcPts val="0"/>
              </a:spcBef>
              <a:buFontTx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精准承接国家政策要求，以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决策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咨询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管理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实施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四级联动组织架构为核心，联动多级创新平台与全球开放合作网络，整合全球优质创新资源，打造原创技术策源地的组织载体。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137" name="组合 136"/>
          <p:cNvGrpSpPr/>
          <p:nvPr/>
        </p:nvGrpSpPr>
        <p:grpSpPr>
          <a:xfrm>
            <a:off x="8087360" y="1866265"/>
            <a:ext cx="3655695" cy="4447540"/>
            <a:chOff x="12736" y="1790"/>
            <a:chExt cx="5757" cy="8397"/>
          </a:xfrm>
        </p:grpSpPr>
        <p:sp>
          <p:nvSpPr>
            <p:cNvPr id="72" name="任意形状 50"/>
            <p:cNvSpPr/>
            <p:nvPr/>
          </p:nvSpPr>
          <p:spPr>
            <a:xfrm>
              <a:off x="13353" y="1790"/>
              <a:ext cx="370" cy="370"/>
            </a:xfrm>
            <a:custGeom>
              <a:avLst/>
              <a:gdLst>
                <a:gd name="connsiteX0" fmla="*/ 234696 w 234696"/>
                <a:gd name="connsiteY0" fmla="*/ 117348 h 234696"/>
                <a:gd name="connsiteX1" fmla="*/ 117348 w 234696"/>
                <a:gd name="connsiteY1" fmla="*/ 234696 h 234696"/>
                <a:gd name="connsiteX2" fmla="*/ 0 w 234696"/>
                <a:gd name="connsiteY2" fmla="*/ 117348 h 234696"/>
                <a:gd name="connsiteX3" fmla="*/ 117348 w 234696"/>
                <a:gd name="connsiteY3" fmla="*/ 0 h 234696"/>
                <a:gd name="connsiteX4" fmla="*/ 234696 w 234696"/>
                <a:gd name="connsiteY4" fmla="*/ 117348 h 234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4696" h="234696">
                  <a:moveTo>
                    <a:pt x="234696" y="117348"/>
                  </a:moveTo>
                  <a:cubicBezTo>
                    <a:pt x="234696" y="182158"/>
                    <a:pt x="182157" y="234696"/>
                    <a:pt x="117348" y="234696"/>
                  </a:cubicBezTo>
                  <a:cubicBezTo>
                    <a:pt x="52538" y="234696"/>
                    <a:pt x="0" y="182157"/>
                    <a:pt x="0" y="117348"/>
                  </a:cubicBezTo>
                  <a:cubicBezTo>
                    <a:pt x="0" y="52539"/>
                    <a:pt x="52538" y="0"/>
                    <a:pt x="117348" y="0"/>
                  </a:cubicBezTo>
                  <a:cubicBezTo>
                    <a:pt x="182158" y="0"/>
                    <a:pt x="234696" y="52539"/>
                    <a:pt x="234696" y="117348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7620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zh-CN" altLang="en-US">
                <a:latin typeface="Alibaba PuHuiTi" pitchFamily="18" charset="-122"/>
                <a:ea typeface="Alibaba PuHuiTi" pitchFamily="18" charset="-122"/>
                <a:cs typeface="Alibaba PuHuiTi" pitchFamily="18" charset="-122"/>
              </a:endParaRPr>
            </a:p>
          </p:txBody>
        </p:sp>
        <p:sp>
          <p:nvSpPr>
            <p:cNvPr id="74" name="任意形状 51"/>
            <p:cNvSpPr/>
            <p:nvPr/>
          </p:nvSpPr>
          <p:spPr>
            <a:xfrm>
              <a:off x="17541" y="1790"/>
              <a:ext cx="370" cy="370"/>
            </a:xfrm>
            <a:custGeom>
              <a:avLst/>
              <a:gdLst>
                <a:gd name="connsiteX0" fmla="*/ 234696 w 234695"/>
                <a:gd name="connsiteY0" fmla="*/ 117348 h 234696"/>
                <a:gd name="connsiteX1" fmla="*/ 117348 w 234695"/>
                <a:gd name="connsiteY1" fmla="*/ 234696 h 234696"/>
                <a:gd name="connsiteX2" fmla="*/ 0 w 234695"/>
                <a:gd name="connsiteY2" fmla="*/ 117348 h 234696"/>
                <a:gd name="connsiteX3" fmla="*/ 117348 w 234695"/>
                <a:gd name="connsiteY3" fmla="*/ 0 h 234696"/>
                <a:gd name="connsiteX4" fmla="*/ 234696 w 234695"/>
                <a:gd name="connsiteY4" fmla="*/ 117348 h 234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4695" h="234696">
                  <a:moveTo>
                    <a:pt x="234696" y="117348"/>
                  </a:moveTo>
                  <a:cubicBezTo>
                    <a:pt x="234696" y="182158"/>
                    <a:pt x="182158" y="234696"/>
                    <a:pt x="117348" y="234696"/>
                  </a:cubicBezTo>
                  <a:cubicBezTo>
                    <a:pt x="52539" y="234696"/>
                    <a:pt x="0" y="182157"/>
                    <a:pt x="0" y="117348"/>
                  </a:cubicBezTo>
                  <a:cubicBezTo>
                    <a:pt x="0" y="52539"/>
                    <a:pt x="52539" y="0"/>
                    <a:pt x="117348" y="0"/>
                  </a:cubicBezTo>
                  <a:cubicBezTo>
                    <a:pt x="182158" y="0"/>
                    <a:pt x="234696" y="52539"/>
                    <a:pt x="234696" y="117348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7620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zh-CN" altLang="en-US">
                <a:latin typeface="Alibaba PuHuiTi" pitchFamily="18" charset="-122"/>
                <a:ea typeface="Alibaba PuHuiTi" pitchFamily="18" charset="-122"/>
                <a:cs typeface="Alibaba PuHuiTi" pitchFamily="18" charset="-122"/>
              </a:endParaRPr>
            </a:p>
          </p:txBody>
        </p:sp>
        <p:sp>
          <p:nvSpPr>
            <p:cNvPr id="75" name="同侧圆角矩形 74"/>
            <p:cNvSpPr/>
            <p:nvPr/>
          </p:nvSpPr>
          <p:spPr>
            <a:xfrm>
              <a:off x="12938" y="1975"/>
              <a:ext cx="5386" cy="8211"/>
            </a:xfrm>
            <a:prstGeom prst="round2SameRect">
              <a:avLst>
                <a:gd name="adj1" fmla="val 1682"/>
                <a:gd name="adj2" fmla="val 0"/>
              </a:avLst>
            </a:prstGeom>
            <a:gradFill>
              <a:gsLst>
                <a:gs pos="49000">
                  <a:schemeClr val="bg1"/>
                </a:gs>
                <a:gs pos="75000">
                  <a:schemeClr val="bg1"/>
                </a:gs>
              </a:gsLst>
              <a:lin ang="5400000" scaled="1"/>
            </a:gradFill>
            <a:ln w="15875" cap="rnd">
              <a:gradFill>
                <a:gsLst>
                  <a:gs pos="34000">
                    <a:schemeClr val="accent1"/>
                  </a:gs>
                  <a:gs pos="80000">
                    <a:schemeClr val="accent1">
                      <a:alpha val="0"/>
                    </a:schemeClr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>
                <a:latin typeface="Alibaba PuHuiTi" pitchFamily="18" charset="-122"/>
                <a:ea typeface="Alibaba PuHuiTi" pitchFamily="18" charset="-122"/>
                <a:cs typeface="Alibaba PuHuiTi" pitchFamily="18" charset="-122"/>
              </a:endParaRPr>
            </a:p>
          </p:txBody>
        </p:sp>
        <p:sp>
          <p:nvSpPr>
            <p:cNvPr id="76" name="任意形状 54"/>
            <p:cNvSpPr/>
            <p:nvPr/>
          </p:nvSpPr>
          <p:spPr>
            <a:xfrm>
              <a:off x="13538" y="1790"/>
              <a:ext cx="4188" cy="814"/>
            </a:xfrm>
            <a:custGeom>
              <a:avLst/>
              <a:gdLst>
                <a:gd name="connsiteX0" fmla="*/ 2520696 w 2659379"/>
                <a:gd name="connsiteY0" fmla="*/ 516636 h 516636"/>
                <a:gd name="connsiteX1" fmla="*/ 138684 w 2659379"/>
                <a:gd name="connsiteY1" fmla="*/ 516636 h 516636"/>
                <a:gd name="connsiteX2" fmla="*/ 77724 w 2659379"/>
                <a:gd name="connsiteY2" fmla="*/ 464820 h 516636"/>
                <a:gd name="connsiteX3" fmla="*/ 0 w 2659379"/>
                <a:gd name="connsiteY3" fmla="*/ 0 h 516636"/>
                <a:gd name="connsiteX4" fmla="*/ 2659380 w 2659379"/>
                <a:gd name="connsiteY4" fmla="*/ 0 h 516636"/>
                <a:gd name="connsiteX5" fmla="*/ 2581656 w 2659379"/>
                <a:gd name="connsiteY5" fmla="*/ 464820 h 516636"/>
                <a:gd name="connsiteX6" fmla="*/ 2520696 w 2659379"/>
                <a:gd name="connsiteY6" fmla="*/ 516636 h 516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9379" h="516636">
                  <a:moveTo>
                    <a:pt x="2520696" y="516636"/>
                  </a:moveTo>
                  <a:lnTo>
                    <a:pt x="138684" y="516636"/>
                  </a:lnTo>
                  <a:cubicBezTo>
                    <a:pt x="108204" y="516636"/>
                    <a:pt x="83058" y="494538"/>
                    <a:pt x="77724" y="464820"/>
                  </a:cubicBezTo>
                  <a:lnTo>
                    <a:pt x="0" y="0"/>
                  </a:lnTo>
                  <a:lnTo>
                    <a:pt x="2659380" y="0"/>
                  </a:lnTo>
                  <a:lnTo>
                    <a:pt x="2581656" y="464820"/>
                  </a:lnTo>
                  <a:cubicBezTo>
                    <a:pt x="2576322" y="494538"/>
                    <a:pt x="2551176" y="516636"/>
                    <a:pt x="2520696" y="516636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79000">
                  <a:schemeClr val="accent1"/>
                </a:gs>
              </a:gsLst>
              <a:path path="circle">
                <a:fillToRect r="100000" b="100000"/>
              </a:path>
            </a:gradFill>
            <a:ln w="7620" cap="rnd">
              <a:noFill/>
              <a:prstDash val="solid"/>
              <a:round/>
            </a:ln>
          </p:spPr>
          <p:txBody>
            <a:bodyPr rtlCol="0" anchor="ctr"/>
            <a:lstStyle/>
            <a:p>
              <a:pPr algn="ctr"/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FE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libaba PuHuiTi" pitchFamily="18" charset="-122"/>
                </a:rPr>
                <a:t>搭建全球开放合作平台网络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endParaRPr>
            </a:p>
          </p:txBody>
        </p:sp>
        <p:sp>
          <p:nvSpPr>
            <p:cNvPr id="89" name="任意形状 61"/>
            <p:cNvSpPr/>
            <p:nvPr/>
          </p:nvSpPr>
          <p:spPr>
            <a:xfrm>
              <a:off x="12736" y="9282"/>
              <a:ext cx="5622" cy="906"/>
            </a:xfrm>
            <a:custGeom>
              <a:avLst/>
              <a:gdLst>
                <a:gd name="connsiteX0" fmla="*/ 0 w 11907012"/>
                <a:gd name="connsiteY0" fmla="*/ 0 h 803910"/>
                <a:gd name="connsiteX1" fmla="*/ 11907012 w 11907012"/>
                <a:gd name="connsiteY1" fmla="*/ 0 h 803910"/>
                <a:gd name="connsiteX2" fmla="*/ 11907012 w 11907012"/>
                <a:gd name="connsiteY2" fmla="*/ 803910 h 803910"/>
                <a:gd name="connsiteX3" fmla="*/ 0 w 11907012"/>
                <a:gd name="connsiteY3" fmla="*/ 803910 h 803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07012" h="803910">
                  <a:moveTo>
                    <a:pt x="0" y="0"/>
                  </a:moveTo>
                  <a:lnTo>
                    <a:pt x="11907012" y="0"/>
                  </a:lnTo>
                  <a:lnTo>
                    <a:pt x="11907012" y="803910"/>
                  </a:lnTo>
                  <a:lnTo>
                    <a:pt x="0" y="803910"/>
                  </a:lnTo>
                  <a:close/>
                </a:path>
              </a:pathLst>
            </a:custGeom>
            <a:gradFill>
              <a:gsLst>
                <a:gs pos="100000">
                  <a:schemeClr val="accent1"/>
                </a:gs>
                <a:gs pos="0">
                  <a:schemeClr val="accent1">
                    <a:lumMod val="80000"/>
                    <a:lumOff val="20000"/>
                  </a:schemeClr>
                </a:gs>
              </a:gsLst>
              <a:lin ang="2400000" scaled="0"/>
            </a:gradFill>
            <a:ln w="7620" cap="rnd">
              <a:noFill/>
              <a:prstDash val="solid"/>
              <a:round/>
            </a:ln>
          </p:spPr>
          <p:txBody>
            <a:bodyPr rtlCol="0" anchor="ctr"/>
            <a:lstStyle/>
            <a:p>
              <a:pPr algn="ctr"/>
              <a:r>
                <a:rPr lang="zh-CN" altLang="en-US" sz="1400" b="1" dirty="0">
                  <a:solidFill>
                    <a:schemeClr val="bg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libaba PuHuiTi" pitchFamily="18" charset="-122"/>
                </a:rPr>
                <a:t>整合外部优质创新资源，</a:t>
              </a:r>
              <a:endParaRPr lang="zh-CN" altLang="en-US" sz="1400" b="1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endParaRPr>
            </a:p>
            <a:p>
              <a:pPr algn="ctr"/>
              <a:r>
                <a:rPr lang="zh-CN" altLang="en-US" sz="1400" b="1" dirty="0">
                  <a:solidFill>
                    <a:schemeClr val="bg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libaba PuHuiTi" pitchFamily="18" charset="-122"/>
                </a:rPr>
                <a:t>构建开放式创新生态</a:t>
              </a:r>
              <a:endParaRPr lang="zh-CN" altLang="en-US" sz="1400" b="1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endParaRPr>
            </a:p>
          </p:txBody>
        </p:sp>
        <p:sp>
          <p:nvSpPr>
            <p:cNvPr id="90" name="任意形状 62"/>
            <p:cNvSpPr/>
            <p:nvPr/>
          </p:nvSpPr>
          <p:spPr>
            <a:xfrm>
              <a:off x="12736" y="8994"/>
              <a:ext cx="5757" cy="288"/>
            </a:xfrm>
            <a:custGeom>
              <a:avLst/>
              <a:gdLst>
                <a:gd name="connsiteX0" fmla="*/ 11907012 w 12192000"/>
                <a:gd name="connsiteY0" fmla="*/ 255270 h 255270"/>
                <a:gd name="connsiteX1" fmla="*/ 0 w 12192000"/>
                <a:gd name="connsiteY1" fmla="*/ 255270 h 255270"/>
                <a:gd name="connsiteX2" fmla="*/ 284988 w 12192000"/>
                <a:gd name="connsiteY2" fmla="*/ 0 h 255270"/>
                <a:gd name="connsiteX3" fmla="*/ 12192000 w 12192000"/>
                <a:gd name="connsiteY3" fmla="*/ 0 h 255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255270">
                  <a:moveTo>
                    <a:pt x="11907012" y="255270"/>
                  </a:moveTo>
                  <a:lnTo>
                    <a:pt x="0" y="255270"/>
                  </a:lnTo>
                  <a:lnTo>
                    <a:pt x="284988" y="0"/>
                  </a:lnTo>
                  <a:lnTo>
                    <a:pt x="12192000" y="0"/>
                  </a:lnTo>
                  <a:close/>
                </a:path>
              </a:pathLst>
            </a:custGeom>
            <a:gradFill flip="none" rotWithShape="1">
              <a:gsLst>
                <a:gs pos="25000">
                  <a:schemeClr val="accent1">
                    <a:alpha val="40000"/>
                  </a:schemeClr>
                </a:gs>
                <a:gs pos="100000">
                  <a:schemeClr val="accent1">
                    <a:alpha val="65143"/>
                  </a:schemeClr>
                </a:gs>
                <a:gs pos="0">
                  <a:schemeClr val="bg1"/>
                </a:gs>
              </a:gsLst>
              <a:lin ang="5400000" scaled="1"/>
              <a:tileRect/>
            </a:gradFill>
            <a:ln w="7620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zh-CN" altLang="en-US">
                <a:latin typeface="Alibaba PuHuiTi" pitchFamily="18" charset="-122"/>
                <a:ea typeface="Alibaba PuHuiTi" pitchFamily="18" charset="-122"/>
                <a:cs typeface="Alibaba PuHuiTi" pitchFamily="18" charset="-122"/>
              </a:endParaRPr>
            </a:p>
          </p:txBody>
        </p:sp>
        <p:sp>
          <p:nvSpPr>
            <p:cNvPr id="92" name="任意形状 63"/>
            <p:cNvSpPr/>
            <p:nvPr/>
          </p:nvSpPr>
          <p:spPr>
            <a:xfrm>
              <a:off x="18359" y="8994"/>
              <a:ext cx="135" cy="1193"/>
            </a:xfrm>
            <a:custGeom>
              <a:avLst/>
              <a:gdLst>
                <a:gd name="connsiteX0" fmla="*/ 284988 w 284988"/>
                <a:gd name="connsiteY0" fmla="*/ 801624 h 1059180"/>
                <a:gd name="connsiteX1" fmla="*/ 284988 w 284988"/>
                <a:gd name="connsiteY1" fmla="*/ 801624 h 1059180"/>
                <a:gd name="connsiteX2" fmla="*/ 284988 w 284988"/>
                <a:gd name="connsiteY2" fmla="*/ 0 h 1059180"/>
                <a:gd name="connsiteX3" fmla="*/ 284988 w 284988"/>
                <a:gd name="connsiteY3" fmla="*/ 0 h 1059180"/>
                <a:gd name="connsiteX4" fmla="*/ 0 w 284988"/>
                <a:gd name="connsiteY4" fmla="*/ 255270 h 1059180"/>
                <a:gd name="connsiteX5" fmla="*/ 0 w 284988"/>
                <a:gd name="connsiteY5" fmla="*/ 1059180 h 1059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4988" h="1059180">
                  <a:moveTo>
                    <a:pt x="284988" y="801624"/>
                  </a:moveTo>
                  <a:lnTo>
                    <a:pt x="284988" y="801624"/>
                  </a:lnTo>
                  <a:lnTo>
                    <a:pt x="284988" y="0"/>
                  </a:lnTo>
                  <a:lnTo>
                    <a:pt x="284988" y="0"/>
                  </a:lnTo>
                  <a:lnTo>
                    <a:pt x="0" y="255270"/>
                  </a:lnTo>
                  <a:lnTo>
                    <a:pt x="0" y="1059180"/>
                  </a:lnTo>
                  <a:close/>
                </a:path>
              </a:pathLst>
            </a:custGeom>
            <a:gradFill>
              <a:gsLst>
                <a:gs pos="100000">
                  <a:schemeClr val="accent1"/>
                </a:gs>
                <a:gs pos="0">
                  <a:schemeClr val="bg1"/>
                </a:gs>
              </a:gsLst>
              <a:lin ang="2400000" scaled="0"/>
            </a:gradFill>
            <a:ln w="7620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zh-CN" altLang="en-US">
                <a:latin typeface="Alibaba PuHuiTi" pitchFamily="18" charset="-122"/>
                <a:ea typeface="Alibaba PuHuiTi" pitchFamily="18" charset="-122"/>
                <a:cs typeface="Alibaba PuHuiTi" pitchFamily="18" charset="-122"/>
              </a:endParaRPr>
            </a:p>
          </p:txBody>
        </p:sp>
        <p:grpSp>
          <p:nvGrpSpPr>
            <p:cNvPr id="118" name="Google Shape;13040;p85"/>
            <p:cNvGrpSpPr>
              <a:grpSpLocks noChangeAspect="1"/>
            </p:cNvGrpSpPr>
            <p:nvPr/>
          </p:nvGrpSpPr>
          <p:grpSpPr>
            <a:xfrm>
              <a:off x="13319" y="5730"/>
              <a:ext cx="101" cy="21"/>
              <a:chOff x="-1667150" y="2801950"/>
              <a:chExt cx="86675" cy="18150"/>
            </a:xfrm>
            <a:solidFill>
              <a:schemeClr val="bg1"/>
            </a:solidFill>
          </p:grpSpPr>
          <p:sp>
            <p:nvSpPr>
              <p:cNvPr id="120" name="Google Shape;13042;p85"/>
              <p:cNvSpPr/>
              <p:nvPr/>
            </p:nvSpPr>
            <p:spPr>
              <a:xfrm>
                <a:off x="-1667150" y="2801950"/>
                <a:ext cx="18150" cy="18150"/>
              </a:xfrm>
              <a:custGeom>
                <a:avLst/>
                <a:gdLst/>
                <a:ahLst/>
                <a:cxnLst/>
                <a:rect l="l" t="t" r="r" b="b"/>
                <a:pathLst>
                  <a:path w="726" h="726" extrusionOk="0">
                    <a:moveTo>
                      <a:pt x="347" y="1"/>
                    </a:moveTo>
                    <a:cubicBezTo>
                      <a:pt x="158" y="1"/>
                      <a:pt x="1" y="158"/>
                      <a:pt x="1" y="347"/>
                    </a:cubicBezTo>
                    <a:cubicBezTo>
                      <a:pt x="1" y="536"/>
                      <a:pt x="158" y="726"/>
                      <a:pt x="347" y="726"/>
                    </a:cubicBezTo>
                    <a:cubicBezTo>
                      <a:pt x="568" y="726"/>
                      <a:pt x="725" y="536"/>
                      <a:pt x="725" y="347"/>
                    </a:cubicBezTo>
                    <a:cubicBezTo>
                      <a:pt x="725" y="158"/>
                      <a:pt x="568" y="1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1" name="Google Shape;13043;p85"/>
              <p:cNvSpPr/>
              <p:nvPr/>
            </p:nvSpPr>
            <p:spPr>
              <a:xfrm>
                <a:off x="-1632500" y="2801950"/>
                <a:ext cx="17350" cy="18150"/>
              </a:xfrm>
              <a:custGeom>
                <a:avLst/>
                <a:gdLst/>
                <a:ahLst/>
                <a:cxnLst/>
                <a:rect l="l" t="t" r="r" b="b"/>
                <a:pathLst>
                  <a:path w="694" h="726" extrusionOk="0">
                    <a:moveTo>
                      <a:pt x="347" y="1"/>
                    </a:moveTo>
                    <a:cubicBezTo>
                      <a:pt x="158" y="1"/>
                      <a:pt x="1" y="158"/>
                      <a:pt x="1" y="347"/>
                    </a:cubicBezTo>
                    <a:cubicBezTo>
                      <a:pt x="1" y="568"/>
                      <a:pt x="158" y="726"/>
                      <a:pt x="347" y="726"/>
                    </a:cubicBezTo>
                    <a:cubicBezTo>
                      <a:pt x="536" y="726"/>
                      <a:pt x="694" y="568"/>
                      <a:pt x="694" y="347"/>
                    </a:cubicBezTo>
                    <a:cubicBezTo>
                      <a:pt x="694" y="158"/>
                      <a:pt x="536" y="1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2" name="Google Shape;13044;p85"/>
              <p:cNvSpPr/>
              <p:nvPr/>
            </p:nvSpPr>
            <p:spPr>
              <a:xfrm>
                <a:off x="-1597850" y="2801950"/>
                <a:ext cx="17375" cy="18150"/>
              </a:xfrm>
              <a:custGeom>
                <a:avLst/>
                <a:gdLst/>
                <a:ahLst/>
                <a:cxnLst/>
                <a:rect l="l" t="t" r="r" b="b"/>
                <a:pathLst>
                  <a:path w="695" h="726" extrusionOk="0">
                    <a:moveTo>
                      <a:pt x="347" y="1"/>
                    </a:moveTo>
                    <a:cubicBezTo>
                      <a:pt x="158" y="1"/>
                      <a:pt x="1" y="158"/>
                      <a:pt x="1" y="347"/>
                    </a:cubicBezTo>
                    <a:cubicBezTo>
                      <a:pt x="1" y="568"/>
                      <a:pt x="158" y="726"/>
                      <a:pt x="347" y="726"/>
                    </a:cubicBezTo>
                    <a:cubicBezTo>
                      <a:pt x="537" y="726"/>
                      <a:pt x="694" y="568"/>
                      <a:pt x="694" y="347"/>
                    </a:cubicBezTo>
                    <a:cubicBezTo>
                      <a:pt x="694" y="158"/>
                      <a:pt x="537" y="1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130" name="Google Shape;13042;p85"/>
            <p:cNvSpPr/>
            <p:nvPr/>
          </p:nvSpPr>
          <p:spPr>
            <a:xfrm>
              <a:off x="13319" y="3758"/>
              <a:ext cx="21" cy="21"/>
            </a:xfrm>
            <a:custGeom>
              <a:avLst/>
              <a:gdLst/>
              <a:ahLst/>
              <a:cxnLst/>
              <a:rect l="l" t="t" r="r" b="b"/>
              <a:pathLst>
                <a:path w="726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726"/>
                    <a:pt x="347" y="726"/>
                  </a:cubicBezTo>
                  <a:cubicBezTo>
                    <a:pt x="568" y="726"/>
                    <a:pt x="725" y="536"/>
                    <a:pt x="725" y="347"/>
                  </a:cubicBezTo>
                  <a:cubicBezTo>
                    <a:pt x="725" y="158"/>
                    <a:pt x="568" y="1"/>
                    <a:pt x="347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cxnSp>
        <p:nvCxnSpPr>
          <p:cNvPr id="156" name="直线连接符 103"/>
          <p:cNvCxnSpPr/>
          <p:nvPr/>
        </p:nvCxnSpPr>
        <p:spPr>
          <a:xfrm>
            <a:off x="8498842" y="2402526"/>
            <a:ext cx="10160" cy="3159760"/>
          </a:xfrm>
          <a:prstGeom prst="line">
            <a:avLst/>
          </a:prstGeom>
          <a:ln w="9525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7" name="组合 156"/>
          <p:cNvGrpSpPr/>
          <p:nvPr/>
        </p:nvGrpSpPr>
        <p:grpSpPr>
          <a:xfrm>
            <a:off x="8272017" y="2672871"/>
            <a:ext cx="441070" cy="380234"/>
            <a:chOff x="1391145" y="2350045"/>
            <a:chExt cx="246104" cy="212159"/>
          </a:xfrm>
        </p:grpSpPr>
        <p:sp>
          <p:nvSpPr>
            <p:cNvPr id="158" name="六边形 157"/>
            <p:cNvSpPr/>
            <p:nvPr/>
          </p:nvSpPr>
          <p:spPr>
            <a:xfrm rot="19800000">
              <a:off x="1408517" y="2362210"/>
              <a:ext cx="211360" cy="182207"/>
            </a:xfrm>
            <a:prstGeom prst="hexagon">
              <a:avLst/>
            </a:prstGeom>
            <a:gradFill flip="none" rotWithShape="1">
              <a:gsLst>
                <a:gs pos="0">
                  <a:schemeClr val="accent1"/>
                </a:gs>
                <a:gs pos="5000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libaba PuHuiTi" pitchFamily="18" charset="-122"/>
                <a:ea typeface="Alibaba PuHuiTi" pitchFamily="18" charset="-122"/>
                <a:cs typeface="Alibaba PuHuiTi" pitchFamily="18" charset="-122"/>
              </a:endParaRPr>
            </a:p>
          </p:txBody>
        </p:sp>
        <p:sp>
          <p:nvSpPr>
            <p:cNvPr id="159" name="六边形 158"/>
            <p:cNvSpPr/>
            <p:nvPr/>
          </p:nvSpPr>
          <p:spPr>
            <a:xfrm rot="19800000">
              <a:off x="1391145" y="2350045"/>
              <a:ext cx="246104" cy="212159"/>
            </a:xfrm>
            <a:prstGeom prst="hexagon">
              <a:avLst/>
            </a:prstGeom>
            <a:noFill/>
            <a:ln w="6350">
              <a:solidFill>
                <a:schemeClr val="accent1"/>
              </a:solidFill>
              <a:prstDash val="dash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libaba PuHuiTi" pitchFamily="18" charset="-122"/>
                <a:ea typeface="Alibaba PuHuiTi" pitchFamily="18" charset="-122"/>
                <a:cs typeface="Alibaba PuHuiTi" pitchFamily="18" charset="-122"/>
              </a:endParaRPr>
            </a:p>
          </p:txBody>
        </p:sp>
      </p:grpSp>
      <p:grpSp>
        <p:nvGrpSpPr>
          <p:cNvPr id="160" name="组合 159"/>
          <p:cNvGrpSpPr/>
          <p:nvPr/>
        </p:nvGrpSpPr>
        <p:grpSpPr>
          <a:xfrm>
            <a:off x="8272017" y="3721742"/>
            <a:ext cx="441070" cy="380234"/>
            <a:chOff x="1391145" y="2350045"/>
            <a:chExt cx="246104" cy="212159"/>
          </a:xfrm>
        </p:grpSpPr>
        <p:sp>
          <p:nvSpPr>
            <p:cNvPr id="161" name="六边形 160"/>
            <p:cNvSpPr/>
            <p:nvPr/>
          </p:nvSpPr>
          <p:spPr>
            <a:xfrm rot="19800000">
              <a:off x="1408517" y="2362210"/>
              <a:ext cx="211360" cy="182207"/>
            </a:xfrm>
            <a:prstGeom prst="hexagon">
              <a:avLst/>
            </a:prstGeom>
            <a:gradFill flip="none" rotWithShape="1">
              <a:gsLst>
                <a:gs pos="0">
                  <a:schemeClr val="accent1"/>
                </a:gs>
                <a:gs pos="5000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libaba PuHuiTi" pitchFamily="18" charset="-122"/>
                <a:ea typeface="Alibaba PuHuiTi" pitchFamily="18" charset="-122"/>
                <a:cs typeface="Alibaba PuHuiTi" pitchFamily="18" charset="-122"/>
              </a:endParaRPr>
            </a:p>
          </p:txBody>
        </p:sp>
        <p:sp>
          <p:nvSpPr>
            <p:cNvPr id="162" name="六边形 161"/>
            <p:cNvSpPr/>
            <p:nvPr/>
          </p:nvSpPr>
          <p:spPr>
            <a:xfrm rot="19800000">
              <a:off x="1391145" y="2350045"/>
              <a:ext cx="246104" cy="212159"/>
            </a:xfrm>
            <a:prstGeom prst="hexagon">
              <a:avLst/>
            </a:prstGeom>
            <a:noFill/>
            <a:ln w="6350">
              <a:solidFill>
                <a:schemeClr val="accent1"/>
              </a:solidFill>
              <a:prstDash val="dash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libaba PuHuiTi" pitchFamily="18" charset="-122"/>
                <a:ea typeface="Alibaba PuHuiTi" pitchFamily="18" charset="-122"/>
                <a:cs typeface="Alibaba PuHuiTi" pitchFamily="18" charset="-122"/>
              </a:endParaRPr>
            </a:p>
          </p:txBody>
        </p:sp>
      </p:grpSp>
      <p:grpSp>
        <p:nvGrpSpPr>
          <p:cNvPr id="163" name="组合 162"/>
          <p:cNvGrpSpPr/>
          <p:nvPr/>
        </p:nvGrpSpPr>
        <p:grpSpPr>
          <a:xfrm>
            <a:off x="8272017" y="4770613"/>
            <a:ext cx="441070" cy="380234"/>
            <a:chOff x="1391145" y="2350045"/>
            <a:chExt cx="246104" cy="212159"/>
          </a:xfrm>
        </p:grpSpPr>
        <p:sp>
          <p:nvSpPr>
            <p:cNvPr id="164" name="六边形 163"/>
            <p:cNvSpPr/>
            <p:nvPr/>
          </p:nvSpPr>
          <p:spPr>
            <a:xfrm rot="19800000">
              <a:off x="1408517" y="2362210"/>
              <a:ext cx="211360" cy="182207"/>
            </a:xfrm>
            <a:prstGeom prst="hexagon">
              <a:avLst/>
            </a:prstGeom>
            <a:gradFill flip="none" rotWithShape="1">
              <a:gsLst>
                <a:gs pos="0">
                  <a:schemeClr val="accent1"/>
                </a:gs>
                <a:gs pos="5000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libaba PuHuiTi" pitchFamily="18" charset="-122"/>
                <a:ea typeface="Alibaba PuHuiTi" pitchFamily="18" charset="-122"/>
                <a:cs typeface="Alibaba PuHuiTi" pitchFamily="18" charset="-122"/>
              </a:endParaRPr>
            </a:p>
          </p:txBody>
        </p:sp>
        <p:sp>
          <p:nvSpPr>
            <p:cNvPr id="165" name="六边形 164"/>
            <p:cNvSpPr/>
            <p:nvPr/>
          </p:nvSpPr>
          <p:spPr>
            <a:xfrm rot="19800000">
              <a:off x="1391145" y="2350045"/>
              <a:ext cx="246104" cy="212159"/>
            </a:xfrm>
            <a:prstGeom prst="hexagon">
              <a:avLst/>
            </a:prstGeom>
            <a:noFill/>
            <a:ln w="6350">
              <a:solidFill>
                <a:schemeClr val="accent1"/>
              </a:solidFill>
              <a:prstDash val="dash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libaba PuHuiTi" pitchFamily="18" charset="-122"/>
                <a:ea typeface="Alibaba PuHuiTi" pitchFamily="18" charset="-122"/>
                <a:cs typeface="Alibaba PuHuiTi" pitchFamily="18" charset="-122"/>
              </a:endParaRPr>
            </a:p>
          </p:txBody>
        </p:sp>
      </p:grpSp>
      <p:sp>
        <p:nvSpPr>
          <p:cNvPr id="166" name="Freeform 132"/>
          <p:cNvSpPr>
            <a:spLocks noChangeAspect="1" noChangeArrowheads="1"/>
          </p:cNvSpPr>
          <p:nvPr/>
        </p:nvSpPr>
        <p:spPr bwMode="auto">
          <a:xfrm>
            <a:off x="8409708" y="2753809"/>
            <a:ext cx="155528" cy="173173"/>
          </a:xfrm>
          <a:custGeom>
            <a:avLst/>
            <a:gdLst>
              <a:gd name="T0" fmla="*/ 407 w 1050"/>
              <a:gd name="T1" fmla="*/ 935 h 1168"/>
              <a:gd name="T2" fmla="*/ 874 w 1050"/>
              <a:gd name="T3" fmla="*/ 468 h 1168"/>
              <a:gd name="T4" fmla="*/ 792 w 1050"/>
              <a:gd name="T5" fmla="*/ 386 h 1168"/>
              <a:gd name="T6" fmla="*/ 407 w 1050"/>
              <a:gd name="T7" fmla="*/ 768 h 1168"/>
              <a:gd name="T8" fmla="*/ 257 w 1050"/>
              <a:gd name="T9" fmla="*/ 618 h 1168"/>
              <a:gd name="T10" fmla="*/ 175 w 1050"/>
              <a:gd name="T11" fmla="*/ 700 h 1168"/>
              <a:gd name="T12" fmla="*/ 407 w 1050"/>
              <a:gd name="T13" fmla="*/ 935 h 1168"/>
              <a:gd name="T14" fmla="*/ 524 w 1050"/>
              <a:gd name="T15" fmla="*/ 118 h 1168"/>
              <a:gd name="T16" fmla="*/ 467 w 1050"/>
              <a:gd name="T17" fmla="*/ 175 h 1168"/>
              <a:gd name="T18" fmla="*/ 524 w 1050"/>
              <a:gd name="T19" fmla="*/ 235 h 1168"/>
              <a:gd name="T20" fmla="*/ 582 w 1050"/>
              <a:gd name="T21" fmla="*/ 175 h 1168"/>
              <a:gd name="T22" fmla="*/ 524 w 1050"/>
              <a:gd name="T23" fmla="*/ 118 h 1168"/>
              <a:gd name="T24" fmla="*/ 1049 w 1050"/>
              <a:gd name="T25" fmla="*/ 235 h 1168"/>
              <a:gd name="T26" fmla="*/ 1049 w 1050"/>
              <a:gd name="T27" fmla="*/ 1050 h 1168"/>
              <a:gd name="T28" fmla="*/ 932 w 1050"/>
              <a:gd name="T29" fmla="*/ 1167 h 1168"/>
              <a:gd name="T30" fmla="*/ 117 w 1050"/>
              <a:gd name="T31" fmla="*/ 1167 h 1168"/>
              <a:gd name="T32" fmla="*/ 0 w 1050"/>
              <a:gd name="T33" fmla="*/ 1050 h 1168"/>
              <a:gd name="T34" fmla="*/ 0 w 1050"/>
              <a:gd name="T35" fmla="*/ 235 h 1168"/>
              <a:gd name="T36" fmla="*/ 117 w 1050"/>
              <a:gd name="T37" fmla="*/ 118 h 1168"/>
              <a:gd name="T38" fmla="*/ 360 w 1050"/>
              <a:gd name="T39" fmla="*/ 118 h 1168"/>
              <a:gd name="T40" fmla="*/ 524 w 1050"/>
              <a:gd name="T41" fmla="*/ 0 h 1168"/>
              <a:gd name="T42" fmla="*/ 688 w 1050"/>
              <a:gd name="T43" fmla="*/ 118 h 1168"/>
              <a:gd name="T44" fmla="*/ 932 w 1050"/>
              <a:gd name="T45" fmla="*/ 118 h 1168"/>
              <a:gd name="T46" fmla="*/ 1049 w 1050"/>
              <a:gd name="T47" fmla="*/ 235 h 1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050" h="1168">
                <a:moveTo>
                  <a:pt x="407" y="935"/>
                </a:moveTo>
                <a:lnTo>
                  <a:pt x="874" y="468"/>
                </a:lnTo>
                <a:lnTo>
                  <a:pt x="792" y="386"/>
                </a:lnTo>
                <a:lnTo>
                  <a:pt x="407" y="768"/>
                </a:lnTo>
                <a:lnTo>
                  <a:pt x="257" y="618"/>
                </a:lnTo>
                <a:lnTo>
                  <a:pt x="175" y="700"/>
                </a:lnTo>
                <a:lnTo>
                  <a:pt x="407" y="935"/>
                </a:lnTo>
                <a:close/>
                <a:moveTo>
                  <a:pt x="524" y="118"/>
                </a:moveTo>
                <a:cubicBezTo>
                  <a:pt x="492" y="118"/>
                  <a:pt x="467" y="143"/>
                  <a:pt x="467" y="175"/>
                </a:cubicBezTo>
                <a:cubicBezTo>
                  <a:pt x="467" y="208"/>
                  <a:pt x="492" y="235"/>
                  <a:pt x="524" y="235"/>
                </a:cubicBezTo>
                <a:cubicBezTo>
                  <a:pt x="557" y="235"/>
                  <a:pt x="582" y="208"/>
                  <a:pt x="582" y="175"/>
                </a:cubicBezTo>
                <a:cubicBezTo>
                  <a:pt x="582" y="143"/>
                  <a:pt x="557" y="118"/>
                  <a:pt x="524" y="118"/>
                </a:cubicBezTo>
                <a:close/>
                <a:moveTo>
                  <a:pt x="1049" y="235"/>
                </a:moveTo>
                <a:lnTo>
                  <a:pt x="1049" y="1050"/>
                </a:lnTo>
                <a:cubicBezTo>
                  <a:pt x="1049" y="1113"/>
                  <a:pt x="995" y="1167"/>
                  <a:pt x="932" y="1167"/>
                </a:cubicBezTo>
                <a:lnTo>
                  <a:pt x="117" y="1167"/>
                </a:lnTo>
                <a:cubicBezTo>
                  <a:pt x="54" y="1167"/>
                  <a:pt x="0" y="1113"/>
                  <a:pt x="0" y="1050"/>
                </a:cubicBezTo>
                <a:lnTo>
                  <a:pt x="0" y="235"/>
                </a:lnTo>
                <a:cubicBezTo>
                  <a:pt x="0" y="173"/>
                  <a:pt x="54" y="118"/>
                  <a:pt x="117" y="118"/>
                </a:cubicBezTo>
                <a:lnTo>
                  <a:pt x="360" y="118"/>
                </a:lnTo>
                <a:cubicBezTo>
                  <a:pt x="385" y="50"/>
                  <a:pt x="448" y="0"/>
                  <a:pt x="524" y="0"/>
                </a:cubicBezTo>
                <a:cubicBezTo>
                  <a:pt x="601" y="0"/>
                  <a:pt x="664" y="50"/>
                  <a:pt x="688" y="118"/>
                </a:cubicBezTo>
                <a:lnTo>
                  <a:pt x="932" y="118"/>
                </a:lnTo>
                <a:cubicBezTo>
                  <a:pt x="995" y="118"/>
                  <a:pt x="1049" y="173"/>
                  <a:pt x="1049" y="23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endParaRPr lang="en-US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67" name="Freeform 132"/>
          <p:cNvSpPr>
            <a:spLocks noChangeAspect="1" noChangeArrowheads="1"/>
          </p:cNvSpPr>
          <p:nvPr/>
        </p:nvSpPr>
        <p:spPr bwMode="auto">
          <a:xfrm>
            <a:off x="8409708" y="3811719"/>
            <a:ext cx="155528" cy="173173"/>
          </a:xfrm>
          <a:custGeom>
            <a:avLst/>
            <a:gdLst>
              <a:gd name="T0" fmla="*/ 407 w 1050"/>
              <a:gd name="T1" fmla="*/ 935 h 1168"/>
              <a:gd name="T2" fmla="*/ 874 w 1050"/>
              <a:gd name="T3" fmla="*/ 468 h 1168"/>
              <a:gd name="T4" fmla="*/ 792 w 1050"/>
              <a:gd name="T5" fmla="*/ 386 h 1168"/>
              <a:gd name="T6" fmla="*/ 407 w 1050"/>
              <a:gd name="T7" fmla="*/ 768 h 1168"/>
              <a:gd name="T8" fmla="*/ 257 w 1050"/>
              <a:gd name="T9" fmla="*/ 618 h 1168"/>
              <a:gd name="T10" fmla="*/ 175 w 1050"/>
              <a:gd name="T11" fmla="*/ 700 h 1168"/>
              <a:gd name="T12" fmla="*/ 407 w 1050"/>
              <a:gd name="T13" fmla="*/ 935 h 1168"/>
              <a:gd name="T14" fmla="*/ 524 w 1050"/>
              <a:gd name="T15" fmla="*/ 118 h 1168"/>
              <a:gd name="T16" fmla="*/ 467 w 1050"/>
              <a:gd name="T17" fmla="*/ 175 h 1168"/>
              <a:gd name="T18" fmla="*/ 524 w 1050"/>
              <a:gd name="T19" fmla="*/ 235 h 1168"/>
              <a:gd name="T20" fmla="*/ 582 w 1050"/>
              <a:gd name="T21" fmla="*/ 175 h 1168"/>
              <a:gd name="T22" fmla="*/ 524 w 1050"/>
              <a:gd name="T23" fmla="*/ 118 h 1168"/>
              <a:gd name="T24" fmla="*/ 1049 w 1050"/>
              <a:gd name="T25" fmla="*/ 235 h 1168"/>
              <a:gd name="T26" fmla="*/ 1049 w 1050"/>
              <a:gd name="T27" fmla="*/ 1050 h 1168"/>
              <a:gd name="T28" fmla="*/ 932 w 1050"/>
              <a:gd name="T29" fmla="*/ 1167 h 1168"/>
              <a:gd name="T30" fmla="*/ 117 w 1050"/>
              <a:gd name="T31" fmla="*/ 1167 h 1168"/>
              <a:gd name="T32" fmla="*/ 0 w 1050"/>
              <a:gd name="T33" fmla="*/ 1050 h 1168"/>
              <a:gd name="T34" fmla="*/ 0 w 1050"/>
              <a:gd name="T35" fmla="*/ 235 h 1168"/>
              <a:gd name="T36" fmla="*/ 117 w 1050"/>
              <a:gd name="T37" fmla="*/ 118 h 1168"/>
              <a:gd name="T38" fmla="*/ 360 w 1050"/>
              <a:gd name="T39" fmla="*/ 118 h 1168"/>
              <a:gd name="T40" fmla="*/ 524 w 1050"/>
              <a:gd name="T41" fmla="*/ 0 h 1168"/>
              <a:gd name="T42" fmla="*/ 688 w 1050"/>
              <a:gd name="T43" fmla="*/ 118 h 1168"/>
              <a:gd name="T44" fmla="*/ 932 w 1050"/>
              <a:gd name="T45" fmla="*/ 118 h 1168"/>
              <a:gd name="T46" fmla="*/ 1049 w 1050"/>
              <a:gd name="T47" fmla="*/ 235 h 1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050" h="1168">
                <a:moveTo>
                  <a:pt x="407" y="935"/>
                </a:moveTo>
                <a:lnTo>
                  <a:pt x="874" y="468"/>
                </a:lnTo>
                <a:lnTo>
                  <a:pt x="792" y="386"/>
                </a:lnTo>
                <a:lnTo>
                  <a:pt x="407" y="768"/>
                </a:lnTo>
                <a:lnTo>
                  <a:pt x="257" y="618"/>
                </a:lnTo>
                <a:lnTo>
                  <a:pt x="175" y="700"/>
                </a:lnTo>
                <a:lnTo>
                  <a:pt x="407" y="935"/>
                </a:lnTo>
                <a:close/>
                <a:moveTo>
                  <a:pt x="524" y="118"/>
                </a:moveTo>
                <a:cubicBezTo>
                  <a:pt x="492" y="118"/>
                  <a:pt x="467" y="143"/>
                  <a:pt x="467" y="175"/>
                </a:cubicBezTo>
                <a:cubicBezTo>
                  <a:pt x="467" y="208"/>
                  <a:pt x="492" y="235"/>
                  <a:pt x="524" y="235"/>
                </a:cubicBezTo>
                <a:cubicBezTo>
                  <a:pt x="557" y="235"/>
                  <a:pt x="582" y="208"/>
                  <a:pt x="582" y="175"/>
                </a:cubicBezTo>
                <a:cubicBezTo>
                  <a:pt x="582" y="143"/>
                  <a:pt x="557" y="118"/>
                  <a:pt x="524" y="118"/>
                </a:cubicBezTo>
                <a:close/>
                <a:moveTo>
                  <a:pt x="1049" y="235"/>
                </a:moveTo>
                <a:lnTo>
                  <a:pt x="1049" y="1050"/>
                </a:lnTo>
                <a:cubicBezTo>
                  <a:pt x="1049" y="1113"/>
                  <a:pt x="995" y="1167"/>
                  <a:pt x="932" y="1167"/>
                </a:cubicBezTo>
                <a:lnTo>
                  <a:pt x="117" y="1167"/>
                </a:lnTo>
                <a:cubicBezTo>
                  <a:pt x="54" y="1167"/>
                  <a:pt x="0" y="1113"/>
                  <a:pt x="0" y="1050"/>
                </a:cubicBezTo>
                <a:lnTo>
                  <a:pt x="0" y="235"/>
                </a:lnTo>
                <a:cubicBezTo>
                  <a:pt x="0" y="173"/>
                  <a:pt x="54" y="118"/>
                  <a:pt x="117" y="118"/>
                </a:cubicBezTo>
                <a:lnTo>
                  <a:pt x="360" y="118"/>
                </a:lnTo>
                <a:cubicBezTo>
                  <a:pt x="385" y="50"/>
                  <a:pt x="448" y="0"/>
                  <a:pt x="524" y="0"/>
                </a:cubicBezTo>
                <a:cubicBezTo>
                  <a:pt x="601" y="0"/>
                  <a:pt x="664" y="50"/>
                  <a:pt x="688" y="118"/>
                </a:cubicBezTo>
                <a:lnTo>
                  <a:pt x="932" y="118"/>
                </a:lnTo>
                <a:cubicBezTo>
                  <a:pt x="995" y="118"/>
                  <a:pt x="1049" y="173"/>
                  <a:pt x="1049" y="23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endParaRPr lang="en-US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68" name="Freeform 132"/>
          <p:cNvSpPr>
            <a:spLocks noChangeAspect="1" noChangeArrowheads="1"/>
          </p:cNvSpPr>
          <p:nvPr/>
        </p:nvSpPr>
        <p:spPr bwMode="auto">
          <a:xfrm>
            <a:off x="8409708" y="4864549"/>
            <a:ext cx="155528" cy="173173"/>
          </a:xfrm>
          <a:custGeom>
            <a:avLst/>
            <a:gdLst>
              <a:gd name="T0" fmla="*/ 407 w 1050"/>
              <a:gd name="T1" fmla="*/ 935 h 1168"/>
              <a:gd name="T2" fmla="*/ 874 w 1050"/>
              <a:gd name="T3" fmla="*/ 468 h 1168"/>
              <a:gd name="T4" fmla="*/ 792 w 1050"/>
              <a:gd name="T5" fmla="*/ 386 h 1168"/>
              <a:gd name="T6" fmla="*/ 407 w 1050"/>
              <a:gd name="T7" fmla="*/ 768 h 1168"/>
              <a:gd name="T8" fmla="*/ 257 w 1050"/>
              <a:gd name="T9" fmla="*/ 618 h 1168"/>
              <a:gd name="T10" fmla="*/ 175 w 1050"/>
              <a:gd name="T11" fmla="*/ 700 h 1168"/>
              <a:gd name="T12" fmla="*/ 407 w 1050"/>
              <a:gd name="T13" fmla="*/ 935 h 1168"/>
              <a:gd name="T14" fmla="*/ 524 w 1050"/>
              <a:gd name="T15" fmla="*/ 118 h 1168"/>
              <a:gd name="T16" fmla="*/ 467 w 1050"/>
              <a:gd name="T17" fmla="*/ 175 h 1168"/>
              <a:gd name="T18" fmla="*/ 524 w 1050"/>
              <a:gd name="T19" fmla="*/ 235 h 1168"/>
              <a:gd name="T20" fmla="*/ 582 w 1050"/>
              <a:gd name="T21" fmla="*/ 175 h 1168"/>
              <a:gd name="T22" fmla="*/ 524 w 1050"/>
              <a:gd name="T23" fmla="*/ 118 h 1168"/>
              <a:gd name="T24" fmla="*/ 1049 w 1050"/>
              <a:gd name="T25" fmla="*/ 235 h 1168"/>
              <a:gd name="T26" fmla="*/ 1049 w 1050"/>
              <a:gd name="T27" fmla="*/ 1050 h 1168"/>
              <a:gd name="T28" fmla="*/ 932 w 1050"/>
              <a:gd name="T29" fmla="*/ 1167 h 1168"/>
              <a:gd name="T30" fmla="*/ 117 w 1050"/>
              <a:gd name="T31" fmla="*/ 1167 h 1168"/>
              <a:gd name="T32" fmla="*/ 0 w 1050"/>
              <a:gd name="T33" fmla="*/ 1050 h 1168"/>
              <a:gd name="T34" fmla="*/ 0 w 1050"/>
              <a:gd name="T35" fmla="*/ 235 h 1168"/>
              <a:gd name="T36" fmla="*/ 117 w 1050"/>
              <a:gd name="T37" fmla="*/ 118 h 1168"/>
              <a:gd name="T38" fmla="*/ 360 w 1050"/>
              <a:gd name="T39" fmla="*/ 118 h 1168"/>
              <a:gd name="T40" fmla="*/ 524 w 1050"/>
              <a:gd name="T41" fmla="*/ 0 h 1168"/>
              <a:gd name="T42" fmla="*/ 688 w 1050"/>
              <a:gd name="T43" fmla="*/ 118 h 1168"/>
              <a:gd name="T44" fmla="*/ 932 w 1050"/>
              <a:gd name="T45" fmla="*/ 118 h 1168"/>
              <a:gd name="T46" fmla="*/ 1049 w 1050"/>
              <a:gd name="T47" fmla="*/ 235 h 1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050" h="1168">
                <a:moveTo>
                  <a:pt x="407" y="935"/>
                </a:moveTo>
                <a:lnTo>
                  <a:pt x="874" y="468"/>
                </a:lnTo>
                <a:lnTo>
                  <a:pt x="792" y="386"/>
                </a:lnTo>
                <a:lnTo>
                  <a:pt x="407" y="768"/>
                </a:lnTo>
                <a:lnTo>
                  <a:pt x="257" y="618"/>
                </a:lnTo>
                <a:lnTo>
                  <a:pt x="175" y="700"/>
                </a:lnTo>
                <a:lnTo>
                  <a:pt x="407" y="935"/>
                </a:lnTo>
                <a:close/>
                <a:moveTo>
                  <a:pt x="524" y="118"/>
                </a:moveTo>
                <a:cubicBezTo>
                  <a:pt x="492" y="118"/>
                  <a:pt x="467" y="143"/>
                  <a:pt x="467" y="175"/>
                </a:cubicBezTo>
                <a:cubicBezTo>
                  <a:pt x="467" y="208"/>
                  <a:pt x="492" y="235"/>
                  <a:pt x="524" y="235"/>
                </a:cubicBezTo>
                <a:cubicBezTo>
                  <a:pt x="557" y="235"/>
                  <a:pt x="582" y="208"/>
                  <a:pt x="582" y="175"/>
                </a:cubicBezTo>
                <a:cubicBezTo>
                  <a:pt x="582" y="143"/>
                  <a:pt x="557" y="118"/>
                  <a:pt x="524" y="118"/>
                </a:cubicBezTo>
                <a:close/>
                <a:moveTo>
                  <a:pt x="1049" y="235"/>
                </a:moveTo>
                <a:lnTo>
                  <a:pt x="1049" y="1050"/>
                </a:lnTo>
                <a:cubicBezTo>
                  <a:pt x="1049" y="1113"/>
                  <a:pt x="995" y="1167"/>
                  <a:pt x="932" y="1167"/>
                </a:cubicBezTo>
                <a:lnTo>
                  <a:pt x="117" y="1167"/>
                </a:lnTo>
                <a:cubicBezTo>
                  <a:pt x="54" y="1167"/>
                  <a:pt x="0" y="1113"/>
                  <a:pt x="0" y="1050"/>
                </a:cubicBezTo>
                <a:lnTo>
                  <a:pt x="0" y="235"/>
                </a:lnTo>
                <a:cubicBezTo>
                  <a:pt x="0" y="173"/>
                  <a:pt x="54" y="118"/>
                  <a:pt x="117" y="118"/>
                </a:cubicBezTo>
                <a:lnTo>
                  <a:pt x="360" y="118"/>
                </a:lnTo>
                <a:cubicBezTo>
                  <a:pt x="385" y="50"/>
                  <a:pt x="448" y="0"/>
                  <a:pt x="524" y="0"/>
                </a:cubicBezTo>
                <a:cubicBezTo>
                  <a:pt x="601" y="0"/>
                  <a:pt x="664" y="50"/>
                  <a:pt x="688" y="118"/>
                </a:cubicBezTo>
                <a:lnTo>
                  <a:pt x="932" y="118"/>
                </a:lnTo>
                <a:cubicBezTo>
                  <a:pt x="995" y="118"/>
                  <a:pt x="1049" y="173"/>
                  <a:pt x="1049" y="23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endParaRPr lang="en-US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69" name="文本框 168"/>
          <p:cNvSpPr txBox="1"/>
          <p:nvPr/>
        </p:nvSpPr>
        <p:spPr>
          <a:xfrm>
            <a:off x="9163685" y="2315210"/>
            <a:ext cx="1717040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b="1">
                <a:solidFill>
                  <a:schemeClr val="accent1"/>
                </a:solidFill>
              </a:rPr>
              <a:t>01.</a:t>
            </a:r>
            <a:r>
              <a:rPr lang="zh-CN" altLang="en-US" sz="1400" b="1">
                <a:solidFill>
                  <a:schemeClr val="accent1"/>
                </a:solidFill>
              </a:rPr>
              <a:t>产学研合作平台</a:t>
            </a:r>
            <a:endParaRPr lang="zh-CN" altLang="en-US" sz="1400" b="1">
              <a:solidFill>
                <a:schemeClr val="accent1"/>
              </a:solidFill>
            </a:endParaRPr>
          </a:p>
        </p:txBody>
      </p:sp>
      <p:sp>
        <p:nvSpPr>
          <p:cNvPr id="170" name="文本框 169"/>
          <p:cNvSpPr txBox="1"/>
          <p:nvPr/>
        </p:nvSpPr>
        <p:spPr>
          <a:xfrm>
            <a:off x="8712835" y="2588260"/>
            <a:ext cx="3029585" cy="810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30000"/>
              </a:lnSpc>
              <a:buFont typeface="Wingdings" panose="05000000000000000000" charset="0"/>
              <a:buChar char="p"/>
            </a:pPr>
            <a:r>
              <a:rPr lang="zh-CN" altLang="en-US" sz="1200"/>
              <a:t>与国内外顶尖高校、科研院所共建联合实验室、联合研发中心，开展定向技术攻关与人才联合培养。</a:t>
            </a:r>
            <a:endParaRPr lang="zh-CN" altLang="en-US" sz="1200"/>
          </a:p>
        </p:txBody>
      </p:sp>
      <p:sp>
        <p:nvSpPr>
          <p:cNvPr id="171" name="文本框 170"/>
          <p:cNvSpPr txBox="1"/>
          <p:nvPr/>
        </p:nvSpPr>
        <p:spPr>
          <a:xfrm>
            <a:off x="9163050" y="3398520"/>
            <a:ext cx="1718310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b="1">
                <a:solidFill>
                  <a:schemeClr val="accent1"/>
                </a:solidFill>
              </a:rPr>
              <a:t>02.</a:t>
            </a:r>
            <a:r>
              <a:rPr lang="zh-CN" altLang="en-US" sz="1400" b="1">
                <a:solidFill>
                  <a:schemeClr val="accent1"/>
                </a:solidFill>
              </a:rPr>
              <a:t>产业链协同平台</a:t>
            </a:r>
            <a:endParaRPr lang="zh-CN" altLang="en-US" sz="1400" b="1">
              <a:solidFill>
                <a:schemeClr val="accent1"/>
              </a:solidFill>
            </a:endParaRPr>
          </a:p>
        </p:txBody>
      </p:sp>
      <p:sp>
        <p:nvSpPr>
          <p:cNvPr id="172" name="文本框 171"/>
          <p:cNvSpPr txBox="1"/>
          <p:nvPr/>
        </p:nvSpPr>
        <p:spPr>
          <a:xfrm>
            <a:off x="8712835" y="3671570"/>
            <a:ext cx="3029585" cy="810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30000"/>
              </a:lnSpc>
              <a:buFont typeface="Wingdings" panose="05000000000000000000" charset="0"/>
              <a:buChar char="p"/>
            </a:pPr>
            <a:r>
              <a:rPr lang="zh-CN" altLang="en-US" sz="1200"/>
              <a:t>联合上下游核心企业组建产业创新联盟，共享技术成果、测试环境与市场资源，推动产业链整体升级。</a:t>
            </a:r>
            <a:endParaRPr lang="zh-CN" altLang="en-US" sz="1200"/>
          </a:p>
        </p:txBody>
      </p:sp>
      <p:sp>
        <p:nvSpPr>
          <p:cNvPr id="173" name="文本框 172"/>
          <p:cNvSpPr txBox="1"/>
          <p:nvPr/>
        </p:nvSpPr>
        <p:spPr>
          <a:xfrm>
            <a:off x="9269095" y="4481830"/>
            <a:ext cx="1517015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b="1">
                <a:solidFill>
                  <a:schemeClr val="accent1"/>
                </a:solidFill>
              </a:rPr>
              <a:t>03.</a:t>
            </a:r>
            <a:r>
              <a:rPr lang="zh-CN" altLang="en-US" sz="1400" b="1">
                <a:solidFill>
                  <a:schemeClr val="accent1"/>
                </a:solidFill>
              </a:rPr>
              <a:t>国际创新平台</a:t>
            </a:r>
            <a:endParaRPr lang="zh-CN" altLang="en-US" sz="1400" b="1">
              <a:solidFill>
                <a:schemeClr val="accent1"/>
              </a:solidFill>
            </a:endParaRPr>
          </a:p>
        </p:txBody>
      </p:sp>
      <p:sp>
        <p:nvSpPr>
          <p:cNvPr id="174" name="文本框 173"/>
          <p:cNvSpPr txBox="1"/>
          <p:nvPr/>
        </p:nvSpPr>
        <p:spPr>
          <a:xfrm>
            <a:off x="8712835" y="4754880"/>
            <a:ext cx="3029585" cy="810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30000"/>
              </a:lnSpc>
              <a:buFont typeface="Wingdings" panose="05000000000000000000" charset="0"/>
              <a:buChar char="p"/>
            </a:pPr>
            <a:r>
              <a:rPr lang="zh-CN" altLang="en-US" sz="1200"/>
              <a:t>在全球创新高地设立海外研发中心、技术转移中心，就地吸纳先进技术与高端人才，融入全球创新网络。</a:t>
            </a:r>
            <a:endParaRPr lang="zh-CN" altLang="en-US" sz="1200"/>
          </a:p>
        </p:txBody>
      </p:sp>
      <p:grpSp>
        <p:nvGrpSpPr>
          <p:cNvPr id="34" name="组合 33"/>
          <p:cNvGrpSpPr/>
          <p:nvPr/>
        </p:nvGrpSpPr>
        <p:grpSpPr>
          <a:xfrm>
            <a:off x="453390" y="1866900"/>
            <a:ext cx="3655695" cy="4446652"/>
            <a:chOff x="714" y="1790"/>
            <a:chExt cx="5757" cy="8398"/>
          </a:xfrm>
        </p:grpSpPr>
        <p:sp>
          <p:nvSpPr>
            <p:cNvPr id="35" name="任意形状 12"/>
            <p:cNvSpPr/>
            <p:nvPr/>
          </p:nvSpPr>
          <p:spPr>
            <a:xfrm>
              <a:off x="5663" y="1790"/>
              <a:ext cx="370" cy="370"/>
            </a:xfrm>
            <a:custGeom>
              <a:avLst/>
              <a:gdLst>
                <a:gd name="connsiteX0" fmla="*/ 234696 w 234695"/>
                <a:gd name="connsiteY0" fmla="*/ 117348 h 234696"/>
                <a:gd name="connsiteX1" fmla="*/ 117348 w 234695"/>
                <a:gd name="connsiteY1" fmla="*/ 234696 h 234696"/>
                <a:gd name="connsiteX2" fmla="*/ 0 w 234695"/>
                <a:gd name="connsiteY2" fmla="*/ 117348 h 234696"/>
                <a:gd name="connsiteX3" fmla="*/ 117348 w 234695"/>
                <a:gd name="connsiteY3" fmla="*/ 0 h 234696"/>
                <a:gd name="connsiteX4" fmla="*/ 234696 w 234695"/>
                <a:gd name="connsiteY4" fmla="*/ 117348 h 234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4695" h="234696">
                  <a:moveTo>
                    <a:pt x="234696" y="117348"/>
                  </a:moveTo>
                  <a:cubicBezTo>
                    <a:pt x="234696" y="182158"/>
                    <a:pt x="182158" y="234696"/>
                    <a:pt x="117348" y="234696"/>
                  </a:cubicBezTo>
                  <a:cubicBezTo>
                    <a:pt x="52539" y="234696"/>
                    <a:pt x="0" y="182157"/>
                    <a:pt x="0" y="117348"/>
                  </a:cubicBezTo>
                  <a:cubicBezTo>
                    <a:pt x="0" y="52539"/>
                    <a:pt x="52539" y="0"/>
                    <a:pt x="117348" y="0"/>
                  </a:cubicBezTo>
                  <a:cubicBezTo>
                    <a:pt x="182158" y="0"/>
                    <a:pt x="234696" y="52539"/>
                    <a:pt x="234696" y="117348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7620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zh-CN" altLang="en-US">
                <a:latin typeface="Alibaba PuHuiTi" pitchFamily="18" charset="-122"/>
                <a:ea typeface="Alibaba PuHuiTi" pitchFamily="18" charset="-122"/>
                <a:cs typeface="Alibaba PuHuiTi" pitchFamily="18" charset="-122"/>
              </a:endParaRPr>
            </a:p>
          </p:txBody>
        </p:sp>
        <p:sp>
          <p:nvSpPr>
            <p:cNvPr id="36" name="任意形状 11"/>
            <p:cNvSpPr/>
            <p:nvPr/>
          </p:nvSpPr>
          <p:spPr>
            <a:xfrm>
              <a:off x="1235" y="1790"/>
              <a:ext cx="370" cy="370"/>
            </a:xfrm>
            <a:custGeom>
              <a:avLst/>
              <a:gdLst>
                <a:gd name="connsiteX0" fmla="*/ 234696 w 234696"/>
                <a:gd name="connsiteY0" fmla="*/ 117348 h 234696"/>
                <a:gd name="connsiteX1" fmla="*/ 117348 w 234696"/>
                <a:gd name="connsiteY1" fmla="*/ 234696 h 234696"/>
                <a:gd name="connsiteX2" fmla="*/ 0 w 234696"/>
                <a:gd name="connsiteY2" fmla="*/ 117348 h 234696"/>
                <a:gd name="connsiteX3" fmla="*/ 117348 w 234696"/>
                <a:gd name="connsiteY3" fmla="*/ 0 h 234696"/>
                <a:gd name="connsiteX4" fmla="*/ 234696 w 234696"/>
                <a:gd name="connsiteY4" fmla="*/ 117348 h 234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4696" h="234696">
                  <a:moveTo>
                    <a:pt x="234696" y="117348"/>
                  </a:moveTo>
                  <a:cubicBezTo>
                    <a:pt x="234696" y="182158"/>
                    <a:pt x="182157" y="234696"/>
                    <a:pt x="117348" y="234696"/>
                  </a:cubicBezTo>
                  <a:cubicBezTo>
                    <a:pt x="52538" y="234696"/>
                    <a:pt x="0" y="182157"/>
                    <a:pt x="0" y="117348"/>
                  </a:cubicBezTo>
                  <a:cubicBezTo>
                    <a:pt x="0" y="52539"/>
                    <a:pt x="52538" y="0"/>
                    <a:pt x="117348" y="0"/>
                  </a:cubicBezTo>
                  <a:cubicBezTo>
                    <a:pt x="182158" y="0"/>
                    <a:pt x="234696" y="52539"/>
                    <a:pt x="234696" y="117348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7620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zh-CN" altLang="en-US">
                <a:latin typeface="Alibaba PuHuiTi" pitchFamily="18" charset="-122"/>
                <a:ea typeface="Alibaba PuHuiTi" pitchFamily="18" charset="-122"/>
                <a:cs typeface="Alibaba PuHuiTi" pitchFamily="18" charset="-122"/>
              </a:endParaRPr>
            </a:p>
          </p:txBody>
        </p:sp>
        <p:sp>
          <p:nvSpPr>
            <p:cNvPr id="37" name="同侧圆角矩形 36"/>
            <p:cNvSpPr/>
            <p:nvPr/>
          </p:nvSpPr>
          <p:spPr>
            <a:xfrm>
              <a:off x="933" y="1975"/>
              <a:ext cx="5386" cy="8213"/>
            </a:xfrm>
            <a:prstGeom prst="round2SameRect">
              <a:avLst>
                <a:gd name="adj1" fmla="val 1682"/>
                <a:gd name="adj2" fmla="val 0"/>
              </a:avLst>
            </a:prstGeom>
            <a:gradFill>
              <a:gsLst>
                <a:gs pos="49000">
                  <a:schemeClr val="bg1"/>
                </a:gs>
                <a:gs pos="75000">
                  <a:schemeClr val="bg1"/>
                </a:gs>
              </a:gsLst>
              <a:lin ang="5400000" scaled="1"/>
            </a:gradFill>
            <a:ln w="15875" cap="rnd">
              <a:gradFill>
                <a:gsLst>
                  <a:gs pos="34000">
                    <a:schemeClr val="accent1"/>
                  </a:gs>
                  <a:gs pos="80000">
                    <a:schemeClr val="accent1">
                      <a:alpha val="0"/>
                    </a:schemeClr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>
                <a:latin typeface="Alibaba PuHuiTi" pitchFamily="18" charset="-122"/>
                <a:ea typeface="Alibaba PuHuiTi" pitchFamily="18" charset="-122"/>
                <a:cs typeface="Alibaba PuHuiTi" pitchFamily="18" charset="-122"/>
              </a:endParaRPr>
            </a:p>
          </p:txBody>
        </p:sp>
        <p:sp>
          <p:nvSpPr>
            <p:cNvPr id="38" name="任意形状 13"/>
            <p:cNvSpPr/>
            <p:nvPr/>
          </p:nvSpPr>
          <p:spPr>
            <a:xfrm>
              <a:off x="1334" y="1790"/>
              <a:ext cx="4587" cy="814"/>
            </a:xfrm>
            <a:custGeom>
              <a:avLst/>
              <a:gdLst>
                <a:gd name="connsiteX0" fmla="*/ 2520696 w 2659379"/>
                <a:gd name="connsiteY0" fmla="*/ 516636 h 516636"/>
                <a:gd name="connsiteX1" fmla="*/ 138684 w 2659379"/>
                <a:gd name="connsiteY1" fmla="*/ 516636 h 516636"/>
                <a:gd name="connsiteX2" fmla="*/ 77724 w 2659379"/>
                <a:gd name="connsiteY2" fmla="*/ 464820 h 516636"/>
                <a:gd name="connsiteX3" fmla="*/ 0 w 2659379"/>
                <a:gd name="connsiteY3" fmla="*/ 0 h 516636"/>
                <a:gd name="connsiteX4" fmla="*/ 2659380 w 2659379"/>
                <a:gd name="connsiteY4" fmla="*/ 0 h 516636"/>
                <a:gd name="connsiteX5" fmla="*/ 2581656 w 2659379"/>
                <a:gd name="connsiteY5" fmla="*/ 464820 h 516636"/>
                <a:gd name="connsiteX6" fmla="*/ 2520696 w 2659379"/>
                <a:gd name="connsiteY6" fmla="*/ 516636 h 516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9379" h="516636">
                  <a:moveTo>
                    <a:pt x="2520696" y="516636"/>
                  </a:moveTo>
                  <a:lnTo>
                    <a:pt x="138684" y="516636"/>
                  </a:lnTo>
                  <a:cubicBezTo>
                    <a:pt x="108204" y="516636"/>
                    <a:pt x="83058" y="494538"/>
                    <a:pt x="77724" y="464820"/>
                  </a:cubicBezTo>
                  <a:lnTo>
                    <a:pt x="0" y="0"/>
                  </a:lnTo>
                  <a:lnTo>
                    <a:pt x="2659380" y="0"/>
                  </a:lnTo>
                  <a:lnTo>
                    <a:pt x="2581656" y="464820"/>
                  </a:lnTo>
                  <a:cubicBezTo>
                    <a:pt x="2576322" y="494538"/>
                    <a:pt x="2551176" y="516636"/>
                    <a:pt x="2520696" y="516636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79000">
                  <a:schemeClr val="accent1"/>
                </a:gs>
              </a:gsLst>
              <a:path path="circle">
                <a:fillToRect r="100000" b="100000"/>
              </a:path>
            </a:gradFill>
            <a:ln w="7620" cap="rnd">
              <a:noFill/>
              <a:prstDash val="solid"/>
              <a:round/>
            </a:ln>
          </p:spPr>
          <p:txBody>
            <a:bodyPr rtlCol="0" anchor="ctr"/>
            <a:lstStyle/>
            <a:p>
              <a:pPr algn="ctr"/>
              <a:r>
                <a:rPr lang="zh-CN" altLang="en-US" sz="1600" b="1" noProof="0" dirty="0">
                  <a:ln>
                    <a:noFill/>
                  </a:ln>
                  <a:solidFill>
                    <a:srgbClr val="FE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libaba PuHuiTi" pitchFamily="18" charset="-122"/>
                  <a:sym typeface="+mn-ea"/>
                </a:rPr>
                <a:t>搭建专业化科技创新组织架构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endParaRPr>
            </a:p>
          </p:txBody>
        </p:sp>
        <p:sp>
          <p:nvSpPr>
            <p:cNvPr id="39" name="任意形状 32"/>
            <p:cNvSpPr/>
            <p:nvPr/>
          </p:nvSpPr>
          <p:spPr>
            <a:xfrm>
              <a:off x="714" y="9282"/>
              <a:ext cx="5622" cy="906"/>
            </a:xfrm>
            <a:custGeom>
              <a:avLst/>
              <a:gdLst>
                <a:gd name="connsiteX0" fmla="*/ 0 w 11907012"/>
                <a:gd name="connsiteY0" fmla="*/ 0 h 803910"/>
                <a:gd name="connsiteX1" fmla="*/ 11907012 w 11907012"/>
                <a:gd name="connsiteY1" fmla="*/ 0 h 803910"/>
                <a:gd name="connsiteX2" fmla="*/ 11907012 w 11907012"/>
                <a:gd name="connsiteY2" fmla="*/ 803910 h 803910"/>
                <a:gd name="connsiteX3" fmla="*/ 0 w 11907012"/>
                <a:gd name="connsiteY3" fmla="*/ 803910 h 803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07012" h="803910">
                  <a:moveTo>
                    <a:pt x="0" y="0"/>
                  </a:moveTo>
                  <a:lnTo>
                    <a:pt x="11907012" y="0"/>
                  </a:lnTo>
                  <a:lnTo>
                    <a:pt x="11907012" y="803910"/>
                  </a:lnTo>
                  <a:lnTo>
                    <a:pt x="0" y="803910"/>
                  </a:lnTo>
                  <a:close/>
                </a:path>
              </a:pathLst>
            </a:custGeom>
            <a:gradFill>
              <a:gsLst>
                <a:gs pos="100000">
                  <a:schemeClr val="accent1"/>
                </a:gs>
                <a:gs pos="0">
                  <a:schemeClr val="accent1">
                    <a:lumMod val="80000"/>
                    <a:lumOff val="20000"/>
                  </a:schemeClr>
                </a:gs>
              </a:gsLst>
              <a:lin ang="2400000" scaled="0"/>
            </a:gradFill>
            <a:ln w="7620" cap="rnd">
              <a:noFill/>
              <a:prstDash val="solid"/>
              <a:round/>
            </a:ln>
          </p:spPr>
          <p:txBody>
            <a:bodyPr rtlCol="0" anchor="ctr"/>
            <a:lstStyle/>
            <a:p>
              <a:pPr algn="ctr"/>
              <a:r>
                <a:rPr lang="zh-CN" altLang="en-US" sz="1400" b="1" dirty="0">
                  <a:solidFill>
                    <a:schemeClr val="bg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libaba PuHuiTi" pitchFamily="18" charset="-122"/>
                  <a:sym typeface="+mn-ea"/>
                </a:rPr>
                <a:t>建立权责清晰、分工明确、协同高效的创新组织体系，打通技术创新全链条</a:t>
              </a:r>
              <a:endParaRPr lang="zh-CN" altLang="en-US" sz="1400" b="1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endParaRPr>
            </a:p>
          </p:txBody>
        </p:sp>
        <p:sp>
          <p:nvSpPr>
            <p:cNvPr id="40" name="任意形状 33"/>
            <p:cNvSpPr/>
            <p:nvPr/>
          </p:nvSpPr>
          <p:spPr>
            <a:xfrm>
              <a:off x="714" y="8994"/>
              <a:ext cx="5757" cy="288"/>
            </a:xfrm>
            <a:custGeom>
              <a:avLst/>
              <a:gdLst>
                <a:gd name="connsiteX0" fmla="*/ 11907012 w 12192000"/>
                <a:gd name="connsiteY0" fmla="*/ 255270 h 255270"/>
                <a:gd name="connsiteX1" fmla="*/ 0 w 12192000"/>
                <a:gd name="connsiteY1" fmla="*/ 255270 h 255270"/>
                <a:gd name="connsiteX2" fmla="*/ 284988 w 12192000"/>
                <a:gd name="connsiteY2" fmla="*/ 0 h 255270"/>
                <a:gd name="connsiteX3" fmla="*/ 12192000 w 12192000"/>
                <a:gd name="connsiteY3" fmla="*/ 0 h 255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255270">
                  <a:moveTo>
                    <a:pt x="11907012" y="255270"/>
                  </a:moveTo>
                  <a:lnTo>
                    <a:pt x="0" y="255270"/>
                  </a:lnTo>
                  <a:lnTo>
                    <a:pt x="284988" y="0"/>
                  </a:lnTo>
                  <a:lnTo>
                    <a:pt x="12192000" y="0"/>
                  </a:lnTo>
                  <a:close/>
                </a:path>
              </a:pathLst>
            </a:custGeom>
            <a:gradFill flip="none" rotWithShape="1">
              <a:gsLst>
                <a:gs pos="25000">
                  <a:schemeClr val="accent1">
                    <a:alpha val="40000"/>
                  </a:schemeClr>
                </a:gs>
                <a:gs pos="100000">
                  <a:schemeClr val="accent1">
                    <a:alpha val="65143"/>
                  </a:schemeClr>
                </a:gs>
                <a:gs pos="0">
                  <a:schemeClr val="bg1"/>
                </a:gs>
              </a:gsLst>
              <a:lin ang="5400000" scaled="1"/>
              <a:tileRect/>
            </a:gradFill>
            <a:ln w="7620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zh-CN" altLang="en-US">
                <a:latin typeface="Alibaba PuHuiTi" pitchFamily="18" charset="-122"/>
                <a:ea typeface="Alibaba PuHuiTi" pitchFamily="18" charset="-122"/>
                <a:cs typeface="Alibaba PuHuiTi" pitchFamily="18" charset="-122"/>
              </a:endParaRPr>
            </a:p>
          </p:txBody>
        </p:sp>
        <p:sp>
          <p:nvSpPr>
            <p:cNvPr id="41" name="任意形状 34"/>
            <p:cNvSpPr/>
            <p:nvPr/>
          </p:nvSpPr>
          <p:spPr>
            <a:xfrm>
              <a:off x="6336" y="8994"/>
              <a:ext cx="135" cy="1193"/>
            </a:xfrm>
            <a:custGeom>
              <a:avLst/>
              <a:gdLst>
                <a:gd name="connsiteX0" fmla="*/ 284988 w 284988"/>
                <a:gd name="connsiteY0" fmla="*/ 801624 h 1059180"/>
                <a:gd name="connsiteX1" fmla="*/ 284988 w 284988"/>
                <a:gd name="connsiteY1" fmla="*/ 801624 h 1059180"/>
                <a:gd name="connsiteX2" fmla="*/ 284988 w 284988"/>
                <a:gd name="connsiteY2" fmla="*/ 0 h 1059180"/>
                <a:gd name="connsiteX3" fmla="*/ 284988 w 284988"/>
                <a:gd name="connsiteY3" fmla="*/ 0 h 1059180"/>
                <a:gd name="connsiteX4" fmla="*/ 0 w 284988"/>
                <a:gd name="connsiteY4" fmla="*/ 255270 h 1059180"/>
                <a:gd name="connsiteX5" fmla="*/ 0 w 284988"/>
                <a:gd name="connsiteY5" fmla="*/ 1059180 h 1059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4988" h="1059180">
                  <a:moveTo>
                    <a:pt x="284988" y="801624"/>
                  </a:moveTo>
                  <a:lnTo>
                    <a:pt x="284988" y="801624"/>
                  </a:lnTo>
                  <a:lnTo>
                    <a:pt x="284988" y="0"/>
                  </a:lnTo>
                  <a:lnTo>
                    <a:pt x="284988" y="0"/>
                  </a:lnTo>
                  <a:lnTo>
                    <a:pt x="0" y="255270"/>
                  </a:lnTo>
                  <a:lnTo>
                    <a:pt x="0" y="1059180"/>
                  </a:lnTo>
                  <a:close/>
                </a:path>
              </a:pathLst>
            </a:custGeom>
            <a:gradFill>
              <a:gsLst>
                <a:gs pos="100000">
                  <a:schemeClr val="accent1"/>
                </a:gs>
                <a:gs pos="0">
                  <a:schemeClr val="bg1"/>
                </a:gs>
              </a:gsLst>
              <a:lin ang="2400000" scaled="0"/>
            </a:gradFill>
            <a:ln w="7620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zh-CN" altLang="en-US">
                <a:latin typeface="Alibaba PuHuiTi" pitchFamily="18" charset="-122"/>
                <a:ea typeface="Alibaba PuHuiTi" pitchFamily="18" charset="-122"/>
                <a:cs typeface="Alibaba PuHuiTi" pitchFamily="18" charset="-122"/>
              </a:endParaRPr>
            </a:p>
          </p:txBody>
        </p:sp>
        <p:grpSp>
          <p:nvGrpSpPr>
            <p:cNvPr id="46" name="Google Shape;9616;p77"/>
            <p:cNvGrpSpPr>
              <a:grpSpLocks noChangeAspect="1"/>
            </p:cNvGrpSpPr>
            <p:nvPr/>
          </p:nvGrpSpPr>
          <p:grpSpPr>
            <a:xfrm>
              <a:off x="1533" y="5709"/>
              <a:ext cx="70" cy="235"/>
              <a:chOff x="-60742100" y="3741600"/>
              <a:chExt cx="70125" cy="233950"/>
            </a:xfrm>
            <a:solidFill>
              <a:schemeClr val="bg1"/>
            </a:solidFill>
          </p:grpSpPr>
          <p:sp>
            <p:nvSpPr>
              <p:cNvPr id="47" name="Google Shape;9618;p77"/>
              <p:cNvSpPr/>
              <p:nvPr/>
            </p:nvSpPr>
            <p:spPr>
              <a:xfrm>
                <a:off x="-60742100" y="3920375"/>
                <a:ext cx="68550" cy="55175"/>
              </a:xfrm>
              <a:custGeom>
                <a:avLst/>
                <a:gdLst/>
                <a:ahLst/>
                <a:cxnLst/>
                <a:rect l="l" t="t" r="r" b="b"/>
                <a:pathLst>
                  <a:path w="2742" h="2207" extrusionOk="0">
                    <a:moveTo>
                      <a:pt x="0" y="1"/>
                    </a:moveTo>
                    <a:lnTo>
                      <a:pt x="0" y="32"/>
                    </a:lnTo>
                    <a:lnTo>
                      <a:pt x="1009" y="1986"/>
                    </a:lnTo>
                    <a:cubicBezTo>
                      <a:pt x="1103" y="2080"/>
                      <a:pt x="1261" y="2206"/>
                      <a:pt x="1418" y="2206"/>
                    </a:cubicBezTo>
                    <a:cubicBezTo>
                      <a:pt x="1576" y="2206"/>
                      <a:pt x="1733" y="2143"/>
                      <a:pt x="1796" y="1986"/>
                    </a:cubicBezTo>
                    <a:lnTo>
                      <a:pt x="2741" y="32"/>
                    </a:lnTo>
                    <a:lnTo>
                      <a:pt x="274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8" name="Google Shape;9619;p77"/>
              <p:cNvSpPr/>
              <p:nvPr/>
            </p:nvSpPr>
            <p:spPr>
              <a:xfrm>
                <a:off x="-60740525" y="3741600"/>
                <a:ext cx="68550" cy="158325"/>
              </a:xfrm>
              <a:custGeom>
                <a:avLst/>
                <a:gdLst/>
                <a:ahLst/>
                <a:cxnLst/>
                <a:rect l="l" t="t" r="r" b="b"/>
                <a:pathLst>
                  <a:path w="2742" h="6333" extrusionOk="0">
                    <a:moveTo>
                      <a:pt x="1796" y="819"/>
                    </a:moveTo>
                    <a:cubicBezTo>
                      <a:pt x="1891" y="819"/>
                      <a:pt x="1922" y="882"/>
                      <a:pt x="1922" y="945"/>
                    </a:cubicBezTo>
                    <a:lnTo>
                      <a:pt x="1922" y="1638"/>
                    </a:lnTo>
                    <a:lnTo>
                      <a:pt x="820" y="1638"/>
                    </a:lnTo>
                    <a:lnTo>
                      <a:pt x="820" y="945"/>
                    </a:lnTo>
                    <a:cubicBezTo>
                      <a:pt x="820" y="851"/>
                      <a:pt x="883" y="819"/>
                      <a:pt x="977" y="819"/>
                    </a:cubicBezTo>
                    <a:close/>
                    <a:moveTo>
                      <a:pt x="977" y="0"/>
                    </a:moveTo>
                    <a:cubicBezTo>
                      <a:pt x="410" y="0"/>
                      <a:pt x="1" y="410"/>
                      <a:pt x="1" y="945"/>
                    </a:cubicBezTo>
                    <a:lnTo>
                      <a:pt x="1" y="6333"/>
                    </a:lnTo>
                    <a:lnTo>
                      <a:pt x="2741" y="6333"/>
                    </a:lnTo>
                    <a:lnTo>
                      <a:pt x="2741" y="945"/>
                    </a:lnTo>
                    <a:cubicBezTo>
                      <a:pt x="2741" y="410"/>
                      <a:pt x="2300" y="0"/>
                      <a:pt x="179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49" name="Google Shape;9616;p77"/>
            <p:cNvGrpSpPr>
              <a:grpSpLocks noChangeAspect="1"/>
            </p:cNvGrpSpPr>
            <p:nvPr/>
          </p:nvGrpSpPr>
          <p:grpSpPr>
            <a:xfrm>
              <a:off x="1286" y="3719"/>
              <a:ext cx="317" cy="312"/>
              <a:chOff x="-60988625" y="3740800"/>
              <a:chExt cx="315075" cy="310350"/>
            </a:xfrm>
            <a:solidFill>
              <a:schemeClr val="bg1"/>
            </a:solidFill>
          </p:grpSpPr>
          <p:sp>
            <p:nvSpPr>
              <p:cNvPr id="50" name="Google Shape;9617;p77"/>
              <p:cNvSpPr/>
              <p:nvPr/>
            </p:nvSpPr>
            <p:spPr>
              <a:xfrm>
                <a:off x="-60988625" y="3740800"/>
                <a:ext cx="311125" cy="310350"/>
              </a:xfrm>
              <a:custGeom>
                <a:avLst/>
                <a:gdLst/>
                <a:ahLst/>
                <a:cxnLst/>
                <a:rect l="l" t="t" r="r" b="b"/>
                <a:pathLst>
                  <a:path w="12445" h="12414" extrusionOk="0">
                    <a:moveTo>
                      <a:pt x="7026" y="1670"/>
                    </a:moveTo>
                    <a:cubicBezTo>
                      <a:pt x="7278" y="1670"/>
                      <a:pt x="7467" y="1859"/>
                      <a:pt x="7467" y="2111"/>
                    </a:cubicBezTo>
                    <a:cubicBezTo>
                      <a:pt x="7467" y="2332"/>
                      <a:pt x="7278" y="2490"/>
                      <a:pt x="7026" y="2490"/>
                    </a:cubicBezTo>
                    <a:lnTo>
                      <a:pt x="2080" y="2490"/>
                    </a:lnTo>
                    <a:cubicBezTo>
                      <a:pt x="1828" y="2490"/>
                      <a:pt x="1639" y="2300"/>
                      <a:pt x="1639" y="2111"/>
                    </a:cubicBezTo>
                    <a:cubicBezTo>
                      <a:pt x="1639" y="1828"/>
                      <a:pt x="1828" y="1670"/>
                      <a:pt x="2080" y="1670"/>
                    </a:cubicBezTo>
                    <a:close/>
                    <a:moveTo>
                      <a:pt x="7026" y="4159"/>
                    </a:moveTo>
                    <a:cubicBezTo>
                      <a:pt x="7278" y="4159"/>
                      <a:pt x="7467" y="4348"/>
                      <a:pt x="7467" y="4537"/>
                    </a:cubicBezTo>
                    <a:cubicBezTo>
                      <a:pt x="7467" y="4789"/>
                      <a:pt x="7278" y="4978"/>
                      <a:pt x="7026" y="4978"/>
                    </a:cubicBezTo>
                    <a:lnTo>
                      <a:pt x="2080" y="4978"/>
                    </a:lnTo>
                    <a:cubicBezTo>
                      <a:pt x="1828" y="4978"/>
                      <a:pt x="1639" y="4789"/>
                      <a:pt x="1639" y="4537"/>
                    </a:cubicBezTo>
                    <a:cubicBezTo>
                      <a:pt x="1639" y="4317"/>
                      <a:pt x="1828" y="4159"/>
                      <a:pt x="2080" y="4159"/>
                    </a:cubicBezTo>
                    <a:close/>
                    <a:moveTo>
                      <a:pt x="7026" y="6648"/>
                    </a:moveTo>
                    <a:cubicBezTo>
                      <a:pt x="7278" y="6648"/>
                      <a:pt x="7467" y="6837"/>
                      <a:pt x="7467" y="7058"/>
                    </a:cubicBezTo>
                    <a:cubicBezTo>
                      <a:pt x="7467" y="7310"/>
                      <a:pt x="7278" y="7467"/>
                      <a:pt x="7026" y="7467"/>
                    </a:cubicBezTo>
                    <a:lnTo>
                      <a:pt x="2080" y="7467"/>
                    </a:lnTo>
                    <a:cubicBezTo>
                      <a:pt x="1828" y="7467"/>
                      <a:pt x="1639" y="7278"/>
                      <a:pt x="1639" y="7058"/>
                    </a:cubicBezTo>
                    <a:cubicBezTo>
                      <a:pt x="1639" y="6806"/>
                      <a:pt x="1828" y="6648"/>
                      <a:pt x="2080" y="6648"/>
                    </a:cubicBezTo>
                    <a:close/>
                    <a:moveTo>
                      <a:pt x="7026" y="9106"/>
                    </a:moveTo>
                    <a:cubicBezTo>
                      <a:pt x="7278" y="9106"/>
                      <a:pt x="7467" y="9295"/>
                      <a:pt x="7467" y="9515"/>
                    </a:cubicBezTo>
                    <a:cubicBezTo>
                      <a:pt x="7467" y="9736"/>
                      <a:pt x="7278" y="9893"/>
                      <a:pt x="7026" y="9893"/>
                    </a:cubicBezTo>
                    <a:lnTo>
                      <a:pt x="2080" y="9893"/>
                    </a:lnTo>
                    <a:cubicBezTo>
                      <a:pt x="1828" y="9893"/>
                      <a:pt x="1639" y="9704"/>
                      <a:pt x="1639" y="9515"/>
                    </a:cubicBezTo>
                    <a:cubicBezTo>
                      <a:pt x="1639" y="9263"/>
                      <a:pt x="1828" y="9106"/>
                      <a:pt x="2080" y="9106"/>
                    </a:cubicBezTo>
                    <a:close/>
                    <a:moveTo>
                      <a:pt x="11500" y="10775"/>
                    </a:moveTo>
                    <a:cubicBezTo>
                      <a:pt x="11342" y="11248"/>
                      <a:pt x="10870" y="11594"/>
                      <a:pt x="10303" y="11594"/>
                    </a:cubicBezTo>
                    <a:cubicBezTo>
                      <a:pt x="9767" y="11594"/>
                      <a:pt x="9326" y="11248"/>
                      <a:pt x="9137" y="10775"/>
                    </a:cubicBezTo>
                    <a:close/>
                    <a:moveTo>
                      <a:pt x="1261" y="1"/>
                    </a:moveTo>
                    <a:cubicBezTo>
                      <a:pt x="568" y="1"/>
                      <a:pt x="32" y="568"/>
                      <a:pt x="32" y="1229"/>
                    </a:cubicBezTo>
                    <a:lnTo>
                      <a:pt x="32" y="10334"/>
                    </a:lnTo>
                    <a:cubicBezTo>
                      <a:pt x="0" y="11468"/>
                      <a:pt x="946" y="12414"/>
                      <a:pt x="2080" y="12414"/>
                    </a:cubicBezTo>
                    <a:lnTo>
                      <a:pt x="10334" y="12414"/>
                    </a:lnTo>
                    <a:cubicBezTo>
                      <a:pt x="11500" y="12414"/>
                      <a:pt x="12445" y="11468"/>
                      <a:pt x="12445" y="10334"/>
                    </a:cubicBezTo>
                    <a:cubicBezTo>
                      <a:pt x="12445" y="10082"/>
                      <a:pt x="12224" y="9893"/>
                      <a:pt x="12004" y="9893"/>
                    </a:cubicBezTo>
                    <a:lnTo>
                      <a:pt x="9074" y="9893"/>
                    </a:lnTo>
                    <a:lnTo>
                      <a:pt x="9074" y="1229"/>
                    </a:lnTo>
                    <a:cubicBezTo>
                      <a:pt x="9074" y="568"/>
                      <a:pt x="8538" y="1"/>
                      <a:pt x="787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1" name="Google Shape;9618;p77"/>
              <p:cNvSpPr/>
              <p:nvPr/>
            </p:nvSpPr>
            <p:spPr>
              <a:xfrm>
                <a:off x="-60742100" y="3920375"/>
                <a:ext cx="68550" cy="55175"/>
              </a:xfrm>
              <a:custGeom>
                <a:avLst/>
                <a:gdLst/>
                <a:ahLst/>
                <a:cxnLst/>
                <a:rect l="l" t="t" r="r" b="b"/>
                <a:pathLst>
                  <a:path w="2742" h="2207" extrusionOk="0">
                    <a:moveTo>
                      <a:pt x="0" y="1"/>
                    </a:moveTo>
                    <a:lnTo>
                      <a:pt x="0" y="32"/>
                    </a:lnTo>
                    <a:lnTo>
                      <a:pt x="1009" y="1986"/>
                    </a:lnTo>
                    <a:cubicBezTo>
                      <a:pt x="1103" y="2080"/>
                      <a:pt x="1261" y="2206"/>
                      <a:pt x="1418" y="2206"/>
                    </a:cubicBezTo>
                    <a:cubicBezTo>
                      <a:pt x="1576" y="2206"/>
                      <a:pt x="1733" y="2143"/>
                      <a:pt x="1796" y="1986"/>
                    </a:cubicBezTo>
                    <a:lnTo>
                      <a:pt x="2741" y="32"/>
                    </a:lnTo>
                    <a:lnTo>
                      <a:pt x="274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grpSp>
        <p:nvGrpSpPr>
          <p:cNvPr id="52" name="组合 51"/>
          <p:cNvGrpSpPr/>
          <p:nvPr/>
        </p:nvGrpSpPr>
        <p:grpSpPr>
          <a:xfrm>
            <a:off x="4227830" y="1866689"/>
            <a:ext cx="3655695" cy="4446863"/>
            <a:chOff x="6658" y="1790"/>
            <a:chExt cx="5757" cy="8398"/>
          </a:xfrm>
        </p:grpSpPr>
        <p:sp>
          <p:nvSpPr>
            <p:cNvPr id="53" name="任意形状 36"/>
            <p:cNvSpPr/>
            <p:nvPr/>
          </p:nvSpPr>
          <p:spPr>
            <a:xfrm>
              <a:off x="7222" y="1790"/>
              <a:ext cx="370" cy="370"/>
            </a:xfrm>
            <a:custGeom>
              <a:avLst/>
              <a:gdLst>
                <a:gd name="connsiteX0" fmla="*/ 234696 w 234695"/>
                <a:gd name="connsiteY0" fmla="*/ 117348 h 234696"/>
                <a:gd name="connsiteX1" fmla="*/ 117348 w 234695"/>
                <a:gd name="connsiteY1" fmla="*/ 234696 h 234696"/>
                <a:gd name="connsiteX2" fmla="*/ 0 w 234695"/>
                <a:gd name="connsiteY2" fmla="*/ 117348 h 234696"/>
                <a:gd name="connsiteX3" fmla="*/ 117348 w 234695"/>
                <a:gd name="connsiteY3" fmla="*/ 0 h 234696"/>
                <a:gd name="connsiteX4" fmla="*/ 234696 w 234695"/>
                <a:gd name="connsiteY4" fmla="*/ 117348 h 234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4695" h="234696">
                  <a:moveTo>
                    <a:pt x="234696" y="117348"/>
                  </a:moveTo>
                  <a:cubicBezTo>
                    <a:pt x="234696" y="182158"/>
                    <a:pt x="182158" y="234696"/>
                    <a:pt x="117348" y="234696"/>
                  </a:cubicBezTo>
                  <a:cubicBezTo>
                    <a:pt x="52538" y="234696"/>
                    <a:pt x="0" y="182157"/>
                    <a:pt x="0" y="117348"/>
                  </a:cubicBezTo>
                  <a:cubicBezTo>
                    <a:pt x="0" y="52539"/>
                    <a:pt x="52538" y="0"/>
                    <a:pt x="117348" y="0"/>
                  </a:cubicBezTo>
                  <a:cubicBezTo>
                    <a:pt x="182158" y="0"/>
                    <a:pt x="234696" y="52539"/>
                    <a:pt x="234696" y="117348"/>
                  </a:cubicBez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7620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zh-CN" altLang="en-US">
                <a:latin typeface="Alibaba PuHuiTi" pitchFamily="18" charset="-122"/>
                <a:ea typeface="Alibaba PuHuiTi" pitchFamily="18" charset="-122"/>
                <a:cs typeface="Alibaba PuHuiTi" pitchFamily="18" charset="-122"/>
              </a:endParaRPr>
            </a:p>
          </p:txBody>
        </p:sp>
        <p:sp>
          <p:nvSpPr>
            <p:cNvPr id="63" name="任意形状 37"/>
            <p:cNvSpPr/>
            <p:nvPr/>
          </p:nvSpPr>
          <p:spPr>
            <a:xfrm>
              <a:off x="11620" y="1790"/>
              <a:ext cx="370" cy="370"/>
            </a:xfrm>
            <a:custGeom>
              <a:avLst/>
              <a:gdLst>
                <a:gd name="connsiteX0" fmla="*/ 234696 w 234695"/>
                <a:gd name="connsiteY0" fmla="*/ 117348 h 234696"/>
                <a:gd name="connsiteX1" fmla="*/ 117348 w 234695"/>
                <a:gd name="connsiteY1" fmla="*/ 234696 h 234696"/>
                <a:gd name="connsiteX2" fmla="*/ 0 w 234695"/>
                <a:gd name="connsiteY2" fmla="*/ 117348 h 234696"/>
                <a:gd name="connsiteX3" fmla="*/ 117348 w 234695"/>
                <a:gd name="connsiteY3" fmla="*/ 0 h 234696"/>
                <a:gd name="connsiteX4" fmla="*/ 234696 w 234695"/>
                <a:gd name="connsiteY4" fmla="*/ 117348 h 234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4695" h="234696">
                  <a:moveTo>
                    <a:pt x="234696" y="117348"/>
                  </a:moveTo>
                  <a:cubicBezTo>
                    <a:pt x="234696" y="182158"/>
                    <a:pt x="182158" y="234696"/>
                    <a:pt x="117348" y="234696"/>
                  </a:cubicBezTo>
                  <a:cubicBezTo>
                    <a:pt x="52538" y="234696"/>
                    <a:pt x="0" y="182157"/>
                    <a:pt x="0" y="117348"/>
                  </a:cubicBezTo>
                  <a:cubicBezTo>
                    <a:pt x="0" y="52539"/>
                    <a:pt x="52538" y="0"/>
                    <a:pt x="117348" y="0"/>
                  </a:cubicBezTo>
                  <a:cubicBezTo>
                    <a:pt x="182158" y="0"/>
                    <a:pt x="234696" y="52539"/>
                    <a:pt x="234696" y="117348"/>
                  </a:cubicBez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7620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zh-CN" altLang="en-US">
                <a:latin typeface="Alibaba PuHuiTi" pitchFamily="18" charset="-122"/>
                <a:ea typeface="Alibaba PuHuiTi" pitchFamily="18" charset="-122"/>
                <a:cs typeface="Alibaba PuHuiTi" pitchFamily="18" charset="-122"/>
              </a:endParaRPr>
            </a:p>
          </p:txBody>
        </p:sp>
        <p:sp>
          <p:nvSpPr>
            <p:cNvPr id="64" name="任意形状 25"/>
            <p:cNvSpPr/>
            <p:nvPr/>
          </p:nvSpPr>
          <p:spPr>
            <a:xfrm>
              <a:off x="7162" y="6377"/>
              <a:ext cx="4889" cy="1364"/>
            </a:xfrm>
            <a:custGeom>
              <a:avLst/>
              <a:gdLst>
                <a:gd name="connsiteX0" fmla="*/ 0 w 3104388"/>
                <a:gd name="connsiteY0" fmla="*/ 0 h 866394"/>
                <a:gd name="connsiteX1" fmla="*/ 3104388 w 3104388"/>
                <a:gd name="connsiteY1" fmla="*/ 0 h 866394"/>
                <a:gd name="connsiteX2" fmla="*/ 3104388 w 3104388"/>
                <a:gd name="connsiteY2" fmla="*/ 866394 h 866394"/>
                <a:gd name="connsiteX3" fmla="*/ 0 w 3104388"/>
                <a:gd name="connsiteY3" fmla="*/ 866394 h 866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388" h="866394">
                  <a:moveTo>
                    <a:pt x="0" y="0"/>
                  </a:moveTo>
                  <a:lnTo>
                    <a:pt x="3104388" y="0"/>
                  </a:lnTo>
                  <a:lnTo>
                    <a:pt x="3104388" y="866394"/>
                  </a:lnTo>
                  <a:lnTo>
                    <a:pt x="0" y="866394"/>
                  </a:lnTo>
                  <a:close/>
                </a:path>
              </a:pathLst>
            </a:custGeom>
            <a:noFill/>
            <a:ln w="7620" cap="rnd">
              <a:solidFill>
                <a:srgbClr val="231815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>
                <a:latin typeface="Alibaba PuHuiTi" pitchFamily="18" charset="-122"/>
                <a:ea typeface="Alibaba PuHuiTi" pitchFamily="18" charset="-122"/>
                <a:cs typeface="Alibaba PuHuiTi" pitchFamily="18" charset="-122"/>
              </a:endParaRPr>
            </a:p>
          </p:txBody>
        </p:sp>
        <p:sp>
          <p:nvSpPr>
            <p:cNvPr id="65" name="任意形状 26"/>
            <p:cNvSpPr/>
            <p:nvPr/>
          </p:nvSpPr>
          <p:spPr>
            <a:xfrm>
              <a:off x="7162" y="8084"/>
              <a:ext cx="1086" cy="380"/>
            </a:xfrm>
            <a:custGeom>
              <a:avLst/>
              <a:gdLst>
                <a:gd name="connsiteX0" fmla="*/ 0 w 689610"/>
                <a:gd name="connsiteY0" fmla="*/ 0 h 241554"/>
                <a:gd name="connsiteX1" fmla="*/ 689610 w 689610"/>
                <a:gd name="connsiteY1" fmla="*/ 0 h 241554"/>
                <a:gd name="connsiteX2" fmla="*/ 689610 w 689610"/>
                <a:gd name="connsiteY2" fmla="*/ 241554 h 241554"/>
                <a:gd name="connsiteX3" fmla="*/ 0 w 689610"/>
                <a:gd name="connsiteY3" fmla="*/ 241554 h 241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" h="241554">
                  <a:moveTo>
                    <a:pt x="0" y="0"/>
                  </a:moveTo>
                  <a:lnTo>
                    <a:pt x="689610" y="0"/>
                  </a:lnTo>
                  <a:lnTo>
                    <a:pt x="689610" y="241554"/>
                  </a:lnTo>
                  <a:lnTo>
                    <a:pt x="0" y="241554"/>
                  </a:lnTo>
                  <a:close/>
                </a:path>
              </a:pathLst>
            </a:custGeom>
            <a:noFill/>
            <a:ln w="7620" cap="rnd">
              <a:solidFill>
                <a:srgbClr val="231815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>
                <a:latin typeface="Alibaba PuHuiTi" pitchFamily="18" charset="-122"/>
                <a:ea typeface="Alibaba PuHuiTi" pitchFamily="18" charset="-122"/>
                <a:cs typeface="Alibaba PuHuiTi" pitchFamily="18" charset="-122"/>
              </a:endParaRPr>
            </a:p>
          </p:txBody>
        </p:sp>
        <p:sp>
          <p:nvSpPr>
            <p:cNvPr id="66" name="任意形状 27"/>
            <p:cNvSpPr/>
            <p:nvPr/>
          </p:nvSpPr>
          <p:spPr>
            <a:xfrm>
              <a:off x="8429" y="8084"/>
              <a:ext cx="1086" cy="380"/>
            </a:xfrm>
            <a:custGeom>
              <a:avLst/>
              <a:gdLst>
                <a:gd name="connsiteX0" fmla="*/ 0 w 689610"/>
                <a:gd name="connsiteY0" fmla="*/ 0 h 241554"/>
                <a:gd name="connsiteX1" fmla="*/ 689610 w 689610"/>
                <a:gd name="connsiteY1" fmla="*/ 0 h 241554"/>
                <a:gd name="connsiteX2" fmla="*/ 689610 w 689610"/>
                <a:gd name="connsiteY2" fmla="*/ 241554 h 241554"/>
                <a:gd name="connsiteX3" fmla="*/ 0 w 689610"/>
                <a:gd name="connsiteY3" fmla="*/ 241554 h 241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" h="241554">
                  <a:moveTo>
                    <a:pt x="0" y="0"/>
                  </a:moveTo>
                  <a:lnTo>
                    <a:pt x="689610" y="0"/>
                  </a:lnTo>
                  <a:lnTo>
                    <a:pt x="689610" y="241554"/>
                  </a:lnTo>
                  <a:lnTo>
                    <a:pt x="0" y="241554"/>
                  </a:lnTo>
                  <a:close/>
                </a:path>
              </a:pathLst>
            </a:custGeom>
            <a:noFill/>
            <a:ln w="7620" cap="rnd">
              <a:solidFill>
                <a:srgbClr val="231815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>
                <a:latin typeface="Alibaba PuHuiTi" pitchFamily="18" charset="-122"/>
                <a:ea typeface="Alibaba PuHuiTi" pitchFamily="18" charset="-122"/>
                <a:cs typeface="Alibaba PuHuiTi" pitchFamily="18" charset="-122"/>
              </a:endParaRPr>
            </a:p>
          </p:txBody>
        </p:sp>
        <p:sp>
          <p:nvSpPr>
            <p:cNvPr id="67" name="任意形状 28"/>
            <p:cNvSpPr/>
            <p:nvPr/>
          </p:nvSpPr>
          <p:spPr>
            <a:xfrm>
              <a:off x="9697" y="8084"/>
              <a:ext cx="1086" cy="380"/>
            </a:xfrm>
            <a:custGeom>
              <a:avLst/>
              <a:gdLst>
                <a:gd name="connsiteX0" fmla="*/ 0 w 689610"/>
                <a:gd name="connsiteY0" fmla="*/ 0 h 241554"/>
                <a:gd name="connsiteX1" fmla="*/ 689610 w 689610"/>
                <a:gd name="connsiteY1" fmla="*/ 0 h 241554"/>
                <a:gd name="connsiteX2" fmla="*/ 689610 w 689610"/>
                <a:gd name="connsiteY2" fmla="*/ 241554 h 241554"/>
                <a:gd name="connsiteX3" fmla="*/ 0 w 689610"/>
                <a:gd name="connsiteY3" fmla="*/ 241554 h 241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" h="241554">
                  <a:moveTo>
                    <a:pt x="0" y="0"/>
                  </a:moveTo>
                  <a:lnTo>
                    <a:pt x="689610" y="0"/>
                  </a:lnTo>
                  <a:lnTo>
                    <a:pt x="689610" y="241554"/>
                  </a:lnTo>
                  <a:lnTo>
                    <a:pt x="0" y="241554"/>
                  </a:lnTo>
                  <a:close/>
                </a:path>
              </a:pathLst>
            </a:custGeom>
            <a:noFill/>
            <a:ln w="7620" cap="rnd">
              <a:solidFill>
                <a:srgbClr val="231815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>
                <a:latin typeface="Alibaba PuHuiTi" pitchFamily="18" charset="-122"/>
                <a:ea typeface="Alibaba PuHuiTi" pitchFamily="18" charset="-122"/>
                <a:cs typeface="Alibaba PuHuiTi" pitchFamily="18" charset="-122"/>
              </a:endParaRPr>
            </a:p>
          </p:txBody>
        </p:sp>
        <p:sp>
          <p:nvSpPr>
            <p:cNvPr id="68" name="任意形状 29"/>
            <p:cNvSpPr/>
            <p:nvPr/>
          </p:nvSpPr>
          <p:spPr>
            <a:xfrm>
              <a:off x="10964" y="8084"/>
              <a:ext cx="1086" cy="380"/>
            </a:xfrm>
            <a:custGeom>
              <a:avLst/>
              <a:gdLst>
                <a:gd name="connsiteX0" fmla="*/ 0 w 689610"/>
                <a:gd name="connsiteY0" fmla="*/ 0 h 241554"/>
                <a:gd name="connsiteX1" fmla="*/ 689610 w 689610"/>
                <a:gd name="connsiteY1" fmla="*/ 0 h 241554"/>
                <a:gd name="connsiteX2" fmla="*/ 689610 w 689610"/>
                <a:gd name="connsiteY2" fmla="*/ 241554 h 241554"/>
                <a:gd name="connsiteX3" fmla="*/ 0 w 689610"/>
                <a:gd name="connsiteY3" fmla="*/ 241554 h 241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" h="241554">
                  <a:moveTo>
                    <a:pt x="0" y="0"/>
                  </a:moveTo>
                  <a:lnTo>
                    <a:pt x="689610" y="0"/>
                  </a:lnTo>
                  <a:lnTo>
                    <a:pt x="689610" y="241554"/>
                  </a:lnTo>
                  <a:lnTo>
                    <a:pt x="0" y="241554"/>
                  </a:lnTo>
                  <a:close/>
                </a:path>
              </a:pathLst>
            </a:custGeom>
            <a:noFill/>
            <a:ln w="7620" cap="rnd">
              <a:solidFill>
                <a:srgbClr val="231815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>
                <a:latin typeface="Alibaba PuHuiTi" pitchFamily="18" charset="-122"/>
                <a:ea typeface="Alibaba PuHuiTi" pitchFamily="18" charset="-122"/>
                <a:cs typeface="Alibaba PuHuiTi" pitchFamily="18" charset="-122"/>
              </a:endParaRPr>
            </a:p>
          </p:txBody>
        </p:sp>
        <p:sp>
          <p:nvSpPr>
            <p:cNvPr id="69" name="同侧圆角矩形 68"/>
            <p:cNvSpPr/>
            <p:nvPr/>
          </p:nvSpPr>
          <p:spPr>
            <a:xfrm>
              <a:off x="6913" y="1975"/>
              <a:ext cx="5386" cy="8213"/>
            </a:xfrm>
            <a:prstGeom prst="round2SameRect">
              <a:avLst>
                <a:gd name="adj1" fmla="val 1682"/>
                <a:gd name="adj2" fmla="val 0"/>
              </a:avLst>
            </a:prstGeom>
            <a:gradFill>
              <a:gsLst>
                <a:gs pos="49000">
                  <a:schemeClr val="bg1"/>
                </a:gs>
                <a:gs pos="75000">
                  <a:schemeClr val="bg1"/>
                </a:gs>
              </a:gsLst>
              <a:lin ang="5400000" scaled="1"/>
            </a:gradFill>
            <a:ln w="15875" cap="rnd">
              <a:gradFill>
                <a:gsLst>
                  <a:gs pos="34000">
                    <a:schemeClr val="accent3"/>
                  </a:gs>
                  <a:gs pos="80000">
                    <a:schemeClr val="accent3">
                      <a:alpha val="0"/>
                    </a:schemeClr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>
                <a:latin typeface="Alibaba PuHuiTi" pitchFamily="18" charset="-122"/>
                <a:ea typeface="Alibaba PuHuiTi" pitchFamily="18" charset="-122"/>
                <a:cs typeface="Alibaba PuHuiTi" pitchFamily="18" charset="-122"/>
              </a:endParaRPr>
            </a:p>
          </p:txBody>
        </p:sp>
        <p:sp>
          <p:nvSpPr>
            <p:cNvPr id="70" name="任意形状 38"/>
            <p:cNvSpPr/>
            <p:nvPr/>
          </p:nvSpPr>
          <p:spPr>
            <a:xfrm>
              <a:off x="7360" y="1790"/>
              <a:ext cx="4510" cy="813"/>
            </a:xfrm>
            <a:custGeom>
              <a:avLst/>
              <a:gdLst>
                <a:gd name="connsiteX0" fmla="*/ 2520696 w 2659380"/>
                <a:gd name="connsiteY0" fmla="*/ 516636 h 516636"/>
                <a:gd name="connsiteX1" fmla="*/ 138684 w 2659380"/>
                <a:gd name="connsiteY1" fmla="*/ 516636 h 516636"/>
                <a:gd name="connsiteX2" fmla="*/ 77724 w 2659380"/>
                <a:gd name="connsiteY2" fmla="*/ 464820 h 516636"/>
                <a:gd name="connsiteX3" fmla="*/ 0 w 2659380"/>
                <a:gd name="connsiteY3" fmla="*/ 0 h 516636"/>
                <a:gd name="connsiteX4" fmla="*/ 2659380 w 2659380"/>
                <a:gd name="connsiteY4" fmla="*/ 0 h 516636"/>
                <a:gd name="connsiteX5" fmla="*/ 2581656 w 2659380"/>
                <a:gd name="connsiteY5" fmla="*/ 464820 h 516636"/>
                <a:gd name="connsiteX6" fmla="*/ 2520696 w 2659380"/>
                <a:gd name="connsiteY6" fmla="*/ 516636 h 516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9380" h="516636">
                  <a:moveTo>
                    <a:pt x="2520696" y="516636"/>
                  </a:moveTo>
                  <a:lnTo>
                    <a:pt x="138684" y="516636"/>
                  </a:lnTo>
                  <a:cubicBezTo>
                    <a:pt x="108204" y="516636"/>
                    <a:pt x="83058" y="494538"/>
                    <a:pt x="77724" y="464820"/>
                  </a:cubicBezTo>
                  <a:lnTo>
                    <a:pt x="0" y="0"/>
                  </a:lnTo>
                  <a:lnTo>
                    <a:pt x="2659380" y="0"/>
                  </a:lnTo>
                  <a:lnTo>
                    <a:pt x="2581656" y="464820"/>
                  </a:lnTo>
                  <a:cubicBezTo>
                    <a:pt x="2576322" y="494538"/>
                    <a:pt x="2551176" y="516636"/>
                    <a:pt x="2520696" y="516636"/>
                  </a:cubicBezTo>
                  <a:close/>
                </a:path>
              </a:pathLst>
            </a:custGeom>
            <a:gradFill>
              <a:gsLst>
                <a:gs pos="0">
                  <a:schemeClr val="accent3">
                    <a:lumMod val="60000"/>
                    <a:lumOff val="40000"/>
                  </a:schemeClr>
                </a:gs>
                <a:gs pos="79000">
                  <a:schemeClr val="accent3"/>
                </a:gs>
              </a:gsLst>
              <a:path path="circle">
                <a:fillToRect r="100000" b="100000"/>
              </a:path>
            </a:gradFill>
            <a:ln w="7620" cap="rnd">
              <a:noFill/>
              <a:prstDash val="solid"/>
              <a:round/>
            </a:ln>
          </p:spPr>
          <p:txBody>
            <a:bodyPr rtlCol="0" anchor="ctr"/>
            <a:lstStyle/>
            <a:p>
              <a:pPr algn="ctr"/>
              <a:r>
                <a:rPr lang="zh-CN" altLang="en-US" sz="1600" b="1" noProof="0" dirty="0">
                  <a:ln>
                    <a:noFill/>
                  </a:ln>
                  <a:solidFill>
                    <a:srgbClr val="FE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libaba PuHuiTi" pitchFamily="18" charset="-122"/>
                  <a:sym typeface="+mn-ea"/>
                </a:rPr>
                <a:t>争创多级创新平台体系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endParaRPr>
            </a:p>
          </p:txBody>
        </p:sp>
        <p:sp>
          <p:nvSpPr>
            <p:cNvPr id="71" name="任意形状 65"/>
            <p:cNvSpPr/>
            <p:nvPr/>
          </p:nvSpPr>
          <p:spPr>
            <a:xfrm>
              <a:off x="6658" y="9282"/>
              <a:ext cx="5622" cy="906"/>
            </a:xfrm>
            <a:custGeom>
              <a:avLst/>
              <a:gdLst>
                <a:gd name="connsiteX0" fmla="*/ 0 w 11907012"/>
                <a:gd name="connsiteY0" fmla="*/ 0 h 803910"/>
                <a:gd name="connsiteX1" fmla="*/ 11907012 w 11907012"/>
                <a:gd name="connsiteY1" fmla="*/ 0 h 803910"/>
                <a:gd name="connsiteX2" fmla="*/ 11907012 w 11907012"/>
                <a:gd name="connsiteY2" fmla="*/ 803910 h 803910"/>
                <a:gd name="connsiteX3" fmla="*/ 0 w 11907012"/>
                <a:gd name="connsiteY3" fmla="*/ 803910 h 803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07012" h="803910">
                  <a:moveTo>
                    <a:pt x="0" y="0"/>
                  </a:moveTo>
                  <a:lnTo>
                    <a:pt x="11907012" y="0"/>
                  </a:lnTo>
                  <a:lnTo>
                    <a:pt x="11907012" y="803910"/>
                  </a:lnTo>
                  <a:lnTo>
                    <a:pt x="0" y="803910"/>
                  </a:lnTo>
                  <a:close/>
                </a:path>
              </a:pathLst>
            </a:custGeom>
            <a:gradFill>
              <a:gsLst>
                <a:gs pos="100000">
                  <a:schemeClr val="accent3"/>
                </a:gs>
                <a:gs pos="0">
                  <a:schemeClr val="accent3">
                    <a:lumMod val="80000"/>
                    <a:lumOff val="20000"/>
                  </a:schemeClr>
                </a:gs>
              </a:gsLst>
              <a:lin ang="2400000" scaled="0"/>
            </a:gradFill>
            <a:ln w="7620" cap="rnd">
              <a:noFill/>
              <a:prstDash val="solid"/>
              <a:round/>
            </a:ln>
          </p:spPr>
          <p:txBody>
            <a:bodyPr rtlCol="0" anchor="ctr"/>
            <a:lstStyle/>
            <a:p>
              <a:pPr algn="ctr"/>
              <a:r>
                <a:rPr lang="zh-CN" altLang="en-US" sz="1400" b="1" dirty="0">
                  <a:solidFill>
                    <a:schemeClr val="bg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libaba PuHuiTi" pitchFamily="18" charset="-122"/>
                  <a:sym typeface="+mn-ea"/>
                </a:rPr>
                <a:t>主动融入国家及地方战略科技力量布局，</a:t>
              </a:r>
              <a:endParaRPr lang="zh-CN" altLang="en-US" sz="1400" b="1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endParaRPr>
            </a:p>
            <a:p>
              <a:pPr algn="ctr"/>
              <a:r>
                <a:rPr lang="zh-CN" altLang="en-US" sz="1400" b="1" dirty="0">
                  <a:solidFill>
                    <a:schemeClr val="bg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libaba PuHuiTi" pitchFamily="18" charset="-122"/>
                  <a:sym typeface="+mn-ea"/>
                </a:rPr>
                <a:t>获取政策与资源支持</a:t>
              </a:r>
              <a:endParaRPr lang="zh-CN" altLang="en-US" sz="1400" b="1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endParaRPr>
            </a:p>
          </p:txBody>
        </p:sp>
        <p:sp>
          <p:nvSpPr>
            <p:cNvPr id="73" name="任意形状 70"/>
            <p:cNvSpPr/>
            <p:nvPr/>
          </p:nvSpPr>
          <p:spPr>
            <a:xfrm>
              <a:off x="6658" y="8994"/>
              <a:ext cx="5757" cy="288"/>
            </a:xfrm>
            <a:custGeom>
              <a:avLst/>
              <a:gdLst>
                <a:gd name="connsiteX0" fmla="*/ 11907012 w 12192000"/>
                <a:gd name="connsiteY0" fmla="*/ 255270 h 255270"/>
                <a:gd name="connsiteX1" fmla="*/ 0 w 12192000"/>
                <a:gd name="connsiteY1" fmla="*/ 255270 h 255270"/>
                <a:gd name="connsiteX2" fmla="*/ 284988 w 12192000"/>
                <a:gd name="connsiteY2" fmla="*/ 0 h 255270"/>
                <a:gd name="connsiteX3" fmla="*/ 12192000 w 12192000"/>
                <a:gd name="connsiteY3" fmla="*/ 0 h 255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255270">
                  <a:moveTo>
                    <a:pt x="11907012" y="255270"/>
                  </a:moveTo>
                  <a:lnTo>
                    <a:pt x="0" y="255270"/>
                  </a:lnTo>
                  <a:lnTo>
                    <a:pt x="284988" y="0"/>
                  </a:lnTo>
                  <a:lnTo>
                    <a:pt x="12192000" y="0"/>
                  </a:lnTo>
                  <a:close/>
                </a:path>
              </a:pathLst>
            </a:custGeom>
            <a:gradFill flip="none" rotWithShape="1">
              <a:gsLst>
                <a:gs pos="25000">
                  <a:schemeClr val="accent3">
                    <a:alpha val="40000"/>
                  </a:schemeClr>
                </a:gs>
                <a:gs pos="100000">
                  <a:schemeClr val="accent3">
                    <a:alpha val="65000"/>
                  </a:schemeClr>
                </a:gs>
                <a:gs pos="0">
                  <a:schemeClr val="bg1"/>
                </a:gs>
              </a:gsLst>
              <a:lin ang="5400000" scaled="1"/>
              <a:tileRect/>
            </a:gradFill>
            <a:ln w="7620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zh-CN" altLang="en-US">
                <a:latin typeface="Alibaba PuHuiTi" pitchFamily="18" charset="-122"/>
                <a:ea typeface="Alibaba PuHuiTi" pitchFamily="18" charset="-122"/>
                <a:cs typeface="Alibaba PuHuiTi" pitchFamily="18" charset="-122"/>
              </a:endParaRPr>
            </a:p>
          </p:txBody>
        </p:sp>
        <p:sp>
          <p:nvSpPr>
            <p:cNvPr id="77" name="任意形状 71"/>
            <p:cNvSpPr/>
            <p:nvPr/>
          </p:nvSpPr>
          <p:spPr>
            <a:xfrm>
              <a:off x="12281" y="8994"/>
              <a:ext cx="135" cy="1193"/>
            </a:xfrm>
            <a:custGeom>
              <a:avLst/>
              <a:gdLst>
                <a:gd name="connsiteX0" fmla="*/ 284988 w 284988"/>
                <a:gd name="connsiteY0" fmla="*/ 801624 h 1059180"/>
                <a:gd name="connsiteX1" fmla="*/ 284988 w 284988"/>
                <a:gd name="connsiteY1" fmla="*/ 801624 h 1059180"/>
                <a:gd name="connsiteX2" fmla="*/ 284988 w 284988"/>
                <a:gd name="connsiteY2" fmla="*/ 0 h 1059180"/>
                <a:gd name="connsiteX3" fmla="*/ 284988 w 284988"/>
                <a:gd name="connsiteY3" fmla="*/ 0 h 1059180"/>
                <a:gd name="connsiteX4" fmla="*/ 0 w 284988"/>
                <a:gd name="connsiteY4" fmla="*/ 255270 h 1059180"/>
                <a:gd name="connsiteX5" fmla="*/ 0 w 284988"/>
                <a:gd name="connsiteY5" fmla="*/ 1059180 h 1059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4988" h="1059180">
                  <a:moveTo>
                    <a:pt x="284988" y="801624"/>
                  </a:moveTo>
                  <a:lnTo>
                    <a:pt x="284988" y="801624"/>
                  </a:lnTo>
                  <a:lnTo>
                    <a:pt x="284988" y="0"/>
                  </a:lnTo>
                  <a:lnTo>
                    <a:pt x="284988" y="0"/>
                  </a:lnTo>
                  <a:lnTo>
                    <a:pt x="0" y="255270"/>
                  </a:lnTo>
                  <a:lnTo>
                    <a:pt x="0" y="1059180"/>
                  </a:lnTo>
                  <a:close/>
                </a:path>
              </a:pathLst>
            </a:custGeom>
            <a:gradFill>
              <a:gsLst>
                <a:gs pos="100000">
                  <a:schemeClr val="accent3"/>
                </a:gs>
                <a:gs pos="0">
                  <a:schemeClr val="bg1"/>
                </a:gs>
              </a:gsLst>
              <a:lin ang="2400000" scaled="0"/>
            </a:gradFill>
            <a:ln w="7620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zh-CN" altLang="en-US">
                <a:latin typeface="Alibaba PuHuiTi" pitchFamily="18" charset="-122"/>
                <a:ea typeface="Alibaba PuHuiTi" pitchFamily="18" charset="-122"/>
                <a:cs typeface="Alibaba PuHuiTi" pitchFamily="18" charset="-122"/>
              </a:endParaRPr>
            </a:p>
          </p:txBody>
        </p:sp>
      </p:grpSp>
      <p:grpSp>
        <p:nvGrpSpPr>
          <p:cNvPr id="78" name="组合 77"/>
          <p:cNvGrpSpPr/>
          <p:nvPr/>
        </p:nvGrpSpPr>
        <p:grpSpPr>
          <a:xfrm>
            <a:off x="4389755" y="2442845"/>
            <a:ext cx="2668270" cy="331470"/>
            <a:chOff x="933" y="3704"/>
            <a:chExt cx="4202" cy="598"/>
          </a:xfrm>
        </p:grpSpPr>
        <p:sp>
          <p:nvSpPr>
            <p:cNvPr id="79" name="任意形状 4"/>
            <p:cNvSpPr/>
            <p:nvPr/>
          </p:nvSpPr>
          <p:spPr>
            <a:xfrm>
              <a:off x="947" y="3704"/>
              <a:ext cx="4188" cy="599"/>
            </a:xfrm>
            <a:custGeom>
              <a:avLst/>
              <a:gdLst>
                <a:gd name="connsiteX0" fmla="*/ 2481072 w 2646426"/>
                <a:gd name="connsiteY0" fmla="*/ 329946 h 329946"/>
                <a:gd name="connsiteX1" fmla="*/ 0 w 2646426"/>
                <a:gd name="connsiteY1" fmla="*/ 329946 h 329946"/>
                <a:gd name="connsiteX2" fmla="*/ 0 w 2646426"/>
                <a:gd name="connsiteY2" fmla="*/ 0 h 329946"/>
                <a:gd name="connsiteX3" fmla="*/ 2481072 w 2646426"/>
                <a:gd name="connsiteY3" fmla="*/ 0 h 329946"/>
                <a:gd name="connsiteX4" fmla="*/ 2646426 w 2646426"/>
                <a:gd name="connsiteY4" fmla="*/ 165354 h 329946"/>
                <a:gd name="connsiteX5" fmla="*/ 2646426 w 2646426"/>
                <a:gd name="connsiteY5" fmla="*/ 165354 h 329946"/>
                <a:gd name="connsiteX6" fmla="*/ 2481072 w 2646426"/>
                <a:gd name="connsiteY6" fmla="*/ 329946 h 329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46426" h="329946">
                  <a:moveTo>
                    <a:pt x="2481072" y="329946"/>
                  </a:moveTo>
                  <a:lnTo>
                    <a:pt x="0" y="329946"/>
                  </a:lnTo>
                  <a:lnTo>
                    <a:pt x="0" y="0"/>
                  </a:lnTo>
                  <a:lnTo>
                    <a:pt x="2481072" y="0"/>
                  </a:lnTo>
                  <a:cubicBezTo>
                    <a:pt x="2572512" y="0"/>
                    <a:pt x="2646426" y="73914"/>
                    <a:pt x="2646426" y="165354"/>
                  </a:cubicBezTo>
                  <a:lnTo>
                    <a:pt x="2646426" y="165354"/>
                  </a:lnTo>
                  <a:cubicBezTo>
                    <a:pt x="2645664" y="256032"/>
                    <a:pt x="2571750" y="329946"/>
                    <a:pt x="2481072" y="329946"/>
                  </a:cubicBezTo>
                  <a:close/>
                </a:path>
              </a:pathLst>
            </a:custGeom>
            <a:gradFill>
              <a:gsLst>
                <a:gs pos="1000">
                  <a:schemeClr val="accent1">
                    <a:lumMod val="40000"/>
                    <a:lumOff val="60000"/>
                  </a:schemeClr>
                </a:gs>
                <a:gs pos="87000">
                  <a:schemeClr val="accent1">
                    <a:lumMod val="20000"/>
                    <a:lumOff val="80000"/>
                  </a:schemeClr>
                </a:gs>
              </a:gsLst>
              <a:lin ang="16200000" scaled="1"/>
            </a:gradFill>
            <a:ln w="7620" cap="rnd">
              <a:noFill/>
              <a:prstDash val="solid"/>
              <a:round/>
            </a:ln>
          </p:spPr>
          <p:txBody>
            <a:bodyPr rtlCol="0" anchor="ctr"/>
            <a:lstStyle/>
            <a:p>
              <a:pPr algn="ctr"/>
              <a:endParaRPr lang="zh-CN" altLang="en-US" sz="1600" dirty="0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endParaRPr>
            </a:p>
          </p:txBody>
        </p:sp>
        <p:sp>
          <p:nvSpPr>
            <p:cNvPr id="80" name="任意形状 105"/>
            <p:cNvSpPr/>
            <p:nvPr/>
          </p:nvSpPr>
          <p:spPr>
            <a:xfrm>
              <a:off x="933" y="3740"/>
              <a:ext cx="4168" cy="520"/>
            </a:xfrm>
            <a:custGeom>
              <a:avLst/>
              <a:gdLst>
                <a:gd name="connsiteX0" fmla="*/ 2481072 w 2646426"/>
                <a:gd name="connsiteY0" fmla="*/ 329946 h 329946"/>
                <a:gd name="connsiteX1" fmla="*/ 0 w 2646426"/>
                <a:gd name="connsiteY1" fmla="*/ 329946 h 329946"/>
                <a:gd name="connsiteX2" fmla="*/ 0 w 2646426"/>
                <a:gd name="connsiteY2" fmla="*/ 0 h 329946"/>
                <a:gd name="connsiteX3" fmla="*/ 2481072 w 2646426"/>
                <a:gd name="connsiteY3" fmla="*/ 0 h 329946"/>
                <a:gd name="connsiteX4" fmla="*/ 2646426 w 2646426"/>
                <a:gd name="connsiteY4" fmla="*/ 165354 h 329946"/>
                <a:gd name="connsiteX5" fmla="*/ 2646426 w 2646426"/>
                <a:gd name="connsiteY5" fmla="*/ 165354 h 329946"/>
                <a:gd name="connsiteX6" fmla="*/ 2481072 w 2646426"/>
                <a:gd name="connsiteY6" fmla="*/ 329946 h 329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46426" h="329946">
                  <a:moveTo>
                    <a:pt x="2481072" y="329946"/>
                  </a:moveTo>
                  <a:lnTo>
                    <a:pt x="0" y="329946"/>
                  </a:lnTo>
                  <a:lnTo>
                    <a:pt x="0" y="0"/>
                  </a:lnTo>
                  <a:lnTo>
                    <a:pt x="2481072" y="0"/>
                  </a:lnTo>
                  <a:cubicBezTo>
                    <a:pt x="2572512" y="0"/>
                    <a:pt x="2646426" y="73914"/>
                    <a:pt x="2646426" y="165354"/>
                  </a:cubicBezTo>
                  <a:lnTo>
                    <a:pt x="2646426" y="165354"/>
                  </a:lnTo>
                  <a:cubicBezTo>
                    <a:pt x="2645664" y="256032"/>
                    <a:pt x="2571750" y="329946"/>
                    <a:pt x="2481072" y="329946"/>
                  </a:cubicBezTo>
                  <a:close/>
                </a:path>
              </a:pathLst>
            </a:custGeom>
            <a:solidFill>
              <a:schemeClr val="accent1"/>
            </a:solidFill>
            <a:ln w="7620" cap="rnd">
              <a:noFill/>
              <a:prstDash val="solid"/>
              <a:round/>
            </a:ln>
          </p:spPr>
          <p:txBody>
            <a:bodyPr rtlCol="0" anchor="ctr"/>
            <a:lstStyle/>
            <a:p>
              <a:pPr algn="ctr"/>
              <a:r>
                <a:rPr lang="en-US" altLang="zh-CN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libaba PuHuiTi" pitchFamily="18" charset="-122"/>
                </a:rPr>
                <a:t>01.</a:t>
              </a:r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libaba PuHuiTi" pitchFamily="18" charset="-122"/>
                </a:rPr>
                <a:t>国家级平台</a:t>
              </a:r>
              <a:endPara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endParaRPr>
            </a:p>
          </p:txBody>
        </p:sp>
      </p:grpSp>
      <p:sp>
        <p:nvSpPr>
          <p:cNvPr id="81" name="文本框 80"/>
          <p:cNvSpPr txBox="1"/>
          <p:nvPr/>
        </p:nvSpPr>
        <p:spPr>
          <a:xfrm>
            <a:off x="4379595" y="2798445"/>
            <a:ext cx="3413125" cy="7550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20000"/>
              </a:lnSpc>
              <a:buFont typeface="Wingdings" panose="05000000000000000000" charset="0"/>
              <a:buChar char="p"/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申报国家重点实验室、国家工程研究中心、国家技术创新中心，牵头组建国家级创新联合体，承担国家重大科技专项。</a:t>
            </a:r>
            <a:endParaRPr lang="en-US" altLang="zh-CN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4389755" y="3950970"/>
            <a:ext cx="3402965" cy="7550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20000"/>
              </a:lnSpc>
              <a:buFont typeface="Wingdings" panose="05000000000000000000" charset="0"/>
              <a:buChar char="p"/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建设省重点实验室、省工程技术研究中心、省产业创新中心，对接省级科技计划项目，融入区域创新体系。</a:t>
            </a:r>
            <a:endParaRPr lang="en-US" altLang="zh-CN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5" name="组合 84"/>
          <p:cNvGrpSpPr/>
          <p:nvPr/>
        </p:nvGrpSpPr>
        <p:grpSpPr>
          <a:xfrm>
            <a:off x="4398645" y="4766945"/>
            <a:ext cx="2668270" cy="331470"/>
            <a:chOff x="933" y="3704"/>
            <a:chExt cx="4202" cy="598"/>
          </a:xfrm>
        </p:grpSpPr>
        <p:sp>
          <p:nvSpPr>
            <p:cNvPr id="87" name="任意形状 4"/>
            <p:cNvSpPr/>
            <p:nvPr/>
          </p:nvSpPr>
          <p:spPr>
            <a:xfrm>
              <a:off x="947" y="3704"/>
              <a:ext cx="4188" cy="599"/>
            </a:xfrm>
            <a:custGeom>
              <a:avLst/>
              <a:gdLst>
                <a:gd name="connsiteX0" fmla="*/ 2481072 w 2646426"/>
                <a:gd name="connsiteY0" fmla="*/ 329946 h 329946"/>
                <a:gd name="connsiteX1" fmla="*/ 0 w 2646426"/>
                <a:gd name="connsiteY1" fmla="*/ 329946 h 329946"/>
                <a:gd name="connsiteX2" fmla="*/ 0 w 2646426"/>
                <a:gd name="connsiteY2" fmla="*/ 0 h 329946"/>
                <a:gd name="connsiteX3" fmla="*/ 2481072 w 2646426"/>
                <a:gd name="connsiteY3" fmla="*/ 0 h 329946"/>
                <a:gd name="connsiteX4" fmla="*/ 2646426 w 2646426"/>
                <a:gd name="connsiteY4" fmla="*/ 165354 h 329946"/>
                <a:gd name="connsiteX5" fmla="*/ 2646426 w 2646426"/>
                <a:gd name="connsiteY5" fmla="*/ 165354 h 329946"/>
                <a:gd name="connsiteX6" fmla="*/ 2481072 w 2646426"/>
                <a:gd name="connsiteY6" fmla="*/ 329946 h 329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46426" h="329946">
                  <a:moveTo>
                    <a:pt x="2481072" y="329946"/>
                  </a:moveTo>
                  <a:lnTo>
                    <a:pt x="0" y="329946"/>
                  </a:lnTo>
                  <a:lnTo>
                    <a:pt x="0" y="0"/>
                  </a:lnTo>
                  <a:lnTo>
                    <a:pt x="2481072" y="0"/>
                  </a:lnTo>
                  <a:cubicBezTo>
                    <a:pt x="2572512" y="0"/>
                    <a:pt x="2646426" y="73914"/>
                    <a:pt x="2646426" y="165354"/>
                  </a:cubicBezTo>
                  <a:lnTo>
                    <a:pt x="2646426" y="165354"/>
                  </a:lnTo>
                  <a:cubicBezTo>
                    <a:pt x="2645664" y="256032"/>
                    <a:pt x="2571750" y="329946"/>
                    <a:pt x="2481072" y="329946"/>
                  </a:cubicBezTo>
                  <a:close/>
                </a:path>
              </a:pathLst>
            </a:custGeom>
            <a:gradFill>
              <a:gsLst>
                <a:gs pos="1000">
                  <a:schemeClr val="accent1">
                    <a:lumMod val="40000"/>
                    <a:lumOff val="60000"/>
                  </a:schemeClr>
                </a:gs>
                <a:gs pos="87000">
                  <a:schemeClr val="accent1">
                    <a:lumMod val="20000"/>
                    <a:lumOff val="80000"/>
                  </a:schemeClr>
                </a:gs>
              </a:gsLst>
              <a:lin ang="16200000" scaled="1"/>
            </a:gradFill>
            <a:ln w="7620" cap="rnd">
              <a:noFill/>
              <a:prstDash val="solid"/>
              <a:round/>
            </a:ln>
          </p:spPr>
          <p:txBody>
            <a:bodyPr rtlCol="0" anchor="ctr"/>
            <a:lstStyle/>
            <a:p>
              <a:pPr algn="ctr"/>
              <a:endParaRPr lang="zh-CN" altLang="en-US" sz="1600" dirty="0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endParaRPr>
            </a:p>
          </p:txBody>
        </p:sp>
        <p:sp>
          <p:nvSpPr>
            <p:cNvPr id="88" name="任意形状 105"/>
            <p:cNvSpPr/>
            <p:nvPr/>
          </p:nvSpPr>
          <p:spPr>
            <a:xfrm>
              <a:off x="933" y="3740"/>
              <a:ext cx="4168" cy="520"/>
            </a:xfrm>
            <a:custGeom>
              <a:avLst/>
              <a:gdLst>
                <a:gd name="connsiteX0" fmla="*/ 2481072 w 2646426"/>
                <a:gd name="connsiteY0" fmla="*/ 329946 h 329946"/>
                <a:gd name="connsiteX1" fmla="*/ 0 w 2646426"/>
                <a:gd name="connsiteY1" fmla="*/ 329946 h 329946"/>
                <a:gd name="connsiteX2" fmla="*/ 0 w 2646426"/>
                <a:gd name="connsiteY2" fmla="*/ 0 h 329946"/>
                <a:gd name="connsiteX3" fmla="*/ 2481072 w 2646426"/>
                <a:gd name="connsiteY3" fmla="*/ 0 h 329946"/>
                <a:gd name="connsiteX4" fmla="*/ 2646426 w 2646426"/>
                <a:gd name="connsiteY4" fmla="*/ 165354 h 329946"/>
                <a:gd name="connsiteX5" fmla="*/ 2646426 w 2646426"/>
                <a:gd name="connsiteY5" fmla="*/ 165354 h 329946"/>
                <a:gd name="connsiteX6" fmla="*/ 2481072 w 2646426"/>
                <a:gd name="connsiteY6" fmla="*/ 329946 h 329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46426" h="329946">
                  <a:moveTo>
                    <a:pt x="2481072" y="329946"/>
                  </a:moveTo>
                  <a:lnTo>
                    <a:pt x="0" y="329946"/>
                  </a:lnTo>
                  <a:lnTo>
                    <a:pt x="0" y="0"/>
                  </a:lnTo>
                  <a:lnTo>
                    <a:pt x="2481072" y="0"/>
                  </a:lnTo>
                  <a:cubicBezTo>
                    <a:pt x="2572512" y="0"/>
                    <a:pt x="2646426" y="73914"/>
                    <a:pt x="2646426" y="165354"/>
                  </a:cubicBezTo>
                  <a:lnTo>
                    <a:pt x="2646426" y="165354"/>
                  </a:lnTo>
                  <a:cubicBezTo>
                    <a:pt x="2645664" y="256032"/>
                    <a:pt x="2571750" y="329946"/>
                    <a:pt x="2481072" y="329946"/>
                  </a:cubicBezTo>
                  <a:close/>
                </a:path>
              </a:pathLst>
            </a:custGeom>
            <a:solidFill>
              <a:schemeClr val="accent3"/>
            </a:solidFill>
            <a:ln w="7620" cap="rnd">
              <a:noFill/>
              <a:prstDash val="solid"/>
              <a:round/>
            </a:ln>
          </p:spPr>
          <p:txBody>
            <a:bodyPr rtlCol="0" anchor="ctr"/>
            <a:lstStyle/>
            <a:p>
              <a:pPr algn="ctr"/>
              <a:r>
                <a:rPr lang="en-US" altLang="zh-CN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libaba PuHuiTi" pitchFamily="18" charset="-122"/>
                </a:rPr>
                <a:t>03.</a:t>
              </a:r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libaba PuHuiTi" pitchFamily="18" charset="-122"/>
                </a:rPr>
                <a:t>市级平台</a:t>
              </a:r>
              <a:endPara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endParaRPr>
            </a:p>
          </p:txBody>
        </p:sp>
      </p:grpSp>
      <p:sp>
        <p:nvSpPr>
          <p:cNvPr id="91" name="文本框 90"/>
          <p:cNvSpPr txBox="1"/>
          <p:nvPr/>
        </p:nvSpPr>
        <p:spPr>
          <a:xfrm>
            <a:off x="4407535" y="5103495"/>
            <a:ext cx="3498215" cy="5334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20000"/>
              </a:lnSpc>
              <a:buFont typeface="Wingdings" panose="05000000000000000000" charset="0"/>
              <a:buChar char="p"/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布局市企业技术中心、市工程实验室，争取地方政府研发补贴、人才政策与产业配套支持。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3" name="组合 92"/>
          <p:cNvGrpSpPr/>
          <p:nvPr/>
        </p:nvGrpSpPr>
        <p:grpSpPr>
          <a:xfrm>
            <a:off x="5141595" y="3604341"/>
            <a:ext cx="2668270" cy="332024"/>
            <a:chOff x="2117" y="5503"/>
            <a:chExt cx="4202" cy="523"/>
          </a:xfrm>
        </p:grpSpPr>
        <p:grpSp>
          <p:nvGrpSpPr>
            <p:cNvPr id="97" name="组合 96"/>
            <p:cNvGrpSpPr/>
            <p:nvPr/>
          </p:nvGrpSpPr>
          <p:grpSpPr>
            <a:xfrm rot="10800000">
              <a:off x="2117" y="5503"/>
              <a:ext cx="4202" cy="523"/>
              <a:chOff x="933" y="3704"/>
              <a:chExt cx="4202" cy="599"/>
            </a:xfrm>
          </p:grpSpPr>
          <p:sp>
            <p:nvSpPr>
              <p:cNvPr id="98" name="任意形状 4"/>
              <p:cNvSpPr/>
              <p:nvPr/>
            </p:nvSpPr>
            <p:spPr>
              <a:xfrm>
                <a:off x="947" y="3704"/>
                <a:ext cx="4188" cy="599"/>
              </a:xfrm>
              <a:custGeom>
                <a:avLst/>
                <a:gdLst>
                  <a:gd name="connsiteX0" fmla="*/ 2481072 w 2646426"/>
                  <a:gd name="connsiteY0" fmla="*/ 329946 h 329946"/>
                  <a:gd name="connsiteX1" fmla="*/ 0 w 2646426"/>
                  <a:gd name="connsiteY1" fmla="*/ 329946 h 329946"/>
                  <a:gd name="connsiteX2" fmla="*/ 0 w 2646426"/>
                  <a:gd name="connsiteY2" fmla="*/ 0 h 329946"/>
                  <a:gd name="connsiteX3" fmla="*/ 2481072 w 2646426"/>
                  <a:gd name="connsiteY3" fmla="*/ 0 h 329946"/>
                  <a:gd name="connsiteX4" fmla="*/ 2646426 w 2646426"/>
                  <a:gd name="connsiteY4" fmla="*/ 165354 h 329946"/>
                  <a:gd name="connsiteX5" fmla="*/ 2646426 w 2646426"/>
                  <a:gd name="connsiteY5" fmla="*/ 165354 h 329946"/>
                  <a:gd name="connsiteX6" fmla="*/ 2481072 w 2646426"/>
                  <a:gd name="connsiteY6" fmla="*/ 329946 h 3299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646426" h="329946">
                    <a:moveTo>
                      <a:pt x="2481072" y="329946"/>
                    </a:moveTo>
                    <a:lnTo>
                      <a:pt x="0" y="329946"/>
                    </a:lnTo>
                    <a:lnTo>
                      <a:pt x="0" y="0"/>
                    </a:lnTo>
                    <a:lnTo>
                      <a:pt x="2481072" y="0"/>
                    </a:lnTo>
                    <a:cubicBezTo>
                      <a:pt x="2572512" y="0"/>
                      <a:pt x="2646426" y="73914"/>
                      <a:pt x="2646426" y="165354"/>
                    </a:cubicBezTo>
                    <a:lnTo>
                      <a:pt x="2646426" y="165354"/>
                    </a:lnTo>
                    <a:cubicBezTo>
                      <a:pt x="2645664" y="256032"/>
                      <a:pt x="2571750" y="329946"/>
                      <a:pt x="2481072" y="329946"/>
                    </a:cubicBezTo>
                    <a:close/>
                  </a:path>
                </a:pathLst>
              </a:custGeom>
              <a:gradFill>
                <a:gsLst>
                  <a:gs pos="1000">
                    <a:schemeClr val="accent1">
                      <a:lumMod val="40000"/>
                      <a:lumOff val="60000"/>
                    </a:schemeClr>
                  </a:gs>
                  <a:gs pos="87000">
                    <a:schemeClr val="accent1">
                      <a:lumMod val="20000"/>
                      <a:lumOff val="80000"/>
                    </a:schemeClr>
                  </a:gs>
                </a:gsLst>
                <a:lin ang="16200000" scaled="1"/>
              </a:gradFill>
              <a:ln w="7620" cap="rnd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algn="ctr"/>
                <a:endParaRPr lang="zh-CN" altLang="en-US" sz="1600" dirty="0">
                  <a:solidFill>
                    <a:schemeClr val="bg1"/>
                  </a:solidFill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  <p:sp>
            <p:nvSpPr>
              <p:cNvPr id="100" name="任意形状 105"/>
              <p:cNvSpPr/>
              <p:nvPr/>
            </p:nvSpPr>
            <p:spPr>
              <a:xfrm>
                <a:off x="933" y="3740"/>
                <a:ext cx="4168" cy="520"/>
              </a:xfrm>
              <a:custGeom>
                <a:avLst/>
                <a:gdLst>
                  <a:gd name="connsiteX0" fmla="*/ 2481072 w 2646426"/>
                  <a:gd name="connsiteY0" fmla="*/ 329946 h 329946"/>
                  <a:gd name="connsiteX1" fmla="*/ 0 w 2646426"/>
                  <a:gd name="connsiteY1" fmla="*/ 329946 h 329946"/>
                  <a:gd name="connsiteX2" fmla="*/ 0 w 2646426"/>
                  <a:gd name="connsiteY2" fmla="*/ 0 h 329946"/>
                  <a:gd name="connsiteX3" fmla="*/ 2481072 w 2646426"/>
                  <a:gd name="connsiteY3" fmla="*/ 0 h 329946"/>
                  <a:gd name="connsiteX4" fmla="*/ 2646426 w 2646426"/>
                  <a:gd name="connsiteY4" fmla="*/ 165354 h 329946"/>
                  <a:gd name="connsiteX5" fmla="*/ 2646426 w 2646426"/>
                  <a:gd name="connsiteY5" fmla="*/ 165354 h 329946"/>
                  <a:gd name="connsiteX6" fmla="*/ 2481072 w 2646426"/>
                  <a:gd name="connsiteY6" fmla="*/ 329946 h 3299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646426" h="329946">
                    <a:moveTo>
                      <a:pt x="2481072" y="329946"/>
                    </a:moveTo>
                    <a:lnTo>
                      <a:pt x="0" y="329946"/>
                    </a:lnTo>
                    <a:lnTo>
                      <a:pt x="0" y="0"/>
                    </a:lnTo>
                    <a:lnTo>
                      <a:pt x="2481072" y="0"/>
                    </a:lnTo>
                    <a:cubicBezTo>
                      <a:pt x="2572512" y="0"/>
                      <a:pt x="2646426" y="73914"/>
                      <a:pt x="2646426" y="165354"/>
                    </a:cubicBezTo>
                    <a:lnTo>
                      <a:pt x="2646426" y="165354"/>
                    </a:lnTo>
                    <a:cubicBezTo>
                      <a:pt x="2645664" y="256032"/>
                      <a:pt x="2571750" y="329946"/>
                      <a:pt x="2481072" y="329946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7620" cap="rnd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algn="ctr"/>
                <a:endParaRPr lang="zh-CN" altLang="en-US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libaba PuHuiTi" pitchFamily="18" charset="-122"/>
                </a:endParaRPr>
              </a:p>
            </p:txBody>
          </p:sp>
        </p:grpSp>
        <p:sp>
          <p:nvSpPr>
            <p:cNvPr id="106" name="文本框 105"/>
            <p:cNvSpPr txBox="1"/>
            <p:nvPr/>
          </p:nvSpPr>
          <p:spPr>
            <a:xfrm>
              <a:off x="3310" y="5512"/>
              <a:ext cx="1851" cy="48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400" b="1">
                  <a:solidFill>
                    <a:schemeClr val="bg1"/>
                  </a:solidFill>
                </a:rPr>
                <a:t>02.</a:t>
              </a:r>
              <a:r>
                <a:rPr lang="zh-CN" altLang="en-US" sz="1400" b="1">
                  <a:solidFill>
                    <a:schemeClr val="bg1"/>
                  </a:solidFill>
                </a:rPr>
                <a:t>省级平台</a:t>
              </a:r>
              <a:endParaRPr lang="zh-CN" altLang="en-US" sz="1400" b="1">
                <a:solidFill>
                  <a:schemeClr val="bg1"/>
                </a:solidFill>
              </a:endParaRPr>
            </a:p>
          </p:txBody>
        </p:sp>
      </p:grpSp>
      <p:sp>
        <p:nvSpPr>
          <p:cNvPr id="109" name="文本框 108"/>
          <p:cNvSpPr txBox="1"/>
          <p:nvPr/>
        </p:nvSpPr>
        <p:spPr>
          <a:xfrm>
            <a:off x="603250" y="2284095"/>
            <a:ext cx="3420110" cy="810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charset="0"/>
              <a:buChar char="p"/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搭建四级联动的科技创新组织架构，企业可根据业务特点与技术属性，灵活选择两种实施层组织模式。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0" name="图片 10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530" y="3046730"/>
            <a:ext cx="3253105" cy="2628900"/>
          </a:xfrm>
          <a:prstGeom prst="rect">
            <a:avLst/>
          </a:prstGeom>
        </p:spPr>
      </p:pic>
      <p:grpSp>
        <p:nvGrpSpPr>
          <p:cNvPr id="19" name="组合 18"/>
          <p:cNvGrpSpPr/>
          <p:nvPr/>
        </p:nvGrpSpPr>
        <p:grpSpPr>
          <a:xfrm>
            <a:off x="7240905" y="0"/>
            <a:ext cx="4952365" cy="259080"/>
            <a:chOff x="11403" y="0"/>
            <a:chExt cx="7799" cy="408"/>
          </a:xfrm>
        </p:grpSpPr>
        <p:sp>
          <p:nvSpPr>
            <p:cNvPr id="9" name="矩形 8"/>
            <p:cNvSpPr/>
            <p:nvPr/>
          </p:nvSpPr>
          <p:spPr>
            <a:xfrm>
              <a:off x="11403" y="0"/>
              <a:ext cx="1540" cy="408"/>
            </a:xfrm>
            <a:prstGeom prst="rect">
              <a:avLst/>
            </a:prstGeom>
            <a:solidFill>
              <a:schemeClr val="accent6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规划背景</a:t>
              </a:r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12969" y="0"/>
              <a:ext cx="1540" cy="408"/>
            </a:xfrm>
            <a:prstGeom prst="rect">
              <a:avLst/>
            </a:prstGeom>
            <a:solidFill>
              <a:schemeClr val="accent6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顶层</a:t>
              </a: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设计</a:t>
              </a:r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矩形 30"/>
            <p:cNvSpPr/>
            <p:nvPr/>
          </p:nvSpPr>
          <p:spPr>
            <a:xfrm>
              <a:off x="14534" y="0"/>
              <a:ext cx="1540" cy="40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重点任务</a:t>
              </a:r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16099" y="0"/>
              <a:ext cx="1538" cy="408"/>
            </a:xfrm>
            <a:prstGeom prst="rect">
              <a:avLst/>
            </a:prstGeom>
            <a:solidFill>
              <a:schemeClr val="accent6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保障机制</a:t>
              </a:r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矩形 32"/>
            <p:cNvSpPr/>
            <p:nvPr/>
          </p:nvSpPr>
          <p:spPr>
            <a:xfrm>
              <a:off x="17662" y="0"/>
              <a:ext cx="1540" cy="408"/>
            </a:xfrm>
            <a:prstGeom prst="rect">
              <a:avLst/>
            </a:prstGeom>
            <a:solidFill>
              <a:schemeClr val="accent6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实施路径</a:t>
              </a:r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任意形状 174"/>
          <p:cNvSpPr/>
          <p:nvPr/>
        </p:nvSpPr>
        <p:spPr>
          <a:xfrm>
            <a:off x="9290050" y="2485390"/>
            <a:ext cx="2667635" cy="3832860"/>
          </a:xfrm>
          <a:custGeom>
            <a:avLst/>
            <a:gdLst>
              <a:gd name="connsiteX0" fmla="*/ 0 w 2667761"/>
              <a:gd name="connsiteY0" fmla="*/ 0 h 3787902"/>
              <a:gd name="connsiteX1" fmla="*/ 2667762 w 2667761"/>
              <a:gd name="connsiteY1" fmla="*/ 0 h 3787902"/>
              <a:gd name="connsiteX2" fmla="*/ 2667762 w 2667761"/>
              <a:gd name="connsiteY2" fmla="*/ 3787902 h 3787902"/>
              <a:gd name="connsiteX3" fmla="*/ 0 w 2667761"/>
              <a:gd name="connsiteY3" fmla="*/ 3787902 h 3787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67761" h="3787902">
                <a:moveTo>
                  <a:pt x="0" y="0"/>
                </a:moveTo>
                <a:lnTo>
                  <a:pt x="2667762" y="0"/>
                </a:lnTo>
                <a:lnTo>
                  <a:pt x="2667762" y="3787902"/>
                </a:lnTo>
                <a:lnTo>
                  <a:pt x="0" y="3787902"/>
                </a:lnTo>
                <a:close/>
              </a:path>
            </a:pathLst>
          </a:custGeom>
          <a:solidFill>
            <a:schemeClr val="bg1"/>
          </a:solidFill>
          <a:ln w="19050" cap="flat">
            <a:gradFill>
              <a:gsLst>
                <a:gs pos="0">
                  <a:schemeClr val="accent1">
                    <a:alpha val="0"/>
                    <a:lumMod val="0"/>
                    <a:lumOff val="100000"/>
                  </a:schemeClr>
                </a:gs>
                <a:gs pos="30000">
                  <a:schemeClr val="accent1">
                    <a:alpha val="75000"/>
                  </a:schemeClr>
                </a:gs>
              </a:gsLst>
              <a:lin ang="5400000" scaled="1"/>
            </a:gra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</a:fld>
            <a:endParaRPr lang="en-US" altLang="zh-CN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0399" y="89535"/>
            <a:ext cx="10858500" cy="102870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sz="2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重点任务三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| 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构建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研发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中试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产业化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三级全链条转化体系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，实施项目差异化管控，以场景化示范工程加速技术成果从实验室到市场的规模化落地</a:t>
            </a:r>
            <a:endParaRPr lang="zh-CN" altLang="en-US" sz="2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占位符 9"/>
          <p:cNvSpPr>
            <a:spLocks noGrp="1"/>
          </p:cNvSpPr>
          <p:nvPr/>
        </p:nvSpPr>
        <p:spPr>
          <a:xfrm>
            <a:off x="566420" y="1118235"/>
            <a:ext cx="11264900" cy="838200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noAutofit/>
          </a:bodyPr>
          <a:lstStyle>
            <a:lvl1pPr marL="0" indent="0" algn="just" defTabSz="914400" rtl="0" eaLnBrk="1" latinLnBrk="0" hangingPunct="1">
              <a:lnSpc>
                <a:spcPct val="120000"/>
              </a:lnSpc>
              <a:spcBef>
                <a:spcPts val="0"/>
              </a:spcBef>
              <a:buFontTx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精准承接国家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两创深度融合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政策要求，构建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研发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中试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产业化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全链条转化体系，建立二维项目分类管控机制，以场景化示范工程加速市场验证，系统性解决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重研发轻转化、管理一刀切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痛点，实现技术价值向产业价值的高效转化。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同侧圆角矩形 5"/>
          <p:cNvSpPr/>
          <p:nvPr/>
        </p:nvSpPr>
        <p:spPr>
          <a:xfrm>
            <a:off x="950278" y="1919605"/>
            <a:ext cx="2830830" cy="362585"/>
          </a:xfrm>
          <a:prstGeom prst="round2Same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zh-CN" altLang="en-US" sz="1400" b="1">
                <a:sym typeface="+mn-ea"/>
              </a:rPr>
              <a:t>构建三级全链条成果转化体系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318770" y="2694305"/>
            <a:ext cx="4093845" cy="3623310"/>
            <a:chOff x="3632" y="1810"/>
            <a:chExt cx="13654" cy="8374"/>
          </a:xfrm>
        </p:grpSpPr>
        <p:sp>
          <p:nvSpPr>
            <p:cNvPr id="34" name="任意形状 33"/>
            <p:cNvSpPr/>
            <p:nvPr/>
          </p:nvSpPr>
          <p:spPr>
            <a:xfrm>
              <a:off x="8923" y="1810"/>
              <a:ext cx="8363" cy="2604"/>
            </a:xfrm>
            <a:custGeom>
              <a:avLst/>
              <a:gdLst>
                <a:gd name="csX0" fmla="*/ 6072378 w 6072378"/>
                <a:gd name="csY0" fmla="*/ 0 h 1653539"/>
                <a:gd name="csX1" fmla="*/ 6072378 w 6072378"/>
                <a:gd name="csY1" fmla="*/ 1653540 h 1653539"/>
                <a:gd name="csX2" fmla="*/ 0 w 6072378"/>
                <a:gd name="csY2" fmla="*/ 1653540 h 1653539"/>
                <a:gd name="csX3" fmla="*/ 638556 w 6072378"/>
                <a:gd name="csY3" fmla="*/ 0 h 16535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072378" h="1653539">
                  <a:moveTo>
                    <a:pt x="6072378" y="0"/>
                  </a:moveTo>
                  <a:lnTo>
                    <a:pt x="6072378" y="1653540"/>
                  </a:lnTo>
                  <a:lnTo>
                    <a:pt x="0" y="1653540"/>
                  </a:lnTo>
                  <a:lnTo>
                    <a:pt x="638556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7620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任意形状 34"/>
            <p:cNvSpPr/>
            <p:nvPr/>
          </p:nvSpPr>
          <p:spPr>
            <a:xfrm>
              <a:off x="7810" y="4697"/>
              <a:ext cx="9474" cy="2602"/>
            </a:xfrm>
            <a:custGeom>
              <a:avLst/>
              <a:gdLst>
                <a:gd name="csX0" fmla="*/ 6779514 w 6779514"/>
                <a:gd name="csY0" fmla="*/ 0 h 1652777"/>
                <a:gd name="csX1" fmla="*/ 6779514 w 6779514"/>
                <a:gd name="csY1" fmla="*/ 1652778 h 1652777"/>
                <a:gd name="csX2" fmla="*/ 0 w 6779514"/>
                <a:gd name="csY2" fmla="*/ 1652778 h 1652777"/>
                <a:gd name="csX3" fmla="*/ 637794 w 6779514"/>
                <a:gd name="csY3" fmla="*/ 0 h 16527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779514" h="1652777">
                  <a:moveTo>
                    <a:pt x="6779514" y="0"/>
                  </a:moveTo>
                  <a:lnTo>
                    <a:pt x="6779514" y="1652778"/>
                  </a:lnTo>
                  <a:lnTo>
                    <a:pt x="0" y="1652778"/>
                  </a:lnTo>
                  <a:lnTo>
                    <a:pt x="637794" y="0"/>
                  </a:lnTo>
                  <a:close/>
                </a:path>
              </a:pathLst>
            </a:custGeom>
            <a:solidFill>
              <a:schemeClr val="bg2"/>
            </a:solidFill>
            <a:ln w="7620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任意形状 35"/>
            <p:cNvSpPr/>
            <p:nvPr/>
          </p:nvSpPr>
          <p:spPr>
            <a:xfrm>
              <a:off x="6703" y="7582"/>
              <a:ext cx="10580" cy="2602"/>
            </a:xfrm>
            <a:custGeom>
              <a:avLst/>
              <a:gdLst>
                <a:gd name="csX0" fmla="*/ 0 w 7482078"/>
                <a:gd name="csY0" fmla="*/ 1650492 h 1652015"/>
                <a:gd name="csX1" fmla="*/ 636270 w 7482078"/>
                <a:gd name="csY1" fmla="*/ 0 h 1652015"/>
                <a:gd name="csX2" fmla="*/ 7482078 w 7482078"/>
                <a:gd name="csY2" fmla="*/ 0 h 1652015"/>
                <a:gd name="csX3" fmla="*/ 7482078 w 7482078"/>
                <a:gd name="csY3" fmla="*/ 1652016 h 1652015"/>
                <a:gd name="csX4" fmla="*/ 0 w 7482078"/>
                <a:gd name="csY4" fmla="*/ 1652016 h 16520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482078" h="1652015">
                  <a:moveTo>
                    <a:pt x="0" y="1650492"/>
                  </a:moveTo>
                  <a:lnTo>
                    <a:pt x="636270" y="0"/>
                  </a:lnTo>
                  <a:lnTo>
                    <a:pt x="7482078" y="0"/>
                  </a:lnTo>
                  <a:lnTo>
                    <a:pt x="7482078" y="1652016"/>
                  </a:lnTo>
                  <a:lnTo>
                    <a:pt x="0" y="1652016"/>
                  </a:lnTo>
                </a:path>
              </a:pathLst>
            </a:custGeom>
            <a:solidFill>
              <a:schemeClr val="bg1">
                <a:lumMod val="85000"/>
              </a:schemeClr>
            </a:solidFill>
            <a:ln w="7620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任意形状 36"/>
            <p:cNvSpPr/>
            <p:nvPr/>
          </p:nvSpPr>
          <p:spPr>
            <a:xfrm>
              <a:off x="3632" y="7583"/>
              <a:ext cx="3767" cy="2599"/>
            </a:xfrm>
            <a:custGeom>
              <a:avLst/>
              <a:gdLst>
                <a:gd name="csX0" fmla="*/ 2391918 w 2391917"/>
                <a:gd name="csY0" fmla="*/ 0 h 1650491"/>
                <a:gd name="csX1" fmla="*/ 1754886 w 2391917"/>
                <a:gd name="csY1" fmla="*/ 1650492 h 1650491"/>
                <a:gd name="csX2" fmla="*/ 0 w 2391917"/>
                <a:gd name="csY2" fmla="*/ 1650492 h 1650491"/>
                <a:gd name="csX3" fmla="*/ 0 w 2391917"/>
                <a:gd name="csY3" fmla="*/ 0 h 16504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391917" h="1650491">
                  <a:moveTo>
                    <a:pt x="2391918" y="0"/>
                  </a:moveTo>
                  <a:lnTo>
                    <a:pt x="1754886" y="1650492"/>
                  </a:lnTo>
                  <a:lnTo>
                    <a:pt x="0" y="16504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7620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任意形状 37"/>
            <p:cNvSpPr/>
            <p:nvPr/>
          </p:nvSpPr>
          <p:spPr>
            <a:xfrm>
              <a:off x="3632" y="4697"/>
              <a:ext cx="4880" cy="2603"/>
            </a:xfrm>
            <a:custGeom>
              <a:avLst/>
              <a:gdLst>
                <a:gd name="csX0" fmla="*/ 3099054 w 3099054"/>
                <a:gd name="csY0" fmla="*/ 0 h 1652777"/>
                <a:gd name="csX1" fmla="*/ 2461260 w 3099054"/>
                <a:gd name="csY1" fmla="*/ 1652778 h 1652777"/>
                <a:gd name="csX2" fmla="*/ 0 w 3099054"/>
                <a:gd name="csY2" fmla="*/ 1652778 h 1652777"/>
                <a:gd name="csX3" fmla="*/ 0 w 3099054"/>
                <a:gd name="csY3" fmla="*/ 0 h 16527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099054" h="1652777">
                  <a:moveTo>
                    <a:pt x="3099054" y="0"/>
                  </a:moveTo>
                  <a:lnTo>
                    <a:pt x="2461260" y="1652778"/>
                  </a:lnTo>
                  <a:lnTo>
                    <a:pt x="0" y="16527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7620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任意形状 38"/>
            <p:cNvSpPr/>
            <p:nvPr/>
          </p:nvSpPr>
          <p:spPr>
            <a:xfrm>
              <a:off x="3632" y="1810"/>
              <a:ext cx="5995" cy="2604"/>
            </a:xfrm>
            <a:custGeom>
              <a:avLst/>
              <a:gdLst>
                <a:gd name="csX0" fmla="*/ 3806952 w 3806951"/>
                <a:gd name="csY0" fmla="*/ 0 h 1653539"/>
                <a:gd name="csX1" fmla="*/ 3168396 w 3806951"/>
                <a:gd name="csY1" fmla="*/ 1653540 h 1653539"/>
                <a:gd name="csX2" fmla="*/ 0 w 3806951"/>
                <a:gd name="csY2" fmla="*/ 1653540 h 1653539"/>
                <a:gd name="csX3" fmla="*/ 0 w 3806951"/>
                <a:gd name="csY3" fmla="*/ 0 h 16535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806951" h="1653539">
                  <a:moveTo>
                    <a:pt x="3806952" y="0"/>
                  </a:moveTo>
                  <a:lnTo>
                    <a:pt x="3168396" y="1653540"/>
                  </a:lnTo>
                  <a:lnTo>
                    <a:pt x="0" y="16535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7620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732155" y="2334895"/>
            <a:ext cx="3267075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accent1"/>
                </a:solidFill>
              </a:rPr>
              <a:t>打通从市场需求到产品落地的完整链路</a:t>
            </a:r>
            <a:endParaRPr lang="zh-CN" altLang="en-US" sz="1400" b="1">
              <a:solidFill>
                <a:schemeClr val="accent1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78155" y="3037840"/>
            <a:ext cx="962025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chemeClr val="bg1"/>
                </a:solidFill>
              </a:rPr>
              <a:t>研发端</a:t>
            </a:r>
            <a:endParaRPr lang="zh-CN" altLang="en-US" sz="1600" b="1">
              <a:solidFill>
                <a:schemeClr val="bg1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78155" y="4302125"/>
            <a:ext cx="962025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chemeClr val="bg1"/>
                </a:solidFill>
              </a:rPr>
              <a:t>中试端</a:t>
            </a:r>
            <a:endParaRPr lang="zh-CN" altLang="en-US" sz="1600" b="1">
              <a:solidFill>
                <a:schemeClr val="bg1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18135" y="5566410"/>
            <a:ext cx="1122045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chemeClr val="bg1"/>
                </a:solidFill>
              </a:rPr>
              <a:t>产业化端</a:t>
            </a:r>
            <a:endParaRPr lang="zh-CN" altLang="en-US" sz="1600" b="1">
              <a:solidFill>
                <a:schemeClr val="bg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061845" y="2831465"/>
            <a:ext cx="2375535" cy="922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sz="1200"/>
              <a:t>建立市场导向立项机制，从源头确保技术成果匹配真实市场需求。</a:t>
            </a:r>
            <a:endParaRPr lang="zh-CN" altLang="en-US" sz="1200"/>
          </a:p>
        </p:txBody>
      </p:sp>
      <p:sp>
        <p:nvSpPr>
          <p:cNvPr id="21" name="文本框 20"/>
          <p:cNvSpPr txBox="1"/>
          <p:nvPr/>
        </p:nvSpPr>
        <p:spPr>
          <a:xfrm>
            <a:off x="1724660" y="4055110"/>
            <a:ext cx="2713355" cy="922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sz="1200"/>
              <a:t>建设专业化中试基地与工程化平台，组建复合型中试团队，解决质量控制与成本优化问题。</a:t>
            </a:r>
            <a:endParaRPr lang="en-US" altLang="zh-CN" sz="1200"/>
          </a:p>
        </p:txBody>
      </p:sp>
      <p:sp>
        <p:nvSpPr>
          <p:cNvPr id="22" name="文本框 21"/>
          <p:cNvSpPr txBox="1"/>
          <p:nvPr/>
        </p:nvSpPr>
        <p:spPr>
          <a:xfrm>
            <a:off x="1346835" y="5450205"/>
            <a:ext cx="3196590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sz="1200"/>
              <a:t>完善产业化配套能力，建立快速量产机制，实现技术成果的规模化落地与市场推广。</a:t>
            </a:r>
            <a:endParaRPr lang="zh-CN" altLang="en-US" sz="1200"/>
          </a:p>
        </p:txBody>
      </p:sp>
      <p:sp>
        <p:nvSpPr>
          <p:cNvPr id="23" name="同侧圆角矩形 22"/>
          <p:cNvSpPr/>
          <p:nvPr/>
        </p:nvSpPr>
        <p:spPr>
          <a:xfrm>
            <a:off x="5537835" y="1919605"/>
            <a:ext cx="2830830" cy="362585"/>
          </a:xfrm>
          <a:prstGeom prst="round2Same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建立二维项目分类矩阵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43425" y="2694305"/>
            <a:ext cx="4732020" cy="3623945"/>
          </a:xfrm>
          <a:prstGeom prst="rect">
            <a:avLst/>
          </a:prstGeom>
        </p:spPr>
      </p:pic>
      <p:sp>
        <p:nvSpPr>
          <p:cNvPr id="25" name="文本框 24"/>
          <p:cNvSpPr txBox="1"/>
          <p:nvPr/>
        </p:nvSpPr>
        <p:spPr>
          <a:xfrm>
            <a:off x="4797425" y="2334895"/>
            <a:ext cx="4311650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基于战略目标与产出形态，实施差异化</a:t>
            </a:r>
            <a:r>
              <a:rPr lang="en-US" altLang="zh-CN" sz="14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IPD</a:t>
            </a:r>
            <a:r>
              <a:rPr lang="zh-CN" altLang="en-US" sz="14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流程管理</a:t>
            </a:r>
            <a:endParaRPr lang="zh-CN" altLang="en-US" sz="1400" b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6" name="同侧圆角矩形 25"/>
          <p:cNvSpPr/>
          <p:nvPr/>
        </p:nvSpPr>
        <p:spPr>
          <a:xfrm>
            <a:off x="9364980" y="1919605"/>
            <a:ext cx="2517775" cy="362585"/>
          </a:xfrm>
          <a:prstGeom prst="round2Same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强化场景化验证与市场对接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9340533" y="2282190"/>
            <a:ext cx="2566670" cy="5645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14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以应用场景为牵引，加速技术成果的市场验证与推广</a:t>
            </a:r>
            <a:endParaRPr lang="zh-CN" altLang="en-US" sz="1400" b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9275445" y="2886075"/>
            <a:ext cx="2669540" cy="34150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p"/>
            </a:pPr>
            <a:r>
              <a:rPr lang="zh-CN" altLang="en-US" sz="12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围绕重点行业与核心客户，</a:t>
            </a:r>
            <a:r>
              <a:rPr lang="zh-CN" altLang="en-US" sz="1200" b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打造典型应用场景示范工程</a:t>
            </a:r>
            <a:r>
              <a:rPr lang="zh-CN" altLang="en-US" sz="12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，以示范带动规模化应用；</a:t>
            </a:r>
            <a:endParaRPr lang="zh-CN" altLang="en-US" sz="1200" b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p"/>
            </a:pPr>
            <a:r>
              <a:rPr lang="zh-CN" altLang="en-US" sz="1200" b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建立市场需求快速反馈机制</a:t>
            </a:r>
            <a:r>
              <a:rPr lang="zh-CN" altLang="en-US" sz="12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，根据市场反馈及时优化技术方案与产品设计；</a:t>
            </a:r>
            <a:endParaRPr lang="zh-CN" altLang="en-US" sz="1200" b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p"/>
            </a:pPr>
            <a:r>
              <a:rPr lang="zh-CN" altLang="en-US" sz="1200" b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加强与产业链上下游企业的合作</a:t>
            </a:r>
            <a:r>
              <a:rPr lang="zh-CN" altLang="en-US" sz="12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，共同推动技术成果的集成应用与市场拓展。</a:t>
            </a:r>
            <a:endParaRPr lang="zh-CN" altLang="en-US" sz="1200" b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7240905" y="0"/>
            <a:ext cx="4952365" cy="259080"/>
            <a:chOff x="11403" y="0"/>
            <a:chExt cx="7799" cy="408"/>
          </a:xfrm>
        </p:grpSpPr>
        <p:sp>
          <p:nvSpPr>
            <p:cNvPr id="9" name="矩形 8"/>
            <p:cNvSpPr/>
            <p:nvPr/>
          </p:nvSpPr>
          <p:spPr>
            <a:xfrm>
              <a:off x="11403" y="0"/>
              <a:ext cx="1540" cy="408"/>
            </a:xfrm>
            <a:prstGeom prst="rect">
              <a:avLst/>
            </a:prstGeom>
            <a:solidFill>
              <a:schemeClr val="accent6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规划背景</a:t>
              </a:r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12969" y="0"/>
              <a:ext cx="1540" cy="408"/>
            </a:xfrm>
            <a:prstGeom prst="rect">
              <a:avLst/>
            </a:prstGeom>
            <a:solidFill>
              <a:schemeClr val="accent6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顶层</a:t>
              </a: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设计</a:t>
              </a:r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矩形 30"/>
            <p:cNvSpPr/>
            <p:nvPr/>
          </p:nvSpPr>
          <p:spPr>
            <a:xfrm>
              <a:off x="14534" y="0"/>
              <a:ext cx="1540" cy="40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重点任务</a:t>
              </a:r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16099" y="0"/>
              <a:ext cx="1538" cy="408"/>
            </a:xfrm>
            <a:prstGeom prst="rect">
              <a:avLst/>
            </a:prstGeom>
            <a:solidFill>
              <a:schemeClr val="accent6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保障机制</a:t>
              </a:r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矩形 32"/>
            <p:cNvSpPr/>
            <p:nvPr/>
          </p:nvSpPr>
          <p:spPr>
            <a:xfrm>
              <a:off x="17662" y="0"/>
              <a:ext cx="1540" cy="408"/>
            </a:xfrm>
            <a:prstGeom prst="rect">
              <a:avLst/>
            </a:prstGeom>
            <a:solidFill>
              <a:schemeClr val="accent6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实施路径</a:t>
              </a:r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</a:fld>
            <a:endParaRPr lang="en-US" altLang="zh-CN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0400" y="89535"/>
            <a:ext cx="11170285" cy="102870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sz="2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重点任务四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| 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构建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战略引领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体系支撑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评价闭环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文化赋能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的全链条创新人才发展体系</a:t>
            </a:r>
            <a:endParaRPr lang="zh-CN" altLang="en-US" sz="2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占位符 9"/>
          <p:cNvSpPr>
            <a:spLocks noGrp="1"/>
          </p:cNvSpPr>
          <p:nvPr/>
        </p:nvSpPr>
        <p:spPr>
          <a:xfrm>
            <a:off x="566420" y="1118235"/>
            <a:ext cx="11264900" cy="838200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noAutofit/>
          </a:bodyPr>
          <a:lstStyle>
            <a:lvl1pPr marL="0" indent="0" algn="just" defTabSz="914400" rtl="0" eaLnBrk="1" latinLnBrk="0" hangingPunct="1">
              <a:lnSpc>
                <a:spcPct val="120000"/>
              </a:lnSpc>
              <a:spcBef>
                <a:spcPts val="0"/>
              </a:spcBef>
              <a:buFontTx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精准承接国家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教育科技人才一体化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战略要求，构建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战略引领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体系支撑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评价闭环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文化赋能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的全链条人才发展体系，全面激活人才创新动能，打造支撑科技创新的核心人才队伍。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710" y="1903095"/>
            <a:ext cx="5236210" cy="4392295"/>
          </a:xfrm>
          <a:prstGeom prst="rect">
            <a:avLst/>
          </a:prstGeom>
        </p:spPr>
      </p:pic>
      <p:grpSp>
        <p:nvGrpSpPr>
          <p:cNvPr id="6" name="组合 5"/>
          <p:cNvGrpSpPr/>
          <p:nvPr/>
        </p:nvGrpSpPr>
        <p:grpSpPr>
          <a:xfrm rot="5400000">
            <a:off x="6719570" y="3680460"/>
            <a:ext cx="4273550" cy="883285"/>
            <a:chOff x="5107" y="4487"/>
            <a:chExt cx="13378" cy="3012"/>
          </a:xfrm>
        </p:grpSpPr>
        <p:sp>
          <p:nvSpPr>
            <p:cNvPr id="7" name="任意形状 6"/>
            <p:cNvSpPr/>
            <p:nvPr/>
          </p:nvSpPr>
          <p:spPr>
            <a:xfrm>
              <a:off x="6101" y="4816"/>
              <a:ext cx="2354" cy="2354"/>
            </a:xfrm>
            <a:custGeom>
              <a:avLst/>
              <a:gdLst>
                <a:gd name="connsiteX0" fmla="*/ 1495044 w 1495044"/>
                <a:gd name="connsiteY0" fmla="*/ 747522 h 1495044"/>
                <a:gd name="connsiteX1" fmla="*/ 747522 w 1495044"/>
                <a:gd name="connsiteY1" fmla="*/ 1495044 h 1495044"/>
                <a:gd name="connsiteX2" fmla="*/ 0 w 1495044"/>
                <a:gd name="connsiteY2" fmla="*/ 747522 h 1495044"/>
                <a:gd name="connsiteX3" fmla="*/ 747522 w 1495044"/>
                <a:gd name="connsiteY3" fmla="*/ 0 h 1495044"/>
                <a:gd name="connsiteX4" fmla="*/ 1495044 w 1495044"/>
                <a:gd name="connsiteY4" fmla="*/ 747522 h 1495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95044" h="1495044">
                  <a:moveTo>
                    <a:pt x="1495044" y="747522"/>
                  </a:moveTo>
                  <a:cubicBezTo>
                    <a:pt x="1495044" y="1160367"/>
                    <a:pt x="1160367" y="1495044"/>
                    <a:pt x="747522" y="1495044"/>
                  </a:cubicBezTo>
                  <a:cubicBezTo>
                    <a:pt x="334677" y="1495044"/>
                    <a:pt x="0" y="1160367"/>
                    <a:pt x="0" y="747522"/>
                  </a:cubicBezTo>
                  <a:cubicBezTo>
                    <a:pt x="0" y="334677"/>
                    <a:pt x="334677" y="0"/>
                    <a:pt x="747522" y="0"/>
                  </a:cubicBezTo>
                  <a:cubicBezTo>
                    <a:pt x="1160367" y="0"/>
                    <a:pt x="1495044" y="334677"/>
                    <a:pt x="1495044" y="747522"/>
                  </a:cubicBezTo>
                  <a:close/>
                </a:path>
              </a:pathLst>
            </a:custGeom>
            <a:solidFill>
              <a:schemeClr val="bg2"/>
            </a:solidFill>
            <a:ln w="76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Alibaba PuHuiTi" pitchFamily="18" charset="-122"/>
                <a:ea typeface="Alibaba PuHuiTi" pitchFamily="18" charset="-122"/>
                <a:cs typeface="Alibaba PuHuiTi" pitchFamily="18" charset="-122"/>
              </a:endParaRPr>
            </a:p>
          </p:txBody>
        </p:sp>
        <p:sp>
          <p:nvSpPr>
            <p:cNvPr id="8" name="任意形状 7"/>
            <p:cNvSpPr/>
            <p:nvPr/>
          </p:nvSpPr>
          <p:spPr>
            <a:xfrm>
              <a:off x="6281" y="4995"/>
              <a:ext cx="1994" cy="1994"/>
            </a:xfrm>
            <a:custGeom>
              <a:avLst/>
              <a:gdLst>
                <a:gd name="connsiteX0" fmla="*/ 1266432 w 1266431"/>
                <a:gd name="connsiteY0" fmla="*/ 633216 h 1266431"/>
                <a:gd name="connsiteX1" fmla="*/ 633216 w 1266431"/>
                <a:gd name="connsiteY1" fmla="*/ 1266432 h 1266431"/>
                <a:gd name="connsiteX2" fmla="*/ 0 w 1266431"/>
                <a:gd name="connsiteY2" fmla="*/ 633216 h 1266431"/>
                <a:gd name="connsiteX3" fmla="*/ 633216 w 1266431"/>
                <a:gd name="connsiteY3" fmla="*/ 0 h 1266431"/>
                <a:gd name="connsiteX4" fmla="*/ 1266432 w 1266431"/>
                <a:gd name="connsiteY4" fmla="*/ 633216 h 1266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6431" h="1266431">
                  <a:moveTo>
                    <a:pt x="1266432" y="633216"/>
                  </a:moveTo>
                  <a:cubicBezTo>
                    <a:pt x="1266432" y="982931"/>
                    <a:pt x="982931" y="1266432"/>
                    <a:pt x="633216" y="1266432"/>
                  </a:cubicBezTo>
                  <a:cubicBezTo>
                    <a:pt x="283501" y="1266432"/>
                    <a:pt x="0" y="982931"/>
                    <a:pt x="0" y="633216"/>
                  </a:cubicBezTo>
                  <a:cubicBezTo>
                    <a:pt x="0" y="283500"/>
                    <a:pt x="283501" y="0"/>
                    <a:pt x="633216" y="0"/>
                  </a:cubicBezTo>
                  <a:cubicBezTo>
                    <a:pt x="982931" y="0"/>
                    <a:pt x="1266432" y="283500"/>
                    <a:pt x="1266432" y="633216"/>
                  </a:cubicBezTo>
                  <a:close/>
                </a:path>
              </a:pathLst>
            </a:custGeom>
            <a:solidFill>
              <a:schemeClr val="accent1"/>
            </a:solidFill>
            <a:ln w="762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zh-CN" altLang="en-US" sz="2600" b="1" dirty="0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endParaRPr>
            </a:p>
          </p:txBody>
        </p:sp>
        <p:sp>
          <p:nvSpPr>
            <p:cNvPr id="9" name="任意形状 8"/>
            <p:cNvSpPr/>
            <p:nvPr/>
          </p:nvSpPr>
          <p:spPr>
            <a:xfrm>
              <a:off x="9113" y="4816"/>
              <a:ext cx="2354" cy="2354"/>
            </a:xfrm>
            <a:custGeom>
              <a:avLst/>
              <a:gdLst>
                <a:gd name="connsiteX0" fmla="*/ 1495044 w 1495044"/>
                <a:gd name="connsiteY0" fmla="*/ 747522 h 1495044"/>
                <a:gd name="connsiteX1" fmla="*/ 747522 w 1495044"/>
                <a:gd name="connsiteY1" fmla="*/ 1495044 h 1495044"/>
                <a:gd name="connsiteX2" fmla="*/ 0 w 1495044"/>
                <a:gd name="connsiteY2" fmla="*/ 747522 h 1495044"/>
                <a:gd name="connsiteX3" fmla="*/ 747522 w 1495044"/>
                <a:gd name="connsiteY3" fmla="*/ 0 h 1495044"/>
                <a:gd name="connsiteX4" fmla="*/ 1495044 w 1495044"/>
                <a:gd name="connsiteY4" fmla="*/ 747522 h 1495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95044" h="1495044">
                  <a:moveTo>
                    <a:pt x="1495044" y="747522"/>
                  </a:moveTo>
                  <a:cubicBezTo>
                    <a:pt x="1495044" y="1160367"/>
                    <a:pt x="1160367" y="1495044"/>
                    <a:pt x="747522" y="1495044"/>
                  </a:cubicBezTo>
                  <a:cubicBezTo>
                    <a:pt x="334677" y="1495044"/>
                    <a:pt x="0" y="1160367"/>
                    <a:pt x="0" y="747522"/>
                  </a:cubicBezTo>
                  <a:cubicBezTo>
                    <a:pt x="0" y="334677"/>
                    <a:pt x="334677" y="0"/>
                    <a:pt x="747522" y="0"/>
                  </a:cubicBezTo>
                  <a:cubicBezTo>
                    <a:pt x="1160367" y="0"/>
                    <a:pt x="1495044" y="334677"/>
                    <a:pt x="1495044" y="747522"/>
                  </a:cubicBezTo>
                  <a:close/>
                </a:path>
              </a:pathLst>
            </a:custGeom>
            <a:solidFill>
              <a:schemeClr val="bg2"/>
            </a:solidFill>
            <a:ln w="76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Alibaba PuHuiTi" pitchFamily="18" charset="-122"/>
                <a:ea typeface="Alibaba PuHuiTi" pitchFamily="18" charset="-122"/>
                <a:cs typeface="Alibaba PuHuiTi" pitchFamily="18" charset="-122"/>
              </a:endParaRPr>
            </a:p>
          </p:txBody>
        </p:sp>
        <p:sp>
          <p:nvSpPr>
            <p:cNvPr id="10" name="任意形状 9"/>
            <p:cNvSpPr/>
            <p:nvPr/>
          </p:nvSpPr>
          <p:spPr>
            <a:xfrm>
              <a:off x="9293" y="4996"/>
              <a:ext cx="1994" cy="1994"/>
            </a:xfrm>
            <a:custGeom>
              <a:avLst/>
              <a:gdLst>
                <a:gd name="connsiteX0" fmla="*/ 1266444 w 1266444"/>
                <a:gd name="connsiteY0" fmla="*/ 633222 h 1266444"/>
                <a:gd name="connsiteX1" fmla="*/ 633222 w 1266444"/>
                <a:gd name="connsiteY1" fmla="*/ 1266444 h 1266444"/>
                <a:gd name="connsiteX2" fmla="*/ 0 w 1266444"/>
                <a:gd name="connsiteY2" fmla="*/ 633222 h 1266444"/>
                <a:gd name="connsiteX3" fmla="*/ 633222 w 1266444"/>
                <a:gd name="connsiteY3" fmla="*/ 0 h 1266444"/>
                <a:gd name="connsiteX4" fmla="*/ 1266444 w 1266444"/>
                <a:gd name="connsiteY4" fmla="*/ 633222 h 126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6444" h="1266444">
                  <a:moveTo>
                    <a:pt x="1266444" y="633222"/>
                  </a:moveTo>
                  <a:cubicBezTo>
                    <a:pt x="1266444" y="982941"/>
                    <a:pt x="982941" y="1266444"/>
                    <a:pt x="633222" y="1266444"/>
                  </a:cubicBezTo>
                  <a:cubicBezTo>
                    <a:pt x="283503" y="1266444"/>
                    <a:pt x="0" y="982941"/>
                    <a:pt x="0" y="633222"/>
                  </a:cubicBezTo>
                  <a:cubicBezTo>
                    <a:pt x="0" y="283503"/>
                    <a:pt x="283503" y="0"/>
                    <a:pt x="633222" y="0"/>
                  </a:cubicBezTo>
                  <a:cubicBezTo>
                    <a:pt x="982941" y="0"/>
                    <a:pt x="1266444" y="283503"/>
                    <a:pt x="1266444" y="633222"/>
                  </a:cubicBezTo>
                  <a:close/>
                </a:path>
              </a:pathLst>
            </a:custGeom>
            <a:solidFill>
              <a:schemeClr val="accent2"/>
            </a:solidFill>
            <a:ln w="762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zh-CN" altLang="en-US" sz="2600" b="1" dirty="0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endParaRPr>
            </a:p>
          </p:txBody>
        </p:sp>
        <p:sp>
          <p:nvSpPr>
            <p:cNvPr id="15" name="任意形状 14"/>
            <p:cNvSpPr/>
            <p:nvPr/>
          </p:nvSpPr>
          <p:spPr>
            <a:xfrm>
              <a:off x="12126" y="4816"/>
              <a:ext cx="2354" cy="2354"/>
            </a:xfrm>
            <a:custGeom>
              <a:avLst/>
              <a:gdLst>
                <a:gd name="connsiteX0" fmla="*/ 1495044 w 1495043"/>
                <a:gd name="connsiteY0" fmla="*/ 747522 h 1495044"/>
                <a:gd name="connsiteX1" fmla="*/ 747522 w 1495043"/>
                <a:gd name="connsiteY1" fmla="*/ 1495044 h 1495044"/>
                <a:gd name="connsiteX2" fmla="*/ 0 w 1495043"/>
                <a:gd name="connsiteY2" fmla="*/ 747522 h 1495044"/>
                <a:gd name="connsiteX3" fmla="*/ 747522 w 1495043"/>
                <a:gd name="connsiteY3" fmla="*/ 0 h 1495044"/>
                <a:gd name="connsiteX4" fmla="*/ 1495044 w 1495043"/>
                <a:gd name="connsiteY4" fmla="*/ 747522 h 1495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95043" h="1495044">
                  <a:moveTo>
                    <a:pt x="1495044" y="747522"/>
                  </a:moveTo>
                  <a:cubicBezTo>
                    <a:pt x="1495044" y="1160367"/>
                    <a:pt x="1160366" y="1495044"/>
                    <a:pt x="747522" y="1495044"/>
                  </a:cubicBezTo>
                  <a:cubicBezTo>
                    <a:pt x="334677" y="1495044"/>
                    <a:pt x="0" y="1160367"/>
                    <a:pt x="0" y="747522"/>
                  </a:cubicBezTo>
                  <a:cubicBezTo>
                    <a:pt x="0" y="334677"/>
                    <a:pt x="334677" y="0"/>
                    <a:pt x="747522" y="0"/>
                  </a:cubicBezTo>
                  <a:cubicBezTo>
                    <a:pt x="1160366" y="0"/>
                    <a:pt x="1495044" y="334677"/>
                    <a:pt x="1495044" y="747522"/>
                  </a:cubicBezTo>
                  <a:close/>
                </a:path>
              </a:pathLst>
            </a:custGeom>
            <a:solidFill>
              <a:schemeClr val="bg2"/>
            </a:solidFill>
            <a:ln w="76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Alibaba PuHuiTi" pitchFamily="18" charset="-122"/>
                <a:ea typeface="Alibaba PuHuiTi" pitchFamily="18" charset="-122"/>
                <a:cs typeface="Alibaba PuHuiTi" pitchFamily="18" charset="-122"/>
              </a:endParaRPr>
            </a:p>
          </p:txBody>
        </p:sp>
        <p:sp>
          <p:nvSpPr>
            <p:cNvPr id="16" name="任意形状 15"/>
            <p:cNvSpPr/>
            <p:nvPr/>
          </p:nvSpPr>
          <p:spPr>
            <a:xfrm>
              <a:off x="12306" y="4996"/>
              <a:ext cx="1994" cy="1994"/>
            </a:xfrm>
            <a:custGeom>
              <a:avLst/>
              <a:gdLst>
                <a:gd name="connsiteX0" fmla="*/ 1266444 w 1266443"/>
                <a:gd name="connsiteY0" fmla="*/ 633222 h 1266444"/>
                <a:gd name="connsiteX1" fmla="*/ 633222 w 1266443"/>
                <a:gd name="connsiteY1" fmla="*/ 1266444 h 1266444"/>
                <a:gd name="connsiteX2" fmla="*/ 0 w 1266443"/>
                <a:gd name="connsiteY2" fmla="*/ 633222 h 1266444"/>
                <a:gd name="connsiteX3" fmla="*/ 633222 w 1266443"/>
                <a:gd name="connsiteY3" fmla="*/ 0 h 1266444"/>
                <a:gd name="connsiteX4" fmla="*/ 1266444 w 1266443"/>
                <a:gd name="connsiteY4" fmla="*/ 633222 h 126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6443" h="1266444">
                  <a:moveTo>
                    <a:pt x="1266444" y="633222"/>
                  </a:moveTo>
                  <a:cubicBezTo>
                    <a:pt x="1266444" y="982941"/>
                    <a:pt x="982941" y="1266444"/>
                    <a:pt x="633222" y="1266444"/>
                  </a:cubicBezTo>
                  <a:cubicBezTo>
                    <a:pt x="283503" y="1266444"/>
                    <a:pt x="0" y="982941"/>
                    <a:pt x="0" y="633222"/>
                  </a:cubicBezTo>
                  <a:cubicBezTo>
                    <a:pt x="0" y="283503"/>
                    <a:pt x="283503" y="0"/>
                    <a:pt x="633222" y="0"/>
                  </a:cubicBezTo>
                  <a:cubicBezTo>
                    <a:pt x="982941" y="0"/>
                    <a:pt x="1266444" y="283503"/>
                    <a:pt x="1266444" y="633222"/>
                  </a:cubicBezTo>
                  <a:close/>
                </a:path>
              </a:pathLst>
            </a:custGeom>
            <a:solidFill>
              <a:schemeClr val="accent3"/>
            </a:solidFill>
            <a:ln w="762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zh-CN" altLang="en-US" sz="2600" b="1" dirty="0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endParaRPr>
            </a:p>
          </p:txBody>
        </p:sp>
        <p:sp>
          <p:nvSpPr>
            <p:cNvPr id="17" name="任意形状 16"/>
            <p:cNvSpPr/>
            <p:nvPr/>
          </p:nvSpPr>
          <p:spPr>
            <a:xfrm>
              <a:off x="15138" y="4816"/>
              <a:ext cx="2354" cy="2354"/>
            </a:xfrm>
            <a:custGeom>
              <a:avLst/>
              <a:gdLst>
                <a:gd name="connsiteX0" fmla="*/ 1495044 w 1495043"/>
                <a:gd name="connsiteY0" fmla="*/ 747522 h 1495044"/>
                <a:gd name="connsiteX1" fmla="*/ 747522 w 1495043"/>
                <a:gd name="connsiteY1" fmla="*/ 1495044 h 1495044"/>
                <a:gd name="connsiteX2" fmla="*/ 0 w 1495043"/>
                <a:gd name="connsiteY2" fmla="*/ 747522 h 1495044"/>
                <a:gd name="connsiteX3" fmla="*/ 747522 w 1495043"/>
                <a:gd name="connsiteY3" fmla="*/ 0 h 1495044"/>
                <a:gd name="connsiteX4" fmla="*/ 1495044 w 1495043"/>
                <a:gd name="connsiteY4" fmla="*/ 747522 h 1495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95043" h="1495044">
                  <a:moveTo>
                    <a:pt x="1495044" y="747522"/>
                  </a:moveTo>
                  <a:cubicBezTo>
                    <a:pt x="1495044" y="1160367"/>
                    <a:pt x="1160366" y="1495044"/>
                    <a:pt x="747522" y="1495044"/>
                  </a:cubicBezTo>
                  <a:cubicBezTo>
                    <a:pt x="334677" y="1495044"/>
                    <a:pt x="0" y="1160367"/>
                    <a:pt x="0" y="747522"/>
                  </a:cubicBezTo>
                  <a:cubicBezTo>
                    <a:pt x="0" y="334677"/>
                    <a:pt x="334677" y="0"/>
                    <a:pt x="747522" y="0"/>
                  </a:cubicBezTo>
                  <a:cubicBezTo>
                    <a:pt x="1160366" y="0"/>
                    <a:pt x="1495044" y="334677"/>
                    <a:pt x="1495044" y="747522"/>
                  </a:cubicBezTo>
                  <a:close/>
                </a:path>
              </a:pathLst>
            </a:custGeom>
            <a:solidFill>
              <a:schemeClr val="bg2"/>
            </a:solidFill>
            <a:ln w="76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Alibaba PuHuiTi" pitchFamily="18" charset="-122"/>
                <a:ea typeface="Alibaba PuHuiTi" pitchFamily="18" charset="-122"/>
                <a:cs typeface="Alibaba PuHuiTi" pitchFamily="18" charset="-122"/>
              </a:endParaRPr>
            </a:p>
          </p:txBody>
        </p:sp>
        <p:sp>
          <p:nvSpPr>
            <p:cNvPr id="18" name="任意形状 17"/>
            <p:cNvSpPr/>
            <p:nvPr/>
          </p:nvSpPr>
          <p:spPr>
            <a:xfrm>
              <a:off x="15319" y="4996"/>
              <a:ext cx="1994" cy="1994"/>
            </a:xfrm>
            <a:custGeom>
              <a:avLst/>
              <a:gdLst>
                <a:gd name="connsiteX0" fmla="*/ 1266459 w 1266459"/>
                <a:gd name="connsiteY0" fmla="*/ 633230 h 1266459"/>
                <a:gd name="connsiteX1" fmla="*/ 633230 w 1266459"/>
                <a:gd name="connsiteY1" fmla="*/ 1266460 h 1266459"/>
                <a:gd name="connsiteX2" fmla="*/ 0 w 1266459"/>
                <a:gd name="connsiteY2" fmla="*/ 633230 h 1266459"/>
                <a:gd name="connsiteX3" fmla="*/ 633230 w 1266459"/>
                <a:gd name="connsiteY3" fmla="*/ 0 h 1266459"/>
                <a:gd name="connsiteX4" fmla="*/ 1266459 w 1266459"/>
                <a:gd name="connsiteY4" fmla="*/ 633230 h 1266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6459" h="1266459">
                  <a:moveTo>
                    <a:pt x="1266459" y="633230"/>
                  </a:moveTo>
                  <a:cubicBezTo>
                    <a:pt x="1266459" y="982953"/>
                    <a:pt x="982953" y="1266460"/>
                    <a:pt x="633230" y="1266460"/>
                  </a:cubicBezTo>
                  <a:cubicBezTo>
                    <a:pt x="283506" y="1266460"/>
                    <a:pt x="0" y="982953"/>
                    <a:pt x="0" y="633230"/>
                  </a:cubicBezTo>
                  <a:cubicBezTo>
                    <a:pt x="0" y="283507"/>
                    <a:pt x="283506" y="0"/>
                    <a:pt x="633230" y="0"/>
                  </a:cubicBezTo>
                  <a:cubicBezTo>
                    <a:pt x="982953" y="0"/>
                    <a:pt x="1266459" y="283507"/>
                    <a:pt x="1266459" y="633230"/>
                  </a:cubicBezTo>
                  <a:close/>
                </a:path>
              </a:pathLst>
            </a:custGeom>
            <a:solidFill>
              <a:schemeClr val="accent4"/>
            </a:solidFill>
            <a:ln w="762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zh-CN" altLang="en-US" sz="2600" b="1" dirty="0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endParaRPr>
            </a:p>
          </p:txBody>
        </p:sp>
        <p:sp>
          <p:nvSpPr>
            <p:cNvPr id="19" name="任意形状 18"/>
            <p:cNvSpPr/>
            <p:nvPr/>
          </p:nvSpPr>
          <p:spPr>
            <a:xfrm>
              <a:off x="5107" y="4487"/>
              <a:ext cx="13378" cy="3012"/>
            </a:xfrm>
            <a:custGeom>
              <a:avLst/>
              <a:gdLst>
                <a:gd name="connsiteX0" fmla="*/ 0 w 8494776"/>
                <a:gd name="connsiteY0" fmla="*/ 956310 h 1912620"/>
                <a:gd name="connsiteX1" fmla="*/ 422148 w 8494776"/>
                <a:gd name="connsiteY1" fmla="*/ 956310 h 1912620"/>
                <a:gd name="connsiteX2" fmla="*/ 1378458 w 8494776"/>
                <a:gd name="connsiteY2" fmla="*/ 1912620 h 1912620"/>
                <a:gd name="connsiteX3" fmla="*/ 2334768 w 8494776"/>
                <a:gd name="connsiteY3" fmla="*/ 956310 h 1912620"/>
                <a:gd name="connsiteX4" fmla="*/ 3291078 w 8494776"/>
                <a:gd name="connsiteY4" fmla="*/ 0 h 1912620"/>
                <a:gd name="connsiteX5" fmla="*/ 4248150 w 8494776"/>
                <a:gd name="connsiteY5" fmla="*/ 956310 h 1912620"/>
                <a:gd name="connsiteX6" fmla="*/ 5204460 w 8494776"/>
                <a:gd name="connsiteY6" fmla="*/ 1912620 h 1912620"/>
                <a:gd name="connsiteX7" fmla="*/ 6160770 w 8494776"/>
                <a:gd name="connsiteY7" fmla="*/ 956310 h 1912620"/>
                <a:gd name="connsiteX8" fmla="*/ 7117080 w 8494776"/>
                <a:gd name="connsiteY8" fmla="*/ 0 h 1912620"/>
                <a:gd name="connsiteX9" fmla="*/ 8073390 w 8494776"/>
                <a:gd name="connsiteY9" fmla="*/ 956310 h 1912620"/>
                <a:gd name="connsiteX10" fmla="*/ 8494776 w 8494776"/>
                <a:gd name="connsiteY10" fmla="*/ 956310 h 1912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494776" h="1912620">
                  <a:moveTo>
                    <a:pt x="0" y="956310"/>
                  </a:moveTo>
                  <a:lnTo>
                    <a:pt x="422148" y="956310"/>
                  </a:lnTo>
                  <a:cubicBezTo>
                    <a:pt x="422148" y="1484376"/>
                    <a:pt x="850392" y="1912620"/>
                    <a:pt x="1378458" y="1912620"/>
                  </a:cubicBezTo>
                  <a:cubicBezTo>
                    <a:pt x="1906524" y="1912620"/>
                    <a:pt x="2334768" y="1484376"/>
                    <a:pt x="2334768" y="956310"/>
                  </a:cubicBezTo>
                  <a:cubicBezTo>
                    <a:pt x="2334768" y="428244"/>
                    <a:pt x="2763012" y="0"/>
                    <a:pt x="3291078" y="0"/>
                  </a:cubicBezTo>
                  <a:cubicBezTo>
                    <a:pt x="3819144" y="0"/>
                    <a:pt x="4248150" y="427482"/>
                    <a:pt x="4248150" y="956310"/>
                  </a:cubicBezTo>
                  <a:cubicBezTo>
                    <a:pt x="4248150" y="1485138"/>
                    <a:pt x="4676395" y="1912620"/>
                    <a:pt x="5204460" y="1912620"/>
                  </a:cubicBezTo>
                  <a:cubicBezTo>
                    <a:pt x="5732526" y="1912620"/>
                    <a:pt x="6160770" y="1484376"/>
                    <a:pt x="6160770" y="956310"/>
                  </a:cubicBezTo>
                  <a:cubicBezTo>
                    <a:pt x="6160770" y="428244"/>
                    <a:pt x="6589015" y="0"/>
                    <a:pt x="7117080" y="0"/>
                  </a:cubicBezTo>
                  <a:cubicBezTo>
                    <a:pt x="7645146" y="0"/>
                    <a:pt x="8073390" y="428244"/>
                    <a:pt x="8073390" y="956310"/>
                  </a:cubicBezTo>
                  <a:lnTo>
                    <a:pt x="8494776" y="956310"/>
                  </a:lnTo>
                </a:path>
              </a:pathLst>
            </a:custGeom>
            <a:noFill/>
            <a:ln w="15875" cap="flat">
              <a:solidFill>
                <a:schemeClr val="accent1"/>
              </a:solidFill>
              <a:prstDash val="dash"/>
              <a:miter/>
              <a:tailEnd type="triangle"/>
            </a:ln>
          </p:spPr>
          <p:txBody>
            <a:bodyPr rtlCol="0" anchor="ctr"/>
            <a:lstStyle/>
            <a:p>
              <a:endParaRPr lang="zh-CN" altLang="en-US">
                <a:latin typeface="Alibaba PuHuiTi" pitchFamily="18" charset="-122"/>
                <a:ea typeface="Alibaba PuHuiTi" pitchFamily="18" charset="-122"/>
                <a:cs typeface="Alibaba PuHuiTi" pitchFamily="18" charset="-122"/>
              </a:endParaRPr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8626475" y="2447925"/>
            <a:ext cx="481965" cy="450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626475" y="3387090"/>
            <a:ext cx="481965" cy="450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626475" y="4377690"/>
            <a:ext cx="481965" cy="450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8626475" y="5347335"/>
            <a:ext cx="481965" cy="450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9298305" y="1903730"/>
            <a:ext cx="2506980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accent1"/>
                </a:solidFill>
              </a:rPr>
              <a:t>人才规划与科技创新深度对齐</a:t>
            </a:r>
            <a:endParaRPr lang="zh-CN" altLang="en-US" sz="1400" b="1">
              <a:solidFill>
                <a:schemeClr val="accent1"/>
              </a:solidFill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9368790" y="2252980"/>
            <a:ext cx="2392045" cy="1351915"/>
          </a:xfrm>
          <a:prstGeom prst="roundRect">
            <a:avLst>
              <a:gd name="adj" fmla="val 11601"/>
            </a:avLst>
          </a:prstGeom>
          <a:solidFill>
            <a:schemeClr val="accent3">
              <a:lumMod val="20000"/>
              <a:lumOff val="80000"/>
              <a:alpha val="50000"/>
            </a:schemeClr>
          </a:solidFill>
          <a:ln w="635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marL="171450" indent="-171450" algn="just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p"/>
            </a:pPr>
            <a:r>
              <a:rPr lang="zh-CN" altLang="en-US" sz="12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基于公司</a:t>
            </a:r>
            <a:r>
              <a:rPr lang="en-US" sz="12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sz="12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十五五</a:t>
            </a:r>
            <a:r>
              <a:rPr lang="en-US" altLang="zh-CN" sz="12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sz="12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科技创新规划，制定配套人才发展专项规划；</a:t>
            </a:r>
            <a:endParaRPr lang="zh-CN" altLang="en-US" sz="1200" b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71450" indent="-171450" algn="just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p"/>
            </a:pPr>
            <a:r>
              <a:rPr lang="zh-CN" altLang="en-US" sz="12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围绕核心技术赛道，明确人才需求清单与能力标准。</a:t>
            </a:r>
            <a:endParaRPr lang="zh-CN" altLang="en-US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5942330" y="1903730"/>
            <a:ext cx="2444750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打造选</a:t>
            </a:r>
            <a:r>
              <a:rPr lang="en-US" altLang="zh-CN" sz="1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1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</a:t>
            </a:r>
            <a:r>
              <a:rPr lang="en-US" altLang="zh-CN" sz="1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1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育</a:t>
            </a:r>
            <a:r>
              <a:rPr lang="en-US" altLang="zh-CN" sz="1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1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激全链条机制</a:t>
            </a:r>
            <a:endParaRPr lang="zh-CN" altLang="en-US" sz="14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6" name="圆角矩形 25"/>
          <p:cNvSpPr/>
          <p:nvPr/>
        </p:nvSpPr>
        <p:spPr>
          <a:xfrm>
            <a:off x="5912485" y="2252345"/>
            <a:ext cx="2444750" cy="2091690"/>
          </a:xfrm>
          <a:prstGeom prst="roundRect">
            <a:avLst>
              <a:gd name="adj" fmla="val 11601"/>
            </a:avLst>
          </a:prstGeom>
          <a:solidFill>
            <a:schemeClr val="accent3">
              <a:lumMod val="20000"/>
              <a:lumOff val="80000"/>
              <a:alpha val="50000"/>
            </a:schemeClr>
          </a:solidFill>
          <a:ln w="635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marL="171450" indent="-171450" algn="just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p"/>
            </a:pP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建立市场化人才选拔机制；</a:t>
            </a:r>
            <a:endParaRPr lang="zh-CN" altLang="en-US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171450" indent="-171450" algn="just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p"/>
            </a:pP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赋予科研人员更大技术路线决定权与资源调度权；</a:t>
            </a:r>
            <a:endParaRPr lang="zh-CN" altLang="en-US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171450" indent="-171450" algn="just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p"/>
            </a:pP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深化产学研协同育人，推行</a:t>
            </a:r>
            <a:r>
              <a:rPr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导师制+项目制</a:t>
            </a:r>
            <a:r>
              <a:rPr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培养模式；</a:t>
            </a:r>
            <a:endParaRPr lang="zh-CN" altLang="en-US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171450" indent="-171450" algn="just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p"/>
            </a:pP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实施股权、期权、分红等中长期激励，完善成果转化收益分享。</a:t>
            </a:r>
            <a:endParaRPr lang="zh-CN" altLang="en-US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9394508" y="4017010"/>
            <a:ext cx="2340610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accent1"/>
                </a:solidFill>
              </a:rPr>
              <a:t>建立分类分层人才评价体系</a:t>
            </a:r>
            <a:endParaRPr lang="zh-CN" altLang="en-US" sz="1400" b="1">
              <a:solidFill>
                <a:schemeClr val="accent1"/>
              </a:solidFill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9368790" y="4378325"/>
            <a:ext cx="2392045" cy="1564005"/>
          </a:xfrm>
          <a:prstGeom prst="roundRect">
            <a:avLst>
              <a:gd name="adj" fmla="val 11601"/>
            </a:avLst>
          </a:prstGeom>
          <a:solidFill>
            <a:schemeClr val="accent3">
              <a:lumMod val="20000"/>
              <a:lumOff val="80000"/>
              <a:alpha val="50000"/>
            </a:schemeClr>
          </a:solidFill>
          <a:ln w="635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marL="171450" indent="-171450" algn="just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p"/>
            </a:pP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构建</a:t>
            </a:r>
            <a:r>
              <a:rPr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能力</a:t>
            </a:r>
            <a:r>
              <a:rPr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绩效</a:t>
            </a:r>
            <a:r>
              <a:rPr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发展</a:t>
            </a:r>
            <a:r>
              <a:rPr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三维评价模型；</a:t>
            </a:r>
            <a:endParaRPr lang="zh-CN" altLang="en-US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171450" indent="-171450" algn="just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p"/>
            </a:pP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实施长周期考核与分类评价，避免</a:t>
            </a:r>
            <a:r>
              <a:rPr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唯论文、唯职称</a:t>
            </a:r>
            <a:r>
              <a:rPr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；</a:t>
            </a:r>
            <a:endParaRPr lang="zh-CN" altLang="en-US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171450" indent="-171450" algn="just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p"/>
            </a:pP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建立人才动态调整机制，实现能上能下、能进能出。</a:t>
            </a:r>
            <a:endParaRPr lang="zh-CN" altLang="en-US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6032818" y="4443730"/>
            <a:ext cx="2154555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accent1"/>
                </a:solidFill>
              </a:rPr>
              <a:t>营造鼓励创新的文化氛围</a:t>
            </a:r>
            <a:endParaRPr lang="zh-CN" altLang="en-US" sz="1400" b="1">
              <a:solidFill>
                <a:schemeClr val="accent1"/>
              </a:solidFill>
            </a:endParaRPr>
          </a:p>
        </p:txBody>
      </p:sp>
      <p:sp>
        <p:nvSpPr>
          <p:cNvPr id="30" name="圆角矩形 29"/>
          <p:cNvSpPr/>
          <p:nvPr/>
        </p:nvSpPr>
        <p:spPr>
          <a:xfrm>
            <a:off x="5875655" y="4751070"/>
            <a:ext cx="2468880" cy="1544320"/>
          </a:xfrm>
          <a:prstGeom prst="roundRect">
            <a:avLst>
              <a:gd name="adj" fmla="val 11601"/>
            </a:avLst>
          </a:prstGeom>
          <a:solidFill>
            <a:schemeClr val="accent3">
              <a:lumMod val="20000"/>
              <a:lumOff val="80000"/>
              <a:alpha val="50000"/>
            </a:schemeClr>
          </a:solidFill>
          <a:ln w="635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marL="171450" indent="-171450" algn="just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p"/>
            </a:pP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树立</a:t>
            </a:r>
            <a:r>
              <a:rPr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尊重知识、尊重人才、鼓励创新、宽容失败</a:t>
            </a:r>
            <a:r>
              <a:rPr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的理念；</a:t>
            </a:r>
            <a:endParaRPr lang="zh-CN" altLang="en-US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171450" indent="-171450" algn="just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p"/>
            </a:pP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建立创新容错纠错机制，为科研人员松绑减负；</a:t>
            </a:r>
            <a:endParaRPr lang="zh-CN" altLang="en-US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171450" indent="-171450" algn="just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p"/>
            </a:pP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打造开放包容、协同合作的创新生态。</a:t>
            </a:r>
            <a:endParaRPr lang="zh-CN" altLang="en-US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7240905" y="0"/>
            <a:ext cx="4952365" cy="259080"/>
            <a:chOff x="11403" y="0"/>
            <a:chExt cx="7799" cy="408"/>
          </a:xfrm>
        </p:grpSpPr>
        <p:sp>
          <p:nvSpPr>
            <p:cNvPr id="23" name="矩形 22"/>
            <p:cNvSpPr/>
            <p:nvPr/>
          </p:nvSpPr>
          <p:spPr>
            <a:xfrm>
              <a:off x="11403" y="0"/>
              <a:ext cx="1540" cy="408"/>
            </a:xfrm>
            <a:prstGeom prst="rect">
              <a:avLst/>
            </a:prstGeom>
            <a:solidFill>
              <a:schemeClr val="accent6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规划背景</a:t>
              </a:r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矩形 30"/>
            <p:cNvSpPr/>
            <p:nvPr/>
          </p:nvSpPr>
          <p:spPr>
            <a:xfrm>
              <a:off x="12969" y="0"/>
              <a:ext cx="1540" cy="408"/>
            </a:xfrm>
            <a:prstGeom prst="rect">
              <a:avLst/>
            </a:prstGeom>
            <a:solidFill>
              <a:schemeClr val="accent6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顶层</a:t>
              </a: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设计</a:t>
              </a:r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14534" y="0"/>
              <a:ext cx="1540" cy="40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重点任务</a:t>
              </a:r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矩形 32"/>
            <p:cNvSpPr/>
            <p:nvPr/>
          </p:nvSpPr>
          <p:spPr>
            <a:xfrm>
              <a:off x="16099" y="0"/>
              <a:ext cx="1538" cy="408"/>
            </a:xfrm>
            <a:prstGeom prst="rect">
              <a:avLst/>
            </a:prstGeom>
            <a:solidFill>
              <a:schemeClr val="accent6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保障机制</a:t>
              </a:r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矩形 33"/>
            <p:cNvSpPr/>
            <p:nvPr/>
          </p:nvSpPr>
          <p:spPr>
            <a:xfrm>
              <a:off x="17662" y="0"/>
              <a:ext cx="1540" cy="408"/>
            </a:xfrm>
            <a:prstGeom prst="rect">
              <a:avLst/>
            </a:prstGeom>
            <a:solidFill>
              <a:schemeClr val="accent6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实施路径</a:t>
              </a:r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</a:fld>
            <a:endParaRPr lang="en-US" altLang="zh-CN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0399" y="89535"/>
            <a:ext cx="10858500" cy="102870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sz="2200"/>
              <a:t>保障机制</a:t>
            </a:r>
            <a:r>
              <a:rPr lang="en-US" altLang="zh-CN" sz="2200"/>
              <a:t> 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en-US" altLang="zh-CN" sz="2200"/>
              <a:t> </a:t>
            </a:r>
            <a:r>
              <a:rPr sz="2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配套完善资金、能力、知识产权以及容错文化氛围等全要素支撑保障</a:t>
            </a:r>
            <a:endParaRPr lang="zh-CN" altLang="en-US" sz="2200"/>
          </a:p>
        </p:txBody>
      </p:sp>
      <p:sp>
        <p:nvSpPr>
          <p:cNvPr id="18" name="任意形状 17"/>
          <p:cNvSpPr/>
          <p:nvPr/>
        </p:nvSpPr>
        <p:spPr>
          <a:xfrm>
            <a:off x="10908030" y="2385948"/>
            <a:ext cx="876300" cy="2859024"/>
          </a:xfrm>
          <a:custGeom>
            <a:avLst/>
            <a:gdLst>
              <a:gd name="connsiteX0" fmla="*/ 323088 w 876300"/>
              <a:gd name="connsiteY0" fmla="*/ 2859024 h 2859024"/>
              <a:gd name="connsiteX1" fmla="*/ 876300 w 876300"/>
              <a:gd name="connsiteY1" fmla="*/ 1429512 h 2859024"/>
              <a:gd name="connsiteX2" fmla="*/ 323088 w 876300"/>
              <a:gd name="connsiteY2" fmla="*/ 0 h 2859024"/>
              <a:gd name="connsiteX3" fmla="*/ 0 w 876300"/>
              <a:gd name="connsiteY3" fmla="*/ 0 h 2859024"/>
              <a:gd name="connsiteX4" fmla="*/ 0 w 876300"/>
              <a:gd name="connsiteY4" fmla="*/ 2859024 h 2859024"/>
              <a:gd name="connsiteX5" fmla="*/ 323088 w 876300"/>
              <a:gd name="connsiteY5" fmla="*/ 2859024 h 285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76300" h="2859024">
                <a:moveTo>
                  <a:pt x="323088" y="2859024"/>
                </a:moveTo>
                <a:cubicBezTo>
                  <a:pt x="628650" y="2859024"/>
                  <a:pt x="876300" y="2218944"/>
                  <a:pt x="876300" y="1429512"/>
                </a:cubicBezTo>
                <a:cubicBezTo>
                  <a:pt x="876300" y="640080"/>
                  <a:pt x="628650" y="0"/>
                  <a:pt x="323088" y="0"/>
                </a:cubicBezTo>
                <a:lnTo>
                  <a:pt x="0" y="0"/>
                </a:lnTo>
                <a:lnTo>
                  <a:pt x="0" y="2859024"/>
                </a:lnTo>
                <a:lnTo>
                  <a:pt x="323088" y="285902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9" name="任意形状 18"/>
          <p:cNvSpPr/>
          <p:nvPr/>
        </p:nvSpPr>
        <p:spPr>
          <a:xfrm>
            <a:off x="10354818" y="2385949"/>
            <a:ext cx="1106423" cy="2859023"/>
          </a:xfrm>
          <a:custGeom>
            <a:avLst/>
            <a:gdLst>
              <a:gd name="connsiteX0" fmla="*/ 1106424 w 1106423"/>
              <a:gd name="connsiteY0" fmla="*/ 1429512 h 2859023"/>
              <a:gd name="connsiteX1" fmla="*/ 553212 w 1106423"/>
              <a:gd name="connsiteY1" fmla="*/ 2859024 h 2859023"/>
              <a:gd name="connsiteX2" fmla="*/ 0 w 1106423"/>
              <a:gd name="connsiteY2" fmla="*/ 1429512 h 2859023"/>
              <a:gd name="connsiteX3" fmla="*/ 553212 w 1106423"/>
              <a:gd name="connsiteY3" fmla="*/ 0 h 2859023"/>
              <a:gd name="connsiteX4" fmla="*/ 1106424 w 1106423"/>
              <a:gd name="connsiteY4" fmla="*/ 1429512 h 2859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6423" h="2859023">
                <a:moveTo>
                  <a:pt x="1106424" y="1429512"/>
                </a:moveTo>
                <a:cubicBezTo>
                  <a:pt x="1106424" y="2219010"/>
                  <a:pt x="858742" y="2859024"/>
                  <a:pt x="553212" y="2859024"/>
                </a:cubicBezTo>
                <a:cubicBezTo>
                  <a:pt x="247682" y="2859024"/>
                  <a:pt x="0" y="2219009"/>
                  <a:pt x="0" y="1429512"/>
                </a:cubicBezTo>
                <a:cubicBezTo>
                  <a:pt x="0" y="640014"/>
                  <a:pt x="247682" y="0"/>
                  <a:pt x="553212" y="0"/>
                </a:cubicBezTo>
                <a:cubicBezTo>
                  <a:pt x="858742" y="0"/>
                  <a:pt x="1106424" y="640014"/>
                  <a:pt x="1106424" y="1429512"/>
                </a:cubicBezTo>
                <a:close/>
              </a:path>
            </a:pathLst>
          </a:custGeom>
          <a:solidFill>
            <a:schemeClr val="accent1"/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20" name="任意形状 19"/>
          <p:cNvSpPr/>
          <p:nvPr/>
        </p:nvSpPr>
        <p:spPr>
          <a:xfrm>
            <a:off x="10448544" y="2628265"/>
            <a:ext cx="918971" cy="2374392"/>
          </a:xfrm>
          <a:custGeom>
            <a:avLst/>
            <a:gdLst>
              <a:gd name="connsiteX0" fmla="*/ 918972 w 918971"/>
              <a:gd name="connsiteY0" fmla="*/ 1187196 h 2374392"/>
              <a:gd name="connsiteX1" fmla="*/ 459486 w 918971"/>
              <a:gd name="connsiteY1" fmla="*/ 2374392 h 2374392"/>
              <a:gd name="connsiteX2" fmla="*/ 0 w 918971"/>
              <a:gd name="connsiteY2" fmla="*/ 1187196 h 2374392"/>
              <a:gd name="connsiteX3" fmla="*/ 459486 w 918971"/>
              <a:gd name="connsiteY3" fmla="*/ 0 h 2374392"/>
              <a:gd name="connsiteX4" fmla="*/ 918972 w 918971"/>
              <a:gd name="connsiteY4" fmla="*/ 1187196 h 2374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8971" h="2374392">
                <a:moveTo>
                  <a:pt x="918972" y="1187196"/>
                </a:moveTo>
                <a:cubicBezTo>
                  <a:pt x="918972" y="1842866"/>
                  <a:pt x="713254" y="2374392"/>
                  <a:pt x="459486" y="2374392"/>
                </a:cubicBezTo>
                <a:cubicBezTo>
                  <a:pt x="205719" y="2374392"/>
                  <a:pt x="0" y="1842866"/>
                  <a:pt x="0" y="1187196"/>
                </a:cubicBezTo>
                <a:cubicBezTo>
                  <a:pt x="0" y="531526"/>
                  <a:pt x="205718" y="0"/>
                  <a:pt x="459486" y="0"/>
                </a:cubicBezTo>
                <a:cubicBezTo>
                  <a:pt x="713253" y="0"/>
                  <a:pt x="918972" y="531526"/>
                  <a:pt x="918972" y="1187196"/>
                </a:cubicBezTo>
                <a:close/>
              </a:path>
            </a:pathLst>
          </a:custGeom>
          <a:solidFill>
            <a:schemeClr val="bg1"/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21" name="任意形状 20"/>
          <p:cNvSpPr/>
          <p:nvPr/>
        </p:nvSpPr>
        <p:spPr>
          <a:xfrm>
            <a:off x="10542270" y="2869819"/>
            <a:ext cx="731520" cy="1891283"/>
          </a:xfrm>
          <a:custGeom>
            <a:avLst/>
            <a:gdLst>
              <a:gd name="connsiteX0" fmla="*/ 731520 w 731520"/>
              <a:gd name="connsiteY0" fmla="*/ 945642 h 1891283"/>
              <a:gd name="connsiteX1" fmla="*/ 365760 w 731520"/>
              <a:gd name="connsiteY1" fmla="*/ 1891284 h 1891283"/>
              <a:gd name="connsiteX2" fmla="*/ 0 w 731520"/>
              <a:gd name="connsiteY2" fmla="*/ 945642 h 1891283"/>
              <a:gd name="connsiteX3" fmla="*/ 365760 w 731520"/>
              <a:gd name="connsiteY3" fmla="*/ 0 h 1891283"/>
              <a:gd name="connsiteX4" fmla="*/ 731520 w 731520"/>
              <a:gd name="connsiteY4" fmla="*/ 945642 h 18912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1520" h="1891283">
                <a:moveTo>
                  <a:pt x="731520" y="945642"/>
                </a:moveTo>
                <a:cubicBezTo>
                  <a:pt x="731520" y="1467906"/>
                  <a:pt x="567764" y="1891284"/>
                  <a:pt x="365760" y="1891284"/>
                </a:cubicBezTo>
                <a:cubicBezTo>
                  <a:pt x="163757" y="1891284"/>
                  <a:pt x="0" y="1467906"/>
                  <a:pt x="0" y="945642"/>
                </a:cubicBezTo>
                <a:cubicBezTo>
                  <a:pt x="0" y="423378"/>
                  <a:pt x="163757" y="0"/>
                  <a:pt x="365760" y="0"/>
                </a:cubicBezTo>
                <a:cubicBezTo>
                  <a:pt x="567764" y="0"/>
                  <a:pt x="731520" y="423378"/>
                  <a:pt x="731520" y="945642"/>
                </a:cubicBezTo>
                <a:close/>
              </a:path>
            </a:pathLst>
          </a:custGeom>
          <a:solidFill>
            <a:schemeClr val="accent1"/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22" name="任意形状 21"/>
          <p:cNvSpPr/>
          <p:nvPr/>
        </p:nvSpPr>
        <p:spPr>
          <a:xfrm>
            <a:off x="10616184" y="3062605"/>
            <a:ext cx="583691" cy="1505712"/>
          </a:xfrm>
          <a:custGeom>
            <a:avLst/>
            <a:gdLst>
              <a:gd name="connsiteX0" fmla="*/ 583692 w 583691"/>
              <a:gd name="connsiteY0" fmla="*/ 752856 h 1505712"/>
              <a:gd name="connsiteX1" fmla="*/ 291846 w 583691"/>
              <a:gd name="connsiteY1" fmla="*/ 1505712 h 1505712"/>
              <a:gd name="connsiteX2" fmla="*/ 0 w 583691"/>
              <a:gd name="connsiteY2" fmla="*/ 752856 h 1505712"/>
              <a:gd name="connsiteX3" fmla="*/ 291846 w 583691"/>
              <a:gd name="connsiteY3" fmla="*/ 0 h 1505712"/>
              <a:gd name="connsiteX4" fmla="*/ 583692 w 583691"/>
              <a:gd name="connsiteY4" fmla="*/ 752856 h 1505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3691" h="1505712">
                <a:moveTo>
                  <a:pt x="583692" y="752856"/>
                </a:moveTo>
                <a:cubicBezTo>
                  <a:pt x="583692" y="1168647"/>
                  <a:pt x="453029" y="1505712"/>
                  <a:pt x="291846" y="1505712"/>
                </a:cubicBezTo>
                <a:cubicBezTo>
                  <a:pt x="130664" y="1505712"/>
                  <a:pt x="0" y="1168647"/>
                  <a:pt x="0" y="752856"/>
                </a:cubicBezTo>
                <a:cubicBezTo>
                  <a:pt x="0" y="337065"/>
                  <a:pt x="130663" y="0"/>
                  <a:pt x="291846" y="0"/>
                </a:cubicBezTo>
                <a:cubicBezTo>
                  <a:pt x="453028" y="0"/>
                  <a:pt x="583692" y="337065"/>
                  <a:pt x="583692" y="752856"/>
                </a:cubicBezTo>
                <a:close/>
              </a:path>
            </a:pathLst>
          </a:custGeom>
          <a:solidFill>
            <a:schemeClr val="bg1"/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23" name="任意形状 22"/>
          <p:cNvSpPr/>
          <p:nvPr/>
        </p:nvSpPr>
        <p:spPr>
          <a:xfrm>
            <a:off x="10774600" y="3554095"/>
            <a:ext cx="202691" cy="522732"/>
          </a:xfrm>
          <a:custGeom>
            <a:avLst/>
            <a:gdLst>
              <a:gd name="connsiteX0" fmla="*/ 202692 w 202691"/>
              <a:gd name="connsiteY0" fmla="*/ 261366 h 522732"/>
              <a:gd name="connsiteX1" fmla="*/ 101346 w 202691"/>
              <a:gd name="connsiteY1" fmla="*/ 522732 h 522732"/>
              <a:gd name="connsiteX2" fmla="*/ 0 w 202691"/>
              <a:gd name="connsiteY2" fmla="*/ 261366 h 522732"/>
              <a:gd name="connsiteX3" fmla="*/ 101346 w 202691"/>
              <a:gd name="connsiteY3" fmla="*/ 0 h 522732"/>
              <a:gd name="connsiteX4" fmla="*/ 202692 w 202691"/>
              <a:gd name="connsiteY4" fmla="*/ 261366 h 522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2691" h="522732">
                <a:moveTo>
                  <a:pt x="202692" y="261366"/>
                </a:moveTo>
                <a:cubicBezTo>
                  <a:pt x="202692" y="405714"/>
                  <a:pt x="157318" y="522732"/>
                  <a:pt x="101346" y="522732"/>
                </a:cubicBezTo>
                <a:cubicBezTo>
                  <a:pt x="45375" y="522732"/>
                  <a:pt x="0" y="405714"/>
                  <a:pt x="0" y="261366"/>
                </a:cubicBezTo>
                <a:cubicBezTo>
                  <a:pt x="0" y="117018"/>
                  <a:pt x="45374" y="0"/>
                  <a:pt x="101346" y="0"/>
                </a:cubicBezTo>
                <a:cubicBezTo>
                  <a:pt x="157317" y="0"/>
                  <a:pt x="202692" y="117018"/>
                  <a:pt x="202692" y="261366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24" name="任意形状 23"/>
          <p:cNvSpPr/>
          <p:nvPr/>
        </p:nvSpPr>
        <p:spPr>
          <a:xfrm rot="10800000">
            <a:off x="627887" y="3815461"/>
            <a:ext cx="10280142" cy="7620"/>
          </a:xfrm>
          <a:custGeom>
            <a:avLst/>
            <a:gdLst>
              <a:gd name="connsiteX0" fmla="*/ 10280142 w 10280142"/>
              <a:gd name="connsiteY0" fmla="*/ 0 h 7620"/>
              <a:gd name="connsiteX1" fmla="*/ 0 w 10280142"/>
              <a:gd name="connsiteY1" fmla="*/ 0 h 7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280142" h="7620">
                <a:moveTo>
                  <a:pt x="10280142" y="0"/>
                </a:moveTo>
                <a:lnTo>
                  <a:pt x="0" y="0"/>
                </a:lnTo>
              </a:path>
            </a:pathLst>
          </a:custGeom>
          <a:ln w="19050" cap="flat">
            <a:solidFill>
              <a:schemeClr val="accent1"/>
            </a:solidFill>
            <a:prstDash val="solid"/>
            <a:miter/>
            <a:tailEnd type="triangle"/>
          </a:ln>
        </p:spPr>
        <p:txBody>
          <a:bodyPr rtlCol="0" anchor="ctr"/>
          <a:lstStyle/>
          <a:p>
            <a:endParaRPr lang="zh-CN" altLang="en-US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25" name="任意形状 24"/>
          <p:cNvSpPr/>
          <p:nvPr/>
        </p:nvSpPr>
        <p:spPr>
          <a:xfrm>
            <a:off x="5012436" y="3823081"/>
            <a:ext cx="7620" cy="2323465"/>
          </a:xfrm>
          <a:custGeom>
            <a:avLst/>
            <a:gdLst>
              <a:gd name="connsiteX0" fmla="*/ 0 w 7620"/>
              <a:gd name="connsiteY0" fmla="*/ 1641348 h 1641348"/>
              <a:gd name="connsiteX1" fmla="*/ 0 w 7620"/>
              <a:gd name="connsiteY1" fmla="*/ 0 h 1641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620" h="1641348">
                <a:moveTo>
                  <a:pt x="0" y="1641348"/>
                </a:moveTo>
                <a:lnTo>
                  <a:pt x="0" y="0"/>
                </a:lnTo>
              </a:path>
            </a:pathLst>
          </a:custGeom>
          <a:ln w="15875" cap="flat">
            <a:solidFill>
              <a:schemeClr val="accent1"/>
            </a:solidFill>
            <a:prstDash val="dash"/>
            <a:miter/>
            <a:headEnd type="oval"/>
          </a:ln>
        </p:spPr>
        <p:txBody>
          <a:bodyPr rtlCol="0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26" name="任意形状 25"/>
          <p:cNvSpPr/>
          <p:nvPr/>
        </p:nvSpPr>
        <p:spPr>
          <a:xfrm>
            <a:off x="9497060" y="3814191"/>
            <a:ext cx="7620" cy="2323465"/>
          </a:xfrm>
          <a:custGeom>
            <a:avLst/>
            <a:gdLst>
              <a:gd name="connsiteX0" fmla="*/ 0 w 7620"/>
              <a:gd name="connsiteY0" fmla="*/ 1641348 h 1641348"/>
              <a:gd name="connsiteX1" fmla="*/ 0 w 7620"/>
              <a:gd name="connsiteY1" fmla="*/ 0 h 1641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620" h="1641348">
                <a:moveTo>
                  <a:pt x="0" y="1641348"/>
                </a:moveTo>
                <a:lnTo>
                  <a:pt x="0" y="0"/>
                </a:lnTo>
              </a:path>
            </a:pathLst>
          </a:custGeom>
          <a:ln w="15875" cap="flat">
            <a:solidFill>
              <a:schemeClr val="accent1"/>
            </a:solidFill>
            <a:prstDash val="dash"/>
            <a:miter/>
            <a:headEnd type="oval"/>
          </a:ln>
        </p:spPr>
        <p:txBody>
          <a:bodyPr rtlCol="0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28" name="任意形状 27"/>
          <p:cNvSpPr/>
          <p:nvPr/>
        </p:nvSpPr>
        <p:spPr>
          <a:xfrm rot="10800000">
            <a:off x="5575935" y="1502410"/>
            <a:ext cx="76200" cy="2323465"/>
          </a:xfrm>
          <a:custGeom>
            <a:avLst/>
            <a:gdLst>
              <a:gd name="connsiteX0" fmla="*/ 0 w 7620"/>
              <a:gd name="connsiteY0" fmla="*/ 1640586 h 1640586"/>
              <a:gd name="connsiteX1" fmla="*/ 0 w 7620"/>
              <a:gd name="connsiteY1" fmla="*/ 0 h 1640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620" h="1640586">
                <a:moveTo>
                  <a:pt x="0" y="1640586"/>
                </a:moveTo>
                <a:lnTo>
                  <a:pt x="0" y="0"/>
                </a:lnTo>
              </a:path>
            </a:pathLst>
          </a:custGeom>
          <a:ln w="15875" cap="flat">
            <a:solidFill>
              <a:schemeClr val="accent1"/>
            </a:solidFill>
            <a:prstDash val="dash"/>
            <a:miter/>
            <a:headEnd type="oval"/>
          </a:ln>
        </p:spPr>
        <p:txBody>
          <a:bodyPr rtlCol="0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29" name="任意形状 28"/>
          <p:cNvSpPr/>
          <p:nvPr/>
        </p:nvSpPr>
        <p:spPr>
          <a:xfrm rot="10800000">
            <a:off x="10056368" y="1491996"/>
            <a:ext cx="7620" cy="2323465"/>
          </a:xfrm>
          <a:custGeom>
            <a:avLst/>
            <a:gdLst>
              <a:gd name="connsiteX0" fmla="*/ 0 w 7620"/>
              <a:gd name="connsiteY0" fmla="*/ 1640586 h 1640586"/>
              <a:gd name="connsiteX1" fmla="*/ 0 w 7620"/>
              <a:gd name="connsiteY1" fmla="*/ 0 h 1640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620" h="1640586">
                <a:moveTo>
                  <a:pt x="0" y="1640586"/>
                </a:moveTo>
                <a:lnTo>
                  <a:pt x="0" y="0"/>
                </a:lnTo>
              </a:path>
            </a:pathLst>
          </a:custGeom>
          <a:ln w="15875" cap="flat">
            <a:solidFill>
              <a:schemeClr val="accent1"/>
            </a:solidFill>
            <a:prstDash val="dash"/>
            <a:miter/>
            <a:headEnd type="oval"/>
          </a:ln>
        </p:spPr>
        <p:txBody>
          <a:bodyPr rtlCol="0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31" name="任意形状 30"/>
          <p:cNvSpPr/>
          <p:nvPr/>
        </p:nvSpPr>
        <p:spPr>
          <a:xfrm>
            <a:off x="506730" y="3636390"/>
            <a:ext cx="768096" cy="179070"/>
          </a:xfrm>
          <a:custGeom>
            <a:avLst/>
            <a:gdLst>
              <a:gd name="connsiteX0" fmla="*/ 121158 w 768096"/>
              <a:gd name="connsiteY0" fmla="*/ 179070 h 179070"/>
              <a:gd name="connsiteX1" fmla="*/ 0 w 768096"/>
              <a:gd name="connsiteY1" fmla="*/ 0 h 179070"/>
              <a:gd name="connsiteX2" fmla="*/ 646938 w 768096"/>
              <a:gd name="connsiteY2" fmla="*/ 0 h 179070"/>
              <a:gd name="connsiteX3" fmla="*/ 768096 w 768096"/>
              <a:gd name="connsiteY3" fmla="*/ 179070 h 179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8096" h="179070">
                <a:moveTo>
                  <a:pt x="121158" y="179070"/>
                </a:moveTo>
                <a:lnTo>
                  <a:pt x="0" y="0"/>
                </a:lnTo>
                <a:lnTo>
                  <a:pt x="646938" y="0"/>
                </a:lnTo>
                <a:lnTo>
                  <a:pt x="768096" y="179070"/>
                </a:lnTo>
                <a:close/>
              </a:path>
            </a:pathLst>
          </a:custGeom>
          <a:solidFill>
            <a:schemeClr val="accent1"/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32" name="任意形状 31"/>
          <p:cNvSpPr/>
          <p:nvPr/>
        </p:nvSpPr>
        <p:spPr>
          <a:xfrm>
            <a:off x="506730" y="3815460"/>
            <a:ext cx="768096" cy="179832"/>
          </a:xfrm>
          <a:custGeom>
            <a:avLst/>
            <a:gdLst>
              <a:gd name="connsiteX0" fmla="*/ 646938 w 768096"/>
              <a:gd name="connsiteY0" fmla="*/ 179832 h 179832"/>
              <a:gd name="connsiteX1" fmla="*/ 768096 w 768096"/>
              <a:gd name="connsiteY1" fmla="*/ 0 h 179832"/>
              <a:gd name="connsiteX2" fmla="*/ 121158 w 768096"/>
              <a:gd name="connsiteY2" fmla="*/ 0 h 179832"/>
              <a:gd name="connsiteX3" fmla="*/ 0 w 768096"/>
              <a:gd name="connsiteY3" fmla="*/ 179832 h 179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8096" h="179832">
                <a:moveTo>
                  <a:pt x="646938" y="179832"/>
                </a:moveTo>
                <a:lnTo>
                  <a:pt x="768096" y="0"/>
                </a:lnTo>
                <a:lnTo>
                  <a:pt x="121158" y="0"/>
                </a:lnTo>
                <a:lnTo>
                  <a:pt x="0" y="179832"/>
                </a:lnTo>
                <a:close/>
              </a:path>
            </a:pathLst>
          </a:custGeom>
          <a:solidFill>
            <a:schemeClr val="accent2"/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33" name="任意形状 32"/>
          <p:cNvSpPr/>
          <p:nvPr/>
        </p:nvSpPr>
        <p:spPr>
          <a:xfrm>
            <a:off x="506730" y="2174875"/>
            <a:ext cx="581406" cy="581406"/>
          </a:xfrm>
          <a:custGeom>
            <a:avLst/>
            <a:gdLst>
              <a:gd name="connsiteX0" fmla="*/ 467106 w 581406"/>
              <a:gd name="connsiteY0" fmla="*/ 581406 h 581406"/>
              <a:gd name="connsiteX1" fmla="*/ 114300 w 581406"/>
              <a:gd name="connsiteY1" fmla="*/ 581406 h 581406"/>
              <a:gd name="connsiteX2" fmla="*/ 0 w 581406"/>
              <a:gd name="connsiteY2" fmla="*/ 467106 h 581406"/>
              <a:gd name="connsiteX3" fmla="*/ 0 w 581406"/>
              <a:gd name="connsiteY3" fmla="*/ 114300 h 581406"/>
              <a:gd name="connsiteX4" fmla="*/ 114300 w 581406"/>
              <a:gd name="connsiteY4" fmla="*/ 0 h 581406"/>
              <a:gd name="connsiteX5" fmla="*/ 467106 w 581406"/>
              <a:gd name="connsiteY5" fmla="*/ 0 h 581406"/>
              <a:gd name="connsiteX6" fmla="*/ 581406 w 581406"/>
              <a:gd name="connsiteY6" fmla="*/ 114300 h 581406"/>
              <a:gd name="connsiteX7" fmla="*/ 581406 w 581406"/>
              <a:gd name="connsiteY7" fmla="*/ 467106 h 581406"/>
              <a:gd name="connsiteX8" fmla="*/ 467106 w 581406"/>
              <a:gd name="connsiteY8" fmla="*/ 581406 h 5814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81406" h="581406">
                <a:moveTo>
                  <a:pt x="467106" y="581406"/>
                </a:moveTo>
                <a:lnTo>
                  <a:pt x="114300" y="581406"/>
                </a:lnTo>
                <a:cubicBezTo>
                  <a:pt x="51054" y="581406"/>
                  <a:pt x="0" y="530352"/>
                  <a:pt x="0" y="467106"/>
                </a:cubicBezTo>
                <a:lnTo>
                  <a:pt x="0" y="114300"/>
                </a:lnTo>
                <a:cubicBezTo>
                  <a:pt x="0" y="51054"/>
                  <a:pt x="51054" y="0"/>
                  <a:pt x="114300" y="0"/>
                </a:cubicBezTo>
                <a:lnTo>
                  <a:pt x="467106" y="0"/>
                </a:lnTo>
                <a:cubicBezTo>
                  <a:pt x="530352" y="0"/>
                  <a:pt x="581406" y="51054"/>
                  <a:pt x="581406" y="114300"/>
                </a:cubicBezTo>
                <a:lnTo>
                  <a:pt x="581406" y="467106"/>
                </a:lnTo>
                <a:cubicBezTo>
                  <a:pt x="581406" y="529590"/>
                  <a:pt x="529590" y="581406"/>
                  <a:pt x="467106" y="581406"/>
                </a:cubicBezTo>
                <a:close/>
              </a:path>
            </a:pathLst>
          </a:custGeom>
          <a:solidFill>
            <a:schemeClr val="accent1"/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5737860" y="1847215"/>
            <a:ext cx="4315460" cy="14224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171450" indent="-171450" algn="just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短期：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集中资源攻克</a:t>
            </a:r>
            <a:r>
              <a:rPr lang="zh-CN" altLang="en-US" sz="1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关键市场准入资质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，大力推动自主创新成果</a:t>
            </a:r>
            <a:r>
              <a:rPr lang="en-US" altLang="zh-CN" sz="1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sz="1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首台套、首批次、首版次</a:t>
            </a:r>
            <a:r>
              <a:rPr lang="en-US" altLang="zh-CN" sz="1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应用</a:t>
            </a:r>
            <a:endPara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171450" indent="-171450" algn="just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中长期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r>
              <a:rPr lang="zh-CN" altLang="en-US" sz="1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建设高水平国家级、省级创新平台与共享中试实证平台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；提升数字化研发能力，构建协同研发平台与知识管理系统</a:t>
            </a:r>
            <a:endParaRPr lang="zh-CN" altLang="en-US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5154003" y="4319212"/>
            <a:ext cx="4208145" cy="1383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171450" indent="-171450" algn="just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建立</a:t>
            </a:r>
            <a:r>
              <a:rPr lang="zh-CN" altLang="en-US" sz="1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科技创新尽职免责相关制度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，分类明确尽职免责界限、认定条件与流程</a:t>
            </a:r>
            <a:endParaRPr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71450" indent="-171450" algn="just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完善</a:t>
            </a:r>
            <a:r>
              <a:rPr lang="zh-CN" altLang="en-US" sz="1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复盘与经验转化机制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，将个案教训转化为组织共识</a:t>
            </a:r>
            <a:endParaRPr lang="zh-CN" altLang="en-US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  <a:sym typeface="+mn-ea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685165" y="4319905"/>
            <a:ext cx="4208145" cy="154495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marL="171450" indent="-171450" algn="just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围绕战略必争、优势领跑、未来前沿三大核心技术赛道，</a:t>
            </a:r>
            <a:r>
              <a:rPr lang="zh-CN" altLang="en-US" sz="1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开展知识产权高地前瞻性布局，构建高价值专利组合</a:t>
            </a:r>
            <a:endParaRPr lang="zh-CN" altLang="en-US" sz="1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71450" indent="-171450" algn="just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建立知识产权</a:t>
            </a:r>
            <a:r>
              <a:rPr lang="zh-CN" altLang="en-US" sz="1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创造、保护、运用全周期治理体系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，将知识产权管理深度融入研发与产业规划前端</a:t>
            </a:r>
            <a:endParaRPr lang="zh-CN" altLang="en-US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  <a:sym typeface="+mn-ea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2825115" y="1478915"/>
            <a:ext cx="298450" cy="298450"/>
            <a:chOff x="4843" y="2852"/>
            <a:chExt cx="470" cy="470"/>
          </a:xfrm>
          <a:solidFill>
            <a:schemeClr val="accent1"/>
          </a:solidFill>
        </p:grpSpPr>
        <p:sp>
          <p:nvSpPr>
            <p:cNvPr id="30" name="椭圆 29"/>
            <p:cNvSpPr/>
            <p:nvPr/>
          </p:nvSpPr>
          <p:spPr>
            <a:xfrm>
              <a:off x="4843" y="2852"/>
              <a:ext cx="470" cy="470"/>
            </a:xfrm>
            <a:prstGeom prst="ellipse">
              <a:avLst/>
            </a:prstGeom>
            <a:grpFill/>
            <a:ln w="762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endParaRPr>
            </a:p>
          </p:txBody>
        </p:sp>
        <p:sp>
          <p:nvSpPr>
            <p:cNvPr id="17" name="任意形状 16"/>
            <p:cNvSpPr/>
            <p:nvPr/>
          </p:nvSpPr>
          <p:spPr>
            <a:xfrm>
              <a:off x="4981" y="3024"/>
              <a:ext cx="206" cy="127"/>
            </a:xfrm>
            <a:custGeom>
              <a:avLst/>
              <a:gdLst>
                <a:gd name="connsiteX0" fmla="*/ 131064 w 131063"/>
                <a:gd name="connsiteY0" fmla="*/ 0 h 80771"/>
                <a:gd name="connsiteX1" fmla="*/ 53340 w 131063"/>
                <a:gd name="connsiteY1" fmla="*/ 80772 h 80771"/>
                <a:gd name="connsiteX2" fmla="*/ 0 w 131063"/>
                <a:gd name="connsiteY2" fmla="*/ 33528 h 80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1063" h="80771">
                  <a:moveTo>
                    <a:pt x="131064" y="0"/>
                  </a:moveTo>
                  <a:lnTo>
                    <a:pt x="53340" y="80772"/>
                  </a:lnTo>
                  <a:lnTo>
                    <a:pt x="0" y="33528"/>
                  </a:lnTo>
                </a:path>
              </a:pathLst>
            </a:custGeom>
            <a:grpFill/>
            <a:ln w="317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7061200" y="1502410"/>
            <a:ext cx="298450" cy="298450"/>
            <a:chOff x="9706" y="2852"/>
            <a:chExt cx="470" cy="470"/>
          </a:xfrm>
        </p:grpSpPr>
        <p:sp>
          <p:nvSpPr>
            <p:cNvPr id="36" name="椭圆 35"/>
            <p:cNvSpPr/>
            <p:nvPr/>
          </p:nvSpPr>
          <p:spPr>
            <a:xfrm>
              <a:off x="9706" y="2852"/>
              <a:ext cx="470" cy="470"/>
            </a:xfrm>
            <a:prstGeom prst="ellipse">
              <a:avLst/>
            </a:prstGeom>
            <a:solidFill>
              <a:schemeClr val="accent1"/>
            </a:solidFill>
            <a:ln w="762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endParaRPr>
            </a:p>
          </p:txBody>
        </p:sp>
        <p:sp>
          <p:nvSpPr>
            <p:cNvPr id="47" name="任意形状 46"/>
            <p:cNvSpPr/>
            <p:nvPr/>
          </p:nvSpPr>
          <p:spPr>
            <a:xfrm>
              <a:off x="9849" y="3024"/>
              <a:ext cx="206" cy="127"/>
            </a:xfrm>
            <a:custGeom>
              <a:avLst/>
              <a:gdLst>
                <a:gd name="connsiteX0" fmla="*/ 131064 w 131063"/>
                <a:gd name="connsiteY0" fmla="*/ 0 h 80771"/>
                <a:gd name="connsiteX1" fmla="*/ 53340 w 131063"/>
                <a:gd name="connsiteY1" fmla="*/ 80772 h 80771"/>
                <a:gd name="connsiteX2" fmla="*/ 0 w 131063"/>
                <a:gd name="connsiteY2" fmla="*/ 33528 h 80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1063" h="80771">
                  <a:moveTo>
                    <a:pt x="131064" y="0"/>
                  </a:moveTo>
                  <a:lnTo>
                    <a:pt x="53340" y="80772"/>
                  </a:lnTo>
                  <a:lnTo>
                    <a:pt x="0" y="33528"/>
                  </a:lnTo>
                </a:path>
              </a:pathLst>
            </a:custGeom>
            <a:solidFill>
              <a:schemeClr val="accent1"/>
            </a:solidFill>
            <a:ln w="317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2011680" y="3986530"/>
            <a:ext cx="298450" cy="298450"/>
            <a:chOff x="4584" y="6147"/>
            <a:chExt cx="470" cy="470"/>
          </a:xfrm>
        </p:grpSpPr>
        <p:sp>
          <p:nvSpPr>
            <p:cNvPr id="45" name="椭圆 44"/>
            <p:cNvSpPr/>
            <p:nvPr/>
          </p:nvSpPr>
          <p:spPr>
            <a:xfrm>
              <a:off x="4584" y="6147"/>
              <a:ext cx="470" cy="470"/>
            </a:xfrm>
            <a:prstGeom prst="ellipse">
              <a:avLst/>
            </a:prstGeom>
            <a:solidFill>
              <a:schemeClr val="accent1"/>
            </a:solidFill>
            <a:ln w="762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endParaRPr>
            </a:p>
          </p:txBody>
        </p:sp>
        <p:sp>
          <p:nvSpPr>
            <p:cNvPr id="50" name="任意形状 49"/>
            <p:cNvSpPr/>
            <p:nvPr/>
          </p:nvSpPr>
          <p:spPr>
            <a:xfrm>
              <a:off x="4713" y="6313"/>
              <a:ext cx="206" cy="127"/>
            </a:xfrm>
            <a:custGeom>
              <a:avLst/>
              <a:gdLst>
                <a:gd name="connsiteX0" fmla="*/ 131064 w 131063"/>
                <a:gd name="connsiteY0" fmla="*/ 0 h 80771"/>
                <a:gd name="connsiteX1" fmla="*/ 53340 w 131063"/>
                <a:gd name="connsiteY1" fmla="*/ 80772 h 80771"/>
                <a:gd name="connsiteX2" fmla="*/ 0 w 131063"/>
                <a:gd name="connsiteY2" fmla="*/ 33528 h 80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1063" h="80771">
                  <a:moveTo>
                    <a:pt x="131064" y="0"/>
                  </a:moveTo>
                  <a:lnTo>
                    <a:pt x="53340" y="80772"/>
                  </a:lnTo>
                  <a:lnTo>
                    <a:pt x="0" y="33528"/>
                  </a:lnTo>
                </a:path>
              </a:pathLst>
            </a:custGeom>
            <a:solidFill>
              <a:schemeClr val="accent1"/>
            </a:solidFill>
            <a:ln w="317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6436995" y="3992880"/>
            <a:ext cx="298450" cy="298450"/>
            <a:chOff x="11193" y="5954"/>
            <a:chExt cx="470" cy="470"/>
          </a:xfrm>
        </p:grpSpPr>
        <p:sp>
          <p:nvSpPr>
            <p:cNvPr id="42" name="椭圆 41"/>
            <p:cNvSpPr/>
            <p:nvPr/>
          </p:nvSpPr>
          <p:spPr>
            <a:xfrm>
              <a:off x="11193" y="5954"/>
              <a:ext cx="470" cy="470"/>
            </a:xfrm>
            <a:prstGeom prst="ellipse">
              <a:avLst/>
            </a:prstGeom>
            <a:solidFill>
              <a:schemeClr val="accent1"/>
            </a:solidFill>
            <a:ln w="762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endParaRPr>
            </a:p>
          </p:txBody>
        </p:sp>
        <p:sp>
          <p:nvSpPr>
            <p:cNvPr id="53" name="任意形状 52"/>
            <p:cNvSpPr/>
            <p:nvPr/>
          </p:nvSpPr>
          <p:spPr>
            <a:xfrm>
              <a:off x="11331" y="6120"/>
              <a:ext cx="206" cy="127"/>
            </a:xfrm>
            <a:custGeom>
              <a:avLst/>
              <a:gdLst>
                <a:gd name="connsiteX0" fmla="*/ 131064 w 131063"/>
                <a:gd name="connsiteY0" fmla="*/ 0 h 80771"/>
                <a:gd name="connsiteX1" fmla="*/ 53340 w 131063"/>
                <a:gd name="connsiteY1" fmla="*/ 80772 h 80771"/>
                <a:gd name="connsiteX2" fmla="*/ 0 w 131063"/>
                <a:gd name="connsiteY2" fmla="*/ 33528 h 80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1063" h="80771">
                  <a:moveTo>
                    <a:pt x="131064" y="0"/>
                  </a:moveTo>
                  <a:lnTo>
                    <a:pt x="53340" y="80772"/>
                  </a:lnTo>
                  <a:lnTo>
                    <a:pt x="0" y="33528"/>
                  </a:lnTo>
                </a:path>
              </a:pathLst>
            </a:custGeom>
            <a:solidFill>
              <a:schemeClr val="accent1"/>
            </a:solidFill>
            <a:ln w="317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4" name="文本框 33"/>
          <p:cNvSpPr txBox="1"/>
          <p:nvPr/>
        </p:nvSpPr>
        <p:spPr>
          <a:xfrm>
            <a:off x="3161030" y="1468895"/>
            <a:ext cx="9956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zh-CN" altLang="en-US" sz="1600" b="1" dirty="0">
                <a:solidFill>
                  <a:schemeClr val="tx1"/>
                </a:solidFill>
                <a:cs typeface="+mn-ea"/>
                <a:sym typeface="+mn-lt"/>
              </a:rPr>
              <a:t>资金保障</a:t>
            </a:r>
            <a:endParaRPr kumimoji="1"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7397750" y="1486675"/>
            <a:ext cx="9956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zh-CN" altLang="en-US" sz="1600" b="1" dirty="0">
                <a:solidFill>
                  <a:schemeClr val="tx1"/>
                </a:solidFill>
                <a:cs typeface="+mn-ea"/>
                <a:sym typeface="+mn-lt"/>
              </a:rPr>
              <a:t>能力保障</a:t>
            </a:r>
            <a:endParaRPr kumimoji="1"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2380615" y="3970082"/>
            <a:ext cx="14020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zh-CN" altLang="en-US" sz="1600" b="1" dirty="0">
                <a:solidFill>
                  <a:schemeClr val="tx1"/>
                </a:solidFill>
                <a:cs typeface="+mn-ea"/>
                <a:sym typeface="+mn-lt"/>
              </a:rPr>
              <a:t>知识产权保障</a:t>
            </a:r>
            <a:endParaRPr kumimoji="1"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6760236" y="3970082"/>
            <a:ext cx="9956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zh-CN" altLang="en-US" sz="1600" b="1" dirty="0">
                <a:solidFill>
                  <a:schemeClr val="tx1"/>
                </a:solidFill>
                <a:cs typeface="+mn-ea"/>
                <a:sym typeface="+mn-lt"/>
              </a:rPr>
              <a:t>文化保障</a:t>
            </a:r>
            <a:endParaRPr kumimoji="1"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79" name="Google Shape;9551;p77"/>
          <p:cNvGrpSpPr>
            <a:grpSpLocks noChangeAspect="1"/>
          </p:cNvGrpSpPr>
          <p:nvPr/>
        </p:nvGrpSpPr>
        <p:grpSpPr>
          <a:xfrm>
            <a:off x="616410" y="2285826"/>
            <a:ext cx="362047" cy="359505"/>
            <a:chOff x="-63250675" y="3744075"/>
            <a:chExt cx="320350" cy="318100"/>
          </a:xfrm>
          <a:solidFill>
            <a:schemeClr val="bg1"/>
          </a:solidFill>
        </p:grpSpPr>
        <p:sp>
          <p:nvSpPr>
            <p:cNvPr id="80" name="Google Shape;9552;p77"/>
            <p:cNvSpPr/>
            <p:nvPr/>
          </p:nvSpPr>
          <p:spPr>
            <a:xfrm>
              <a:off x="-63126250" y="3744075"/>
              <a:ext cx="195925" cy="192875"/>
            </a:xfrm>
            <a:custGeom>
              <a:avLst/>
              <a:gdLst/>
              <a:ahLst/>
              <a:cxnLst/>
              <a:rect l="l" t="t" r="r" b="b"/>
              <a:pathLst>
                <a:path w="7837" h="7715" extrusionOk="0">
                  <a:moveTo>
                    <a:pt x="6020" y="0"/>
                  </a:moveTo>
                  <a:cubicBezTo>
                    <a:pt x="5921" y="0"/>
                    <a:pt x="5820" y="37"/>
                    <a:pt x="5735" y="122"/>
                  </a:cubicBezTo>
                  <a:lnTo>
                    <a:pt x="4097" y="1760"/>
                  </a:lnTo>
                  <a:cubicBezTo>
                    <a:pt x="4034" y="1854"/>
                    <a:pt x="3971" y="1917"/>
                    <a:pt x="3971" y="2012"/>
                  </a:cubicBezTo>
                  <a:lnTo>
                    <a:pt x="3782" y="3304"/>
                  </a:lnTo>
                  <a:lnTo>
                    <a:pt x="1734" y="5351"/>
                  </a:lnTo>
                  <a:cubicBezTo>
                    <a:pt x="1576" y="5288"/>
                    <a:pt x="1387" y="5225"/>
                    <a:pt x="1230" y="5225"/>
                  </a:cubicBezTo>
                  <a:cubicBezTo>
                    <a:pt x="537" y="5225"/>
                    <a:pt x="1" y="5793"/>
                    <a:pt x="1" y="6486"/>
                  </a:cubicBezTo>
                  <a:cubicBezTo>
                    <a:pt x="1" y="7210"/>
                    <a:pt x="537" y="7714"/>
                    <a:pt x="1230" y="7714"/>
                  </a:cubicBezTo>
                  <a:cubicBezTo>
                    <a:pt x="1891" y="7714"/>
                    <a:pt x="2458" y="7179"/>
                    <a:pt x="2458" y="6486"/>
                  </a:cubicBezTo>
                  <a:cubicBezTo>
                    <a:pt x="2458" y="6297"/>
                    <a:pt x="2395" y="6139"/>
                    <a:pt x="2332" y="5982"/>
                  </a:cubicBezTo>
                  <a:lnTo>
                    <a:pt x="4380" y="3934"/>
                  </a:lnTo>
                  <a:lnTo>
                    <a:pt x="5672" y="3745"/>
                  </a:lnTo>
                  <a:cubicBezTo>
                    <a:pt x="5735" y="3745"/>
                    <a:pt x="5829" y="3713"/>
                    <a:pt x="5924" y="3619"/>
                  </a:cubicBezTo>
                  <a:lnTo>
                    <a:pt x="7562" y="1980"/>
                  </a:lnTo>
                  <a:cubicBezTo>
                    <a:pt x="7837" y="1706"/>
                    <a:pt x="7609" y="1254"/>
                    <a:pt x="7251" y="1254"/>
                  </a:cubicBezTo>
                  <a:cubicBezTo>
                    <a:pt x="7240" y="1254"/>
                    <a:pt x="7228" y="1255"/>
                    <a:pt x="7216" y="1256"/>
                  </a:cubicBezTo>
                  <a:lnTo>
                    <a:pt x="6302" y="1382"/>
                  </a:lnTo>
                  <a:lnTo>
                    <a:pt x="6428" y="468"/>
                  </a:lnTo>
                  <a:cubicBezTo>
                    <a:pt x="6472" y="203"/>
                    <a:pt x="6253" y="0"/>
                    <a:pt x="60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1" name="Google Shape;9553;p77"/>
            <p:cNvSpPr/>
            <p:nvPr/>
          </p:nvSpPr>
          <p:spPr>
            <a:xfrm>
              <a:off x="-63190025" y="3814050"/>
              <a:ext cx="186675" cy="185900"/>
            </a:xfrm>
            <a:custGeom>
              <a:avLst/>
              <a:gdLst/>
              <a:ahLst/>
              <a:cxnLst/>
              <a:rect l="l" t="t" r="r" b="b"/>
              <a:pathLst>
                <a:path w="7467" h="7436" extrusionOk="0">
                  <a:moveTo>
                    <a:pt x="3718" y="1"/>
                  </a:moveTo>
                  <a:cubicBezTo>
                    <a:pt x="1670" y="1"/>
                    <a:pt x="0" y="1670"/>
                    <a:pt x="0" y="3750"/>
                  </a:cubicBezTo>
                  <a:cubicBezTo>
                    <a:pt x="0" y="5797"/>
                    <a:pt x="1638" y="7436"/>
                    <a:pt x="3718" y="7436"/>
                  </a:cubicBezTo>
                  <a:cubicBezTo>
                    <a:pt x="5765" y="7436"/>
                    <a:pt x="7467" y="5797"/>
                    <a:pt x="7467" y="3750"/>
                  </a:cubicBezTo>
                  <a:cubicBezTo>
                    <a:pt x="7467" y="3151"/>
                    <a:pt x="7341" y="2647"/>
                    <a:pt x="7120" y="2143"/>
                  </a:cubicBezTo>
                  <a:lnTo>
                    <a:pt x="5828" y="3435"/>
                  </a:lnTo>
                  <a:cubicBezTo>
                    <a:pt x="5828" y="3498"/>
                    <a:pt x="5860" y="3624"/>
                    <a:pt x="5860" y="3718"/>
                  </a:cubicBezTo>
                  <a:cubicBezTo>
                    <a:pt x="5860" y="4852"/>
                    <a:pt x="4915" y="5797"/>
                    <a:pt x="3781" y="5797"/>
                  </a:cubicBezTo>
                  <a:cubicBezTo>
                    <a:pt x="2615" y="5797"/>
                    <a:pt x="1670" y="4852"/>
                    <a:pt x="1670" y="3718"/>
                  </a:cubicBezTo>
                  <a:cubicBezTo>
                    <a:pt x="1733" y="2552"/>
                    <a:pt x="2615" y="1607"/>
                    <a:pt x="3781" y="1607"/>
                  </a:cubicBezTo>
                  <a:cubicBezTo>
                    <a:pt x="3875" y="1607"/>
                    <a:pt x="3970" y="1607"/>
                    <a:pt x="4033" y="1670"/>
                  </a:cubicBezTo>
                  <a:lnTo>
                    <a:pt x="5356" y="347"/>
                  </a:lnTo>
                  <a:cubicBezTo>
                    <a:pt x="4883" y="127"/>
                    <a:pt x="4316" y="1"/>
                    <a:pt x="371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2" name="Google Shape;9554;p77"/>
            <p:cNvSpPr/>
            <p:nvPr/>
          </p:nvSpPr>
          <p:spPr>
            <a:xfrm>
              <a:off x="-63250675" y="3751050"/>
              <a:ext cx="311125" cy="311125"/>
            </a:xfrm>
            <a:custGeom>
              <a:avLst/>
              <a:gdLst/>
              <a:ahLst/>
              <a:cxnLst/>
              <a:rect l="l" t="t" r="r" b="b"/>
              <a:pathLst>
                <a:path w="12445" h="12445" extrusionOk="0">
                  <a:moveTo>
                    <a:pt x="6270" y="0"/>
                  </a:moveTo>
                  <a:cubicBezTo>
                    <a:pt x="2773" y="0"/>
                    <a:pt x="0" y="2804"/>
                    <a:pt x="0" y="6238"/>
                  </a:cubicBezTo>
                  <a:cubicBezTo>
                    <a:pt x="0" y="9641"/>
                    <a:pt x="2804" y="12445"/>
                    <a:pt x="6238" y="12445"/>
                  </a:cubicBezTo>
                  <a:cubicBezTo>
                    <a:pt x="9672" y="12445"/>
                    <a:pt x="12445" y="9641"/>
                    <a:pt x="12445" y="6238"/>
                  </a:cubicBezTo>
                  <a:cubicBezTo>
                    <a:pt x="12445" y="5325"/>
                    <a:pt x="12256" y="4411"/>
                    <a:pt x="11878" y="3592"/>
                  </a:cubicBezTo>
                  <a:lnTo>
                    <a:pt x="11563" y="3907"/>
                  </a:lnTo>
                  <a:cubicBezTo>
                    <a:pt x="11342" y="4096"/>
                    <a:pt x="11121" y="4222"/>
                    <a:pt x="10838" y="4253"/>
                  </a:cubicBezTo>
                  <a:lnTo>
                    <a:pt x="10397" y="4348"/>
                  </a:lnTo>
                  <a:cubicBezTo>
                    <a:pt x="10680" y="4915"/>
                    <a:pt x="10806" y="5545"/>
                    <a:pt x="10806" y="6238"/>
                  </a:cubicBezTo>
                  <a:cubicBezTo>
                    <a:pt x="10806" y="8759"/>
                    <a:pt x="8759" y="10743"/>
                    <a:pt x="6270" y="10743"/>
                  </a:cubicBezTo>
                  <a:cubicBezTo>
                    <a:pt x="3781" y="10743"/>
                    <a:pt x="1733" y="8696"/>
                    <a:pt x="1733" y="6238"/>
                  </a:cubicBezTo>
                  <a:cubicBezTo>
                    <a:pt x="1733" y="3718"/>
                    <a:pt x="3781" y="1670"/>
                    <a:pt x="6270" y="1670"/>
                  </a:cubicBezTo>
                  <a:cubicBezTo>
                    <a:pt x="6931" y="1670"/>
                    <a:pt x="7561" y="1796"/>
                    <a:pt x="8160" y="2048"/>
                  </a:cubicBezTo>
                  <a:lnTo>
                    <a:pt x="8254" y="1607"/>
                  </a:lnTo>
                  <a:cubicBezTo>
                    <a:pt x="8286" y="1355"/>
                    <a:pt x="8412" y="1103"/>
                    <a:pt x="8601" y="914"/>
                  </a:cubicBezTo>
                  <a:lnTo>
                    <a:pt x="8916" y="599"/>
                  </a:lnTo>
                  <a:cubicBezTo>
                    <a:pt x="8097" y="189"/>
                    <a:pt x="7215" y="0"/>
                    <a:pt x="62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îṧľíḍe"/>
          <p:cNvSpPr/>
          <p:nvPr/>
        </p:nvSpPr>
        <p:spPr>
          <a:xfrm>
            <a:off x="1402715" y="1847215"/>
            <a:ext cx="4086860" cy="1422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kumimoji="1" lang="zh-CN" altLang="en-US" sz="1400" dirty="0">
                <a:solidFill>
                  <a:schemeClr val="tx1"/>
                </a:solidFill>
              </a:rPr>
              <a:t>统筹设立科技创新</a:t>
            </a:r>
            <a:r>
              <a:rPr kumimoji="1" lang="zh-CN" altLang="en-US" sz="1400" b="1" dirty="0">
                <a:solidFill>
                  <a:schemeClr val="accent1"/>
                </a:solidFill>
              </a:rPr>
              <a:t>专项资金池</a:t>
            </a:r>
            <a:r>
              <a:rPr kumimoji="1" lang="zh-CN" altLang="en-US" sz="1400" dirty="0">
                <a:solidFill>
                  <a:schemeClr val="tx1"/>
                </a:solidFill>
              </a:rPr>
              <a:t>，重点保障核心技术攻关、基础研究与前沿技术探索、中试熟化与成果转化</a:t>
            </a:r>
            <a:endParaRPr kumimoji="1" lang="zh-CN" altLang="en-US" sz="1400" dirty="0">
              <a:solidFill>
                <a:schemeClr val="tx1"/>
              </a:solidFill>
            </a:endParaRP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kumimoji="1" lang="zh-CN" altLang="en-US" sz="1400" dirty="0">
                <a:solidFill>
                  <a:schemeClr val="tx1"/>
                </a:solidFill>
              </a:rPr>
              <a:t>建立基于项目类型的</a:t>
            </a:r>
            <a:r>
              <a:rPr kumimoji="1" lang="zh-CN" altLang="en-US" sz="1400" b="1" dirty="0">
                <a:solidFill>
                  <a:schemeClr val="accent1"/>
                </a:solidFill>
              </a:rPr>
              <a:t>差异化授权审批机制</a:t>
            </a:r>
            <a:r>
              <a:rPr kumimoji="1" lang="zh-CN" altLang="en-US" sz="1400" dirty="0">
                <a:solidFill>
                  <a:schemeClr val="tx1"/>
                </a:solidFill>
              </a:rPr>
              <a:t>，简化市场响应时限要求高的项目审批流程</a:t>
            </a:r>
            <a:endParaRPr kumimoji="1" lang="zh-CN" altLang="en-US" sz="1400" dirty="0">
              <a:solidFill>
                <a:schemeClr val="tx1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7240905" y="0"/>
            <a:ext cx="4952365" cy="259080"/>
            <a:chOff x="11403" y="0"/>
            <a:chExt cx="7799" cy="408"/>
          </a:xfrm>
        </p:grpSpPr>
        <p:sp>
          <p:nvSpPr>
            <p:cNvPr id="4" name="矩形 3"/>
            <p:cNvSpPr/>
            <p:nvPr/>
          </p:nvSpPr>
          <p:spPr>
            <a:xfrm>
              <a:off x="11403" y="0"/>
              <a:ext cx="1540" cy="408"/>
            </a:xfrm>
            <a:prstGeom prst="rect">
              <a:avLst/>
            </a:prstGeom>
            <a:solidFill>
              <a:schemeClr val="accent6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规划背景</a:t>
              </a:r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12969" y="0"/>
              <a:ext cx="1540" cy="408"/>
            </a:xfrm>
            <a:prstGeom prst="rect">
              <a:avLst/>
            </a:prstGeom>
            <a:solidFill>
              <a:schemeClr val="accent6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顶层</a:t>
              </a: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设计</a:t>
              </a:r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14534" y="0"/>
              <a:ext cx="1540" cy="408"/>
            </a:xfrm>
            <a:prstGeom prst="rect">
              <a:avLst/>
            </a:prstGeom>
            <a:solidFill>
              <a:schemeClr val="accent6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重点任务</a:t>
              </a:r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6099" y="0"/>
              <a:ext cx="1538" cy="40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保障机制</a:t>
              </a:r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17662" y="0"/>
              <a:ext cx="1540" cy="408"/>
            </a:xfrm>
            <a:prstGeom prst="rect">
              <a:avLst/>
            </a:prstGeom>
            <a:solidFill>
              <a:schemeClr val="accent6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实施路径</a:t>
              </a:r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</a:fld>
            <a:endParaRPr lang="en-US" altLang="zh-CN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0399" y="89535"/>
            <a:ext cx="10858500" cy="102870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实施路径 | 建立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战略规划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目标分解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计划执行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评估调整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全周期科技创新战略闭环管理体系</a:t>
            </a:r>
            <a:endParaRPr lang="zh-CN" altLang="en-US" sz="2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8" name="文本占位符 9"/>
          <p:cNvSpPr>
            <a:spLocks noGrp="1"/>
          </p:cNvSpPr>
          <p:nvPr/>
        </p:nvSpPr>
        <p:spPr>
          <a:xfrm>
            <a:off x="566420" y="1118235"/>
            <a:ext cx="11264900" cy="838200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noAutofit/>
          </a:bodyPr>
          <a:lstStyle>
            <a:lvl1pPr marL="0" indent="0" algn="just" defTabSz="914400" rtl="0" eaLnBrk="1" latinLnBrk="0" hangingPunct="1">
              <a:lnSpc>
                <a:spcPct val="120000"/>
              </a:lnSpc>
              <a:spcBef>
                <a:spcPts val="0"/>
              </a:spcBef>
              <a:buFontTx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战略引领、闭环管理、动态优化" 为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核心原则，构建全周期科技创新战略闭环管理体系，实现规划制定、目标分解、执行管控与评估调整的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PDCA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循环，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确保科技创新规划可落地、可执行、可考核。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1244600" y="1863725"/>
            <a:ext cx="1146175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400" b="1" dirty="0">
                <a:solidFill>
                  <a:schemeClr val="accent1"/>
                </a:solidFill>
                <a:latin typeface="+mn-ea"/>
              </a:rPr>
              <a:t>总体框架图</a:t>
            </a:r>
            <a:endParaRPr lang="zh-CN" altLang="en-US" sz="1400" b="1" dirty="0">
              <a:solidFill>
                <a:schemeClr val="accent1"/>
              </a:solidFill>
              <a:latin typeface="+mn-ea"/>
            </a:endParaRPr>
          </a:p>
        </p:txBody>
      </p:sp>
      <p:cxnSp>
        <p:nvCxnSpPr>
          <p:cNvPr id="69" name="直接连接符 68"/>
          <p:cNvCxnSpPr/>
          <p:nvPr/>
        </p:nvCxnSpPr>
        <p:spPr>
          <a:xfrm flipV="1">
            <a:off x="1127125" y="2234565"/>
            <a:ext cx="2204085" cy="1016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27" name="组合 126"/>
          <p:cNvGrpSpPr/>
          <p:nvPr/>
        </p:nvGrpSpPr>
        <p:grpSpPr>
          <a:xfrm>
            <a:off x="-56515" y="2684780"/>
            <a:ext cx="3329305" cy="3114675"/>
            <a:chOff x="-89" y="3793"/>
            <a:chExt cx="5243" cy="4905"/>
          </a:xfrm>
        </p:grpSpPr>
        <p:sp>
          <p:nvSpPr>
            <p:cNvPr id="71" name="矩形 70"/>
            <p:cNvSpPr/>
            <p:nvPr/>
          </p:nvSpPr>
          <p:spPr>
            <a:xfrm>
              <a:off x="1960" y="3793"/>
              <a:ext cx="2762" cy="696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科技创新规划</a:t>
              </a:r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2" name="矩形 71"/>
            <p:cNvSpPr/>
            <p:nvPr/>
          </p:nvSpPr>
          <p:spPr>
            <a:xfrm>
              <a:off x="1960" y="4997"/>
              <a:ext cx="2762" cy="696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年度管理目标</a:t>
              </a:r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3" name="矩形 72"/>
            <p:cNvSpPr/>
            <p:nvPr/>
          </p:nvSpPr>
          <p:spPr>
            <a:xfrm>
              <a:off x="1402" y="6337"/>
              <a:ext cx="1623" cy="89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综合计划</a:t>
              </a:r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4" name="矩形 73"/>
            <p:cNvSpPr/>
            <p:nvPr/>
          </p:nvSpPr>
          <p:spPr>
            <a:xfrm>
              <a:off x="3452" y="6337"/>
              <a:ext cx="1623" cy="85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绩效计划</a:t>
              </a:r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5" name="矩形 74"/>
            <p:cNvSpPr/>
            <p:nvPr/>
          </p:nvSpPr>
          <p:spPr>
            <a:xfrm>
              <a:off x="1402" y="7760"/>
              <a:ext cx="1624" cy="926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战略评价</a:t>
              </a:r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6" name="矩形 75"/>
            <p:cNvSpPr/>
            <p:nvPr/>
          </p:nvSpPr>
          <p:spPr>
            <a:xfrm>
              <a:off x="3452" y="7756"/>
              <a:ext cx="1613" cy="91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绩效评价</a:t>
              </a:r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77" name="直接箭头连接符 76"/>
            <p:cNvCxnSpPr>
              <a:stCxn id="71" idx="2"/>
              <a:endCxn id="72" idx="0"/>
            </p:cNvCxnSpPr>
            <p:nvPr/>
          </p:nvCxnSpPr>
          <p:spPr>
            <a:xfrm>
              <a:off x="3341" y="4489"/>
              <a:ext cx="0" cy="508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8" name="肘形连接符 77"/>
            <p:cNvCxnSpPr>
              <a:stCxn id="72" idx="2"/>
              <a:endCxn id="73" idx="0"/>
            </p:cNvCxnSpPr>
            <p:nvPr/>
          </p:nvCxnSpPr>
          <p:spPr>
            <a:xfrm rot="5400000">
              <a:off x="2455" y="5451"/>
              <a:ext cx="644" cy="1127"/>
            </a:xfrm>
            <a:prstGeom prst="bentConnector3">
              <a:avLst>
                <a:gd name="adj1" fmla="val 49922"/>
              </a:avLst>
            </a:prstGeom>
            <a:ln>
              <a:solidFill>
                <a:schemeClr val="bg1">
                  <a:lumMod val="50000"/>
                </a:schemeClr>
              </a:solidFill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9" name="肘形连接符 78"/>
            <p:cNvCxnSpPr>
              <a:stCxn id="72" idx="2"/>
              <a:endCxn id="74" idx="0"/>
            </p:cNvCxnSpPr>
            <p:nvPr/>
          </p:nvCxnSpPr>
          <p:spPr>
            <a:xfrm rot="5400000" flipV="1">
              <a:off x="3481" y="5554"/>
              <a:ext cx="644" cy="923"/>
            </a:xfrm>
            <a:prstGeom prst="bentConnector3">
              <a:avLst>
                <a:gd name="adj1" fmla="val 49922"/>
              </a:avLst>
            </a:prstGeom>
            <a:ln>
              <a:solidFill>
                <a:schemeClr val="bg1">
                  <a:lumMod val="50000"/>
                </a:schemeClr>
              </a:solidFill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80" name="矩形 79"/>
            <p:cNvSpPr/>
            <p:nvPr/>
          </p:nvSpPr>
          <p:spPr>
            <a:xfrm>
              <a:off x="1310" y="6138"/>
              <a:ext cx="3844" cy="1219"/>
            </a:xfrm>
            <a:prstGeom prst="rect">
              <a:avLst/>
            </a:prstGeom>
            <a:ln w="12700" cap="flat" cmpd="sng" algn="ctr">
              <a:solidFill>
                <a:schemeClr val="bg1">
                  <a:lumMod val="50000"/>
                </a:schemeClr>
              </a:solidFill>
              <a:prstDash val="dash"/>
              <a:miter lim="800000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82" name="肘形连接符 81"/>
            <p:cNvCxnSpPr>
              <a:stCxn id="80" idx="2"/>
              <a:endCxn id="75" idx="0"/>
            </p:cNvCxnSpPr>
            <p:nvPr/>
          </p:nvCxnSpPr>
          <p:spPr>
            <a:xfrm rot="5400000">
              <a:off x="2522" y="7050"/>
              <a:ext cx="403" cy="1018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bg1">
                  <a:lumMod val="50000"/>
                </a:schemeClr>
              </a:solidFill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3" name="肘形连接符 82"/>
            <p:cNvCxnSpPr>
              <a:stCxn id="80" idx="2"/>
              <a:endCxn id="76" idx="0"/>
            </p:cNvCxnSpPr>
            <p:nvPr/>
          </p:nvCxnSpPr>
          <p:spPr>
            <a:xfrm rot="5400000" flipV="1">
              <a:off x="3546" y="7042"/>
              <a:ext cx="399" cy="1027"/>
            </a:xfrm>
            <a:prstGeom prst="bentConnector3">
              <a:avLst>
                <a:gd name="adj1" fmla="val 50125"/>
              </a:avLst>
            </a:prstGeom>
            <a:ln>
              <a:solidFill>
                <a:schemeClr val="bg1">
                  <a:lumMod val="50000"/>
                </a:schemeClr>
              </a:solidFill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4" name="肘形连接符 83"/>
            <p:cNvCxnSpPr>
              <a:stCxn id="76" idx="3"/>
              <a:endCxn id="71" idx="3"/>
            </p:cNvCxnSpPr>
            <p:nvPr/>
          </p:nvCxnSpPr>
          <p:spPr>
            <a:xfrm flipH="1" flipV="1">
              <a:off x="4722" y="4141"/>
              <a:ext cx="343" cy="4073"/>
            </a:xfrm>
            <a:prstGeom prst="bentConnector3">
              <a:avLst>
                <a:gd name="adj1" fmla="val -109329"/>
              </a:avLst>
            </a:prstGeom>
            <a:ln>
              <a:solidFill>
                <a:schemeClr val="bg1">
                  <a:lumMod val="50000"/>
                </a:schemeClr>
              </a:solidFill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5" name="肘形连接符 84"/>
            <p:cNvCxnSpPr>
              <a:stCxn id="75" idx="1"/>
              <a:endCxn id="72" idx="1"/>
            </p:cNvCxnSpPr>
            <p:nvPr/>
          </p:nvCxnSpPr>
          <p:spPr>
            <a:xfrm rot="10800000" flipH="1">
              <a:off x="1402" y="5345"/>
              <a:ext cx="558" cy="2878"/>
            </a:xfrm>
            <a:prstGeom prst="bentConnector3">
              <a:avLst>
                <a:gd name="adj1" fmla="val -67204"/>
              </a:avLst>
            </a:prstGeom>
            <a:ln>
              <a:solidFill>
                <a:schemeClr val="bg1">
                  <a:lumMod val="50000"/>
                </a:schemeClr>
              </a:solidFill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86" name="左大括号 85"/>
            <p:cNvSpPr/>
            <p:nvPr/>
          </p:nvSpPr>
          <p:spPr>
            <a:xfrm>
              <a:off x="758" y="3793"/>
              <a:ext cx="192" cy="1591"/>
            </a:xfrm>
            <a:prstGeom prst="leftBrac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9" name="文本框 88"/>
            <p:cNvSpPr txBox="1"/>
            <p:nvPr/>
          </p:nvSpPr>
          <p:spPr>
            <a:xfrm>
              <a:off x="187" y="4240"/>
              <a:ext cx="247" cy="6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90000"/>
                </a:lnSpc>
              </a:pPr>
              <a:r>
                <a:rPr lang="zh-CN" altLang="en-US" sz="1200" dirty="0">
                  <a:latin typeface="+mn-ea"/>
                </a:rPr>
                <a:t>目标</a:t>
              </a:r>
              <a:endParaRPr lang="zh-CN" altLang="en-US" sz="1200" dirty="0">
                <a:latin typeface="+mn-ea"/>
              </a:endParaRPr>
            </a:p>
          </p:txBody>
        </p:sp>
        <p:sp>
          <p:nvSpPr>
            <p:cNvPr id="90" name="左大括号 89"/>
            <p:cNvSpPr/>
            <p:nvPr/>
          </p:nvSpPr>
          <p:spPr>
            <a:xfrm>
              <a:off x="749" y="5765"/>
              <a:ext cx="192" cy="1591"/>
            </a:xfrm>
            <a:prstGeom prst="leftBrac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1" name="文本框 90"/>
            <p:cNvSpPr txBox="1"/>
            <p:nvPr/>
          </p:nvSpPr>
          <p:spPr>
            <a:xfrm>
              <a:off x="187" y="6258"/>
              <a:ext cx="247" cy="6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90000"/>
                </a:lnSpc>
              </a:pPr>
              <a:r>
                <a:rPr lang="zh-CN" altLang="en-US" sz="1200" dirty="0">
                  <a:latin typeface="+mn-ea"/>
                </a:rPr>
                <a:t>分解</a:t>
              </a:r>
              <a:endParaRPr lang="zh-CN" altLang="en-US" sz="1200" dirty="0">
                <a:latin typeface="+mn-ea"/>
              </a:endParaRPr>
            </a:p>
          </p:txBody>
        </p:sp>
        <p:sp>
          <p:nvSpPr>
            <p:cNvPr id="92" name="左大括号 91"/>
            <p:cNvSpPr/>
            <p:nvPr/>
          </p:nvSpPr>
          <p:spPr>
            <a:xfrm>
              <a:off x="749" y="7416"/>
              <a:ext cx="192" cy="1283"/>
            </a:xfrm>
            <a:prstGeom prst="leftBrac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3" name="文本框 92"/>
            <p:cNvSpPr txBox="1"/>
            <p:nvPr/>
          </p:nvSpPr>
          <p:spPr>
            <a:xfrm>
              <a:off x="-89" y="7681"/>
              <a:ext cx="1237" cy="6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90000"/>
                </a:lnSpc>
              </a:pPr>
              <a:r>
                <a:rPr lang="zh-CN" altLang="en-US" sz="1200" dirty="0">
                  <a:latin typeface="+mn-ea"/>
                </a:rPr>
                <a:t>监控与</a:t>
              </a:r>
              <a:endParaRPr lang="zh-CN" altLang="en-US" sz="1200" dirty="0">
                <a:latin typeface="+mn-ea"/>
              </a:endParaRPr>
            </a:p>
            <a:p>
              <a:pPr algn="just">
                <a:lnSpc>
                  <a:spcPct val="90000"/>
                </a:lnSpc>
              </a:pPr>
              <a:r>
                <a:rPr lang="zh-CN" altLang="en-US" sz="1200" dirty="0">
                  <a:latin typeface="+mn-ea"/>
                </a:rPr>
                <a:t>评价</a:t>
              </a:r>
              <a:endParaRPr lang="zh-CN" altLang="en-US" sz="1200" dirty="0">
                <a:latin typeface="+mn-ea"/>
              </a:endParaRPr>
            </a:p>
          </p:txBody>
        </p:sp>
      </p:grpSp>
      <p:cxnSp>
        <p:nvCxnSpPr>
          <p:cNvPr id="95" name="直接连接符 94"/>
          <p:cNvCxnSpPr/>
          <p:nvPr/>
        </p:nvCxnSpPr>
        <p:spPr>
          <a:xfrm>
            <a:off x="3657600" y="2234565"/>
            <a:ext cx="8385175" cy="825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6" name="文本框 95"/>
          <p:cNvSpPr txBox="1"/>
          <p:nvPr/>
        </p:nvSpPr>
        <p:spPr>
          <a:xfrm>
            <a:off x="3736340" y="1863725"/>
            <a:ext cx="1146175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400" b="1" dirty="0">
                <a:solidFill>
                  <a:schemeClr val="accent1"/>
                </a:solidFill>
                <a:latin typeface="+mn-ea"/>
              </a:rPr>
              <a:t>细化框架图</a:t>
            </a:r>
            <a:endParaRPr lang="zh-CN" altLang="en-US" sz="1400" b="1" dirty="0">
              <a:solidFill>
                <a:schemeClr val="accent1"/>
              </a:solidFill>
              <a:latin typeface="+mn-ea"/>
            </a:endParaRPr>
          </a:p>
        </p:txBody>
      </p:sp>
      <p:grpSp>
        <p:nvGrpSpPr>
          <p:cNvPr id="99" name="组合 98"/>
          <p:cNvGrpSpPr/>
          <p:nvPr/>
        </p:nvGrpSpPr>
        <p:grpSpPr>
          <a:xfrm>
            <a:off x="3629660" y="2860675"/>
            <a:ext cx="741680" cy="1250950"/>
            <a:chOff x="5971" y="4368"/>
            <a:chExt cx="1168" cy="1970"/>
          </a:xfrm>
        </p:grpSpPr>
        <p:sp>
          <p:nvSpPr>
            <p:cNvPr id="97" name="矩形 96"/>
            <p:cNvSpPr/>
            <p:nvPr/>
          </p:nvSpPr>
          <p:spPr>
            <a:xfrm>
              <a:off x="5971" y="4368"/>
              <a:ext cx="1019" cy="197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8" name="文本框 97"/>
            <p:cNvSpPr txBox="1"/>
            <p:nvPr/>
          </p:nvSpPr>
          <p:spPr>
            <a:xfrm>
              <a:off x="5971" y="4598"/>
              <a:ext cx="1168" cy="1620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just">
                <a:lnSpc>
                  <a:spcPct val="130000"/>
                </a:lnSpc>
              </a:pPr>
              <a:r>
                <a:rPr lang="zh-CN" altLang="en-US" sz="1400" dirty="0">
                  <a:latin typeface="+mn-ea"/>
                </a:rPr>
                <a:t>中长期规划</a:t>
              </a:r>
              <a:endParaRPr lang="zh-CN" altLang="en-US" sz="1400" dirty="0">
                <a:latin typeface="+mn-ea"/>
              </a:endParaRPr>
            </a:p>
            <a:p>
              <a:pPr algn="just">
                <a:lnSpc>
                  <a:spcPct val="130000"/>
                </a:lnSpc>
              </a:pPr>
              <a:r>
                <a:rPr lang="zh-CN" altLang="en-US" sz="1400" dirty="0">
                  <a:latin typeface="+mn-ea"/>
                </a:rPr>
                <a:t>（</a:t>
              </a:r>
              <a:r>
                <a:rPr lang="en-US" altLang="zh-CN" sz="1400" dirty="0">
                  <a:latin typeface="+mn-ea"/>
                </a:rPr>
                <a:t>3-5</a:t>
              </a:r>
              <a:r>
                <a:rPr lang="zh-CN" altLang="en-US" sz="1400" dirty="0">
                  <a:latin typeface="+mn-ea"/>
                </a:rPr>
                <a:t>年）</a:t>
              </a:r>
              <a:endParaRPr lang="zh-CN" altLang="en-US" sz="1400" dirty="0">
                <a:latin typeface="+mn-ea"/>
              </a:endParaRPr>
            </a:p>
          </p:txBody>
        </p:sp>
      </p:grpSp>
      <p:grpSp>
        <p:nvGrpSpPr>
          <p:cNvPr id="100" name="组合 99"/>
          <p:cNvGrpSpPr/>
          <p:nvPr/>
        </p:nvGrpSpPr>
        <p:grpSpPr>
          <a:xfrm>
            <a:off x="3629660" y="4171950"/>
            <a:ext cx="741680" cy="2146300"/>
            <a:chOff x="5971" y="4368"/>
            <a:chExt cx="1168" cy="1970"/>
          </a:xfrm>
        </p:grpSpPr>
        <p:sp>
          <p:nvSpPr>
            <p:cNvPr id="101" name="矩形 100"/>
            <p:cNvSpPr/>
            <p:nvPr/>
          </p:nvSpPr>
          <p:spPr>
            <a:xfrm>
              <a:off x="5971" y="4368"/>
              <a:ext cx="1019" cy="197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" name="文本框 101"/>
            <p:cNvSpPr txBox="1"/>
            <p:nvPr/>
          </p:nvSpPr>
          <p:spPr>
            <a:xfrm>
              <a:off x="5971" y="4941"/>
              <a:ext cx="1168" cy="716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just">
                <a:lnSpc>
                  <a:spcPct val="130000"/>
                </a:lnSpc>
              </a:pPr>
              <a:r>
                <a:rPr lang="en-US" altLang="zh-CN" sz="1400" dirty="0">
                  <a:latin typeface="+mn-ea"/>
                </a:rPr>
                <a:t>   </a:t>
              </a:r>
              <a:r>
                <a:rPr lang="zh-CN" altLang="en-US" sz="1400" dirty="0">
                  <a:latin typeface="+mn-ea"/>
                </a:rPr>
                <a:t>短期</a:t>
              </a:r>
              <a:endParaRPr lang="zh-CN" altLang="en-US" sz="1400" dirty="0">
                <a:latin typeface="+mn-ea"/>
              </a:endParaRPr>
            </a:p>
            <a:p>
              <a:pPr algn="just">
                <a:lnSpc>
                  <a:spcPct val="130000"/>
                </a:lnSpc>
              </a:pPr>
              <a:r>
                <a:rPr lang="zh-CN" altLang="en-US" sz="1400" dirty="0">
                  <a:latin typeface="+mn-ea"/>
                </a:rPr>
                <a:t>（</a:t>
              </a:r>
              <a:r>
                <a:rPr lang="en-US" altLang="zh-CN" sz="1400" dirty="0">
                  <a:latin typeface="+mn-ea"/>
                </a:rPr>
                <a:t>1</a:t>
              </a:r>
              <a:r>
                <a:rPr lang="zh-CN" altLang="en-US" sz="1400" dirty="0">
                  <a:latin typeface="+mn-ea"/>
                </a:rPr>
                <a:t>年）</a:t>
              </a:r>
              <a:endParaRPr lang="zh-CN" altLang="en-US" sz="1400" dirty="0">
                <a:latin typeface="+mn-ea"/>
              </a:endParaRPr>
            </a:p>
          </p:txBody>
        </p:sp>
      </p:grpSp>
      <p:sp>
        <p:nvSpPr>
          <p:cNvPr id="103" name="五边形 102"/>
          <p:cNvSpPr/>
          <p:nvPr/>
        </p:nvSpPr>
        <p:spPr>
          <a:xfrm>
            <a:off x="4354195" y="2291715"/>
            <a:ext cx="1577340" cy="538480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科技创新规划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" name="燕尾形 103"/>
          <p:cNvSpPr/>
          <p:nvPr/>
        </p:nvSpPr>
        <p:spPr>
          <a:xfrm>
            <a:off x="5701030" y="2291715"/>
            <a:ext cx="1450340" cy="53848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年度管理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00000"/>
              </a:lnSpc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5" name="燕尾形 104"/>
          <p:cNvSpPr/>
          <p:nvPr/>
        </p:nvSpPr>
        <p:spPr>
          <a:xfrm>
            <a:off x="6925310" y="2291715"/>
            <a:ext cx="1450340" cy="53848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综合计划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6" name="燕尾形 105"/>
          <p:cNvSpPr/>
          <p:nvPr/>
        </p:nvSpPr>
        <p:spPr>
          <a:xfrm>
            <a:off x="8149590" y="2291715"/>
            <a:ext cx="1450340" cy="53848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全面预算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7" name="燕尾形 106"/>
          <p:cNvSpPr/>
          <p:nvPr/>
        </p:nvSpPr>
        <p:spPr>
          <a:xfrm>
            <a:off x="9375140" y="2291715"/>
            <a:ext cx="1450340" cy="53848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绩效计划和评价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8" name="燕尾形 107"/>
          <p:cNvSpPr/>
          <p:nvPr/>
        </p:nvSpPr>
        <p:spPr>
          <a:xfrm>
            <a:off x="10598150" y="2291715"/>
            <a:ext cx="1450340" cy="53848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战略评价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0" name="矩形 109"/>
          <p:cNvSpPr/>
          <p:nvPr/>
        </p:nvSpPr>
        <p:spPr>
          <a:xfrm>
            <a:off x="4353560" y="2889250"/>
            <a:ext cx="7688580" cy="1214755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1" name="矩形 110"/>
          <p:cNvSpPr/>
          <p:nvPr/>
        </p:nvSpPr>
        <p:spPr>
          <a:xfrm>
            <a:off x="4381500" y="3026410"/>
            <a:ext cx="1231900" cy="42164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中长期科技创新规划制定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2" name="矩形 111"/>
          <p:cNvSpPr/>
          <p:nvPr/>
        </p:nvSpPr>
        <p:spPr>
          <a:xfrm>
            <a:off x="7150735" y="3026410"/>
            <a:ext cx="998855" cy="42164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综合计划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3" name="矩形 112"/>
          <p:cNvSpPr/>
          <p:nvPr/>
        </p:nvSpPr>
        <p:spPr>
          <a:xfrm>
            <a:off x="7151370" y="3552190"/>
            <a:ext cx="997585" cy="42164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三年项目库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" name="矩形 113"/>
          <p:cNvSpPr/>
          <p:nvPr/>
        </p:nvSpPr>
        <p:spPr>
          <a:xfrm>
            <a:off x="8375650" y="3026410"/>
            <a:ext cx="1057910" cy="42164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中长期预算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5" name="矩形 114"/>
          <p:cNvSpPr/>
          <p:nvPr/>
        </p:nvSpPr>
        <p:spPr>
          <a:xfrm>
            <a:off x="4359910" y="4171950"/>
            <a:ext cx="7688580" cy="2146935"/>
          </a:xfrm>
          <a:prstGeom prst="rect">
            <a:avLst/>
          </a:prstGeom>
          <a:solidFill>
            <a:schemeClr val="accent3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6" name="矩形 115"/>
          <p:cNvSpPr/>
          <p:nvPr/>
        </p:nvSpPr>
        <p:spPr>
          <a:xfrm>
            <a:off x="4381500" y="4455795"/>
            <a:ext cx="1232535" cy="42164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（年度）科技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1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创新规划修编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7" name="矩形 116"/>
          <p:cNvSpPr/>
          <p:nvPr/>
        </p:nvSpPr>
        <p:spPr>
          <a:xfrm>
            <a:off x="5813425" y="4213860"/>
            <a:ext cx="1111885" cy="91567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年度战略指标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1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（指标树）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1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年度管理任务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1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（任务树）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8" name="矩形 117"/>
          <p:cNvSpPr/>
          <p:nvPr/>
        </p:nvSpPr>
        <p:spPr>
          <a:xfrm>
            <a:off x="5813425" y="5514340"/>
            <a:ext cx="1111885" cy="43116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年度管理目标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9" name="矩形 118"/>
          <p:cNvSpPr/>
          <p:nvPr/>
        </p:nvSpPr>
        <p:spPr>
          <a:xfrm>
            <a:off x="7152005" y="5515610"/>
            <a:ext cx="997585" cy="42164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投资计划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0" name="矩形 119"/>
          <p:cNvSpPr/>
          <p:nvPr/>
        </p:nvSpPr>
        <p:spPr>
          <a:xfrm>
            <a:off x="8375650" y="4506595"/>
            <a:ext cx="1057910" cy="42164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年度预算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1" name="矩形 120"/>
          <p:cNvSpPr/>
          <p:nvPr/>
        </p:nvSpPr>
        <p:spPr>
          <a:xfrm>
            <a:off x="8375650" y="5043170"/>
            <a:ext cx="1057910" cy="42164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资金计划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2" name="矩形 121"/>
          <p:cNvSpPr/>
          <p:nvPr/>
        </p:nvSpPr>
        <p:spPr>
          <a:xfrm>
            <a:off x="9600565" y="4287520"/>
            <a:ext cx="927735" cy="42164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绩效计划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3" name="矩形 122"/>
          <p:cNvSpPr/>
          <p:nvPr/>
        </p:nvSpPr>
        <p:spPr>
          <a:xfrm>
            <a:off x="9600565" y="4834890"/>
            <a:ext cx="927735" cy="42164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绩效合约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4" name="矩形 123"/>
          <p:cNvSpPr/>
          <p:nvPr/>
        </p:nvSpPr>
        <p:spPr>
          <a:xfrm>
            <a:off x="9600565" y="5372100"/>
            <a:ext cx="927735" cy="42164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绩效评价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5" name="矩形 124"/>
          <p:cNvSpPr/>
          <p:nvPr/>
        </p:nvSpPr>
        <p:spPr>
          <a:xfrm>
            <a:off x="10739120" y="4841240"/>
            <a:ext cx="1007110" cy="42164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科技创新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规划评估报告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8" name="直接箭头连接符 127"/>
          <p:cNvCxnSpPr>
            <a:stCxn id="111" idx="2"/>
            <a:endCxn id="116" idx="0"/>
          </p:cNvCxnSpPr>
          <p:nvPr/>
        </p:nvCxnSpPr>
        <p:spPr>
          <a:xfrm>
            <a:off x="4997450" y="3448050"/>
            <a:ext cx="635" cy="1007745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肘形连接符 128"/>
          <p:cNvCxnSpPr>
            <a:stCxn id="125" idx="2"/>
            <a:endCxn id="116" idx="2"/>
          </p:cNvCxnSpPr>
          <p:nvPr/>
        </p:nvCxnSpPr>
        <p:spPr>
          <a:xfrm rot="5400000" flipH="1">
            <a:off x="7927658" y="1947863"/>
            <a:ext cx="385445" cy="6244590"/>
          </a:xfrm>
          <a:prstGeom prst="bentConnector3">
            <a:avLst>
              <a:gd name="adj1" fmla="val -267545"/>
            </a:avLst>
          </a:prstGeom>
          <a:ln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直接箭头连接符 129"/>
          <p:cNvCxnSpPr>
            <a:stCxn id="116" idx="3"/>
            <a:endCxn id="117" idx="1"/>
          </p:cNvCxnSpPr>
          <p:nvPr/>
        </p:nvCxnSpPr>
        <p:spPr>
          <a:xfrm>
            <a:off x="5614035" y="4666615"/>
            <a:ext cx="199390" cy="5080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直接箭头连接符 130"/>
          <p:cNvCxnSpPr>
            <a:stCxn id="117" idx="2"/>
            <a:endCxn id="118" idx="0"/>
          </p:cNvCxnSpPr>
          <p:nvPr/>
        </p:nvCxnSpPr>
        <p:spPr>
          <a:xfrm>
            <a:off x="6369685" y="5129530"/>
            <a:ext cx="0" cy="384810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肘形连接符 131"/>
          <p:cNvCxnSpPr>
            <a:stCxn id="118" idx="3"/>
            <a:endCxn id="112" idx="1"/>
          </p:cNvCxnSpPr>
          <p:nvPr/>
        </p:nvCxnSpPr>
        <p:spPr>
          <a:xfrm flipV="1">
            <a:off x="6925310" y="3237230"/>
            <a:ext cx="225425" cy="2493010"/>
          </a:xfrm>
          <a:prstGeom prst="bentConnector3">
            <a:avLst>
              <a:gd name="adj1" fmla="val 50141"/>
            </a:avLst>
          </a:prstGeom>
          <a:ln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直接箭头连接符 132"/>
          <p:cNvCxnSpPr>
            <a:stCxn id="112" idx="2"/>
            <a:endCxn id="113" idx="0"/>
          </p:cNvCxnSpPr>
          <p:nvPr/>
        </p:nvCxnSpPr>
        <p:spPr>
          <a:xfrm>
            <a:off x="7650480" y="3448050"/>
            <a:ext cx="0" cy="104140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直接箭头连接符 133"/>
          <p:cNvCxnSpPr>
            <a:stCxn id="113" idx="2"/>
            <a:endCxn id="119" idx="0"/>
          </p:cNvCxnSpPr>
          <p:nvPr/>
        </p:nvCxnSpPr>
        <p:spPr>
          <a:xfrm>
            <a:off x="7650480" y="3973830"/>
            <a:ext cx="635" cy="1541780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肘形连接符 134"/>
          <p:cNvCxnSpPr>
            <a:stCxn id="119" idx="3"/>
            <a:endCxn id="114" idx="1"/>
          </p:cNvCxnSpPr>
          <p:nvPr/>
        </p:nvCxnSpPr>
        <p:spPr>
          <a:xfrm flipV="1">
            <a:off x="8149590" y="3237230"/>
            <a:ext cx="226060" cy="2489200"/>
          </a:xfrm>
          <a:prstGeom prst="bentConnector3">
            <a:avLst>
              <a:gd name="adj1" fmla="val 50000"/>
            </a:avLst>
          </a:prstGeom>
          <a:ln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直接箭头连接符 135"/>
          <p:cNvCxnSpPr>
            <a:stCxn id="114" idx="2"/>
            <a:endCxn id="120" idx="0"/>
          </p:cNvCxnSpPr>
          <p:nvPr/>
        </p:nvCxnSpPr>
        <p:spPr>
          <a:xfrm>
            <a:off x="8904605" y="3448050"/>
            <a:ext cx="0" cy="1058545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直接箭头连接符 136"/>
          <p:cNvCxnSpPr>
            <a:stCxn id="120" idx="2"/>
            <a:endCxn id="121" idx="0"/>
          </p:cNvCxnSpPr>
          <p:nvPr/>
        </p:nvCxnSpPr>
        <p:spPr>
          <a:xfrm>
            <a:off x="8904605" y="4928235"/>
            <a:ext cx="0" cy="114935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肘形连接符 137"/>
          <p:cNvCxnSpPr>
            <a:stCxn id="118" idx="2"/>
            <a:endCxn id="122" idx="1"/>
          </p:cNvCxnSpPr>
          <p:nvPr/>
        </p:nvCxnSpPr>
        <p:spPr>
          <a:xfrm rot="5400000" flipH="1" flipV="1">
            <a:off x="7261860" y="3606165"/>
            <a:ext cx="1447165" cy="3230880"/>
          </a:xfrm>
          <a:prstGeom prst="bentConnector4">
            <a:avLst>
              <a:gd name="adj1" fmla="val -16433"/>
              <a:gd name="adj2" fmla="val 97435"/>
            </a:avLst>
          </a:prstGeom>
          <a:ln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肘形连接符 138"/>
          <p:cNvCxnSpPr>
            <a:stCxn id="119" idx="2"/>
            <a:endCxn id="122" idx="1"/>
          </p:cNvCxnSpPr>
          <p:nvPr/>
        </p:nvCxnSpPr>
        <p:spPr>
          <a:xfrm rot="5400000" flipH="1" flipV="1">
            <a:off x="7906385" y="4243070"/>
            <a:ext cx="1438910" cy="1949450"/>
          </a:xfrm>
          <a:prstGeom prst="bentConnector4">
            <a:avLst>
              <a:gd name="adj1" fmla="val -17255"/>
              <a:gd name="adj2" fmla="val 95472"/>
            </a:avLst>
          </a:prstGeom>
          <a:ln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肘形连接符 139"/>
          <p:cNvCxnSpPr>
            <a:stCxn id="121" idx="2"/>
            <a:endCxn id="122" idx="1"/>
          </p:cNvCxnSpPr>
          <p:nvPr/>
        </p:nvCxnSpPr>
        <p:spPr>
          <a:xfrm rot="5400000" flipH="1" flipV="1">
            <a:off x="8769350" y="4633595"/>
            <a:ext cx="966470" cy="695960"/>
          </a:xfrm>
          <a:prstGeom prst="bentConnector4">
            <a:avLst>
              <a:gd name="adj1" fmla="val -24639"/>
              <a:gd name="adj2" fmla="val 88047"/>
            </a:avLst>
          </a:prstGeom>
          <a:ln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直接箭头连接符 140"/>
          <p:cNvCxnSpPr>
            <a:stCxn id="122" idx="2"/>
            <a:endCxn id="123" idx="0"/>
          </p:cNvCxnSpPr>
          <p:nvPr/>
        </p:nvCxnSpPr>
        <p:spPr>
          <a:xfrm>
            <a:off x="10064750" y="4709160"/>
            <a:ext cx="0" cy="125730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直接箭头连接符 141"/>
          <p:cNvCxnSpPr>
            <a:stCxn id="123" idx="2"/>
            <a:endCxn id="124" idx="0"/>
          </p:cNvCxnSpPr>
          <p:nvPr/>
        </p:nvCxnSpPr>
        <p:spPr>
          <a:xfrm>
            <a:off x="10064750" y="5256530"/>
            <a:ext cx="0" cy="115570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肘形连接符 142"/>
          <p:cNvCxnSpPr>
            <a:stCxn id="124" idx="3"/>
            <a:endCxn id="125" idx="1"/>
          </p:cNvCxnSpPr>
          <p:nvPr/>
        </p:nvCxnSpPr>
        <p:spPr>
          <a:xfrm flipV="1">
            <a:off x="10528300" y="5052060"/>
            <a:ext cx="210820" cy="530860"/>
          </a:xfrm>
          <a:prstGeom prst="bentConnector3">
            <a:avLst>
              <a:gd name="adj1" fmla="val 50000"/>
            </a:avLst>
          </a:prstGeom>
          <a:ln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7240905" y="0"/>
            <a:ext cx="4952365" cy="259080"/>
            <a:chOff x="11403" y="0"/>
            <a:chExt cx="7799" cy="408"/>
          </a:xfrm>
        </p:grpSpPr>
        <p:sp>
          <p:nvSpPr>
            <p:cNvPr id="6" name="矩形 5"/>
            <p:cNvSpPr/>
            <p:nvPr/>
          </p:nvSpPr>
          <p:spPr>
            <a:xfrm>
              <a:off x="11403" y="0"/>
              <a:ext cx="1540" cy="408"/>
            </a:xfrm>
            <a:prstGeom prst="rect">
              <a:avLst/>
            </a:prstGeom>
            <a:solidFill>
              <a:schemeClr val="accent6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规划背景</a:t>
              </a:r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12969" y="0"/>
              <a:ext cx="1540" cy="408"/>
            </a:xfrm>
            <a:prstGeom prst="rect">
              <a:avLst/>
            </a:prstGeom>
            <a:solidFill>
              <a:schemeClr val="accent6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顶层</a:t>
              </a: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设计</a:t>
              </a:r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14534" y="0"/>
              <a:ext cx="1540" cy="408"/>
            </a:xfrm>
            <a:prstGeom prst="rect">
              <a:avLst/>
            </a:prstGeom>
            <a:solidFill>
              <a:schemeClr val="accent6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重点任务</a:t>
              </a:r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6099" y="0"/>
              <a:ext cx="1538" cy="408"/>
            </a:xfrm>
            <a:prstGeom prst="rect">
              <a:avLst/>
            </a:prstGeom>
            <a:solidFill>
              <a:schemeClr val="accent6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保障机制</a:t>
              </a:r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17662" y="0"/>
              <a:ext cx="1540" cy="40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实施路径</a:t>
              </a:r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圆角矩形 26"/>
          <p:cNvSpPr/>
          <p:nvPr/>
        </p:nvSpPr>
        <p:spPr>
          <a:xfrm>
            <a:off x="7044055" y="1831340"/>
            <a:ext cx="4846320" cy="1294130"/>
          </a:xfrm>
          <a:prstGeom prst="round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130000"/>
              </a:lnSpc>
            </a:pP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</a:fld>
            <a:endParaRPr lang="en-US" altLang="zh-CN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0399" y="89535"/>
            <a:ext cx="10858500" cy="102870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sz="2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标杆案例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| 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国网山东电力以价值实现为导向，创新构建科研项目全流程管理体系，通过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补链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延链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强链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三步走，实现从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重研发投入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向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重价值产出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的根本性转变</a:t>
            </a:r>
            <a:endParaRPr lang="zh-CN" altLang="en-US" sz="2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8" name="文本占位符 9"/>
          <p:cNvSpPr>
            <a:spLocks noGrp="1"/>
          </p:cNvSpPr>
          <p:nvPr/>
        </p:nvSpPr>
        <p:spPr>
          <a:xfrm>
            <a:off x="566420" y="1118235"/>
            <a:ext cx="11264900" cy="838200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noAutofit/>
          </a:bodyPr>
          <a:lstStyle>
            <a:lvl1pPr marL="0" indent="0" algn="just" defTabSz="914400" rtl="0" eaLnBrk="1" latinLnBrk="0" hangingPunct="1">
              <a:lnSpc>
                <a:spcPct val="120000"/>
              </a:lnSpc>
              <a:spcBef>
                <a:spcPts val="0"/>
              </a:spcBef>
              <a:buFontTx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为破解全流程管理断裂、价值无法科学量化、成果价值难以最大化的难题，国网山东电力创新建立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四类五维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价值评估模型，打通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立项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研发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评估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转化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优化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全流程闭环，并通过数字化平台与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考核激励机制，实现全流程科学闭环管理。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1215370" y="0"/>
            <a:ext cx="977900" cy="2590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供参考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4660" y="1830705"/>
            <a:ext cx="6350635" cy="4406265"/>
          </a:xfrm>
          <a:prstGeom prst="rect">
            <a:avLst/>
          </a:prstGeom>
        </p:spPr>
      </p:pic>
      <p:cxnSp>
        <p:nvCxnSpPr>
          <p:cNvPr id="10" name="直接连接符 9"/>
          <p:cNvCxnSpPr/>
          <p:nvPr/>
        </p:nvCxnSpPr>
        <p:spPr>
          <a:xfrm>
            <a:off x="6942455" y="1915795"/>
            <a:ext cx="10160" cy="4500880"/>
          </a:xfrm>
          <a:prstGeom prst="line">
            <a:avLst/>
          </a:prstGeom>
          <a:ln w="19050" cap="flat" cmpd="sng" algn="ctr">
            <a:solidFill>
              <a:schemeClr val="bg1">
                <a:lumMod val="85000"/>
              </a:schemeClr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4" name="矩形 33"/>
          <p:cNvSpPr/>
          <p:nvPr/>
        </p:nvSpPr>
        <p:spPr>
          <a:xfrm>
            <a:off x="7130415" y="2257425"/>
            <a:ext cx="822960" cy="30162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130000"/>
              </a:lnSpc>
            </a:pP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过程管理</a:t>
            </a:r>
            <a:endParaRPr lang="zh-CN" altLang="en-US" sz="1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10012680" y="2257425"/>
            <a:ext cx="822960" cy="30162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130000"/>
              </a:lnSpc>
            </a:pP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成果应用</a:t>
            </a:r>
            <a:endParaRPr lang="zh-CN" altLang="en-US" sz="1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8091170" y="2257425"/>
            <a:ext cx="822960" cy="30162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130000"/>
              </a:lnSpc>
            </a:pP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成果质量</a:t>
            </a:r>
            <a:endParaRPr lang="zh-CN" altLang="en-US" sz="1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9051925" y="2257425"/>
            <a:ext cx="822960" cy="30162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130000"/>
              </a:lnSpc>
            </a:pP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技术水平</a:t>
            </a:r>
            <a:endParaRPr lang="zh-CN" altLang="en-US" sz="1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10973435" y="2257425"/>
            <a:ext cx="822960" cy="30162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130000"/>
              </a:lnSpc>
            </a:pP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社会贡献</a:t>
            </a:r>
            <a:endParaRPr lang="zh-CN" altLang="en-US" sz="1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7130415" y="2696845"/>
            <a:ext cx="822960" cy="3016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130000"/>
              </a:lnSpc>
            </a:pP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文化价值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0013315" y="2696845"/>
            <a:ext cx="822960" cy="3016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130000"/>
              </a:lnSpc>
            </a:pP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经济价值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8090535" y="2696845"/>
            <a:ext cx="822960" cy="3016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130000"/>
              </a:lnSpc>
            </a:pP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科学价值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9051925" y="2696845"/>
            <a:ext cx="822960" cy="3016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130000"/>
              </a:lnSpc>
            </a:pP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技术价值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0973435" y="2696845"/>
            <a:ext cx="822960" cy="3016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130000"/>
              </a:lnSpc>
            </a:pP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社会价值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下箭头 20"/>
          <p:cNvSpPr/>
          <p:nvPr/>
        </p:nvSpPr>
        <p:spPr>
          <a:xfrm>
            <a:off x="7445375" y="2554605"/>
            <a:ext cx="193040" cy="172720"/>
          </a:xfrm>
          <a:prstGeom prst="down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130000"/>
              </a:lnSpc>
            </a:pP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下箭头 21"/>
          <p:cNvSpPr/>
          <p:nvPr/>
        </p:nvSpPr>
        <p:spPr>
          <a:xfrm>
            <a:off x="8406130" y="2554605"/>
            <a:ext cx="193040" cy="172720"/>
          </a:xfrm>
          <a:prstGeom prst="down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130000"/>
              </a:lnSpc>
            </a:pP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下箭头 22"/>
          <p:cNvSpPr/>
          <p:nvPr/>
        </p:nvSpPr>
        <p:spPr>
          <a:xfrm>
            <a:off x="9366885" y="2553335"/>
            <a:ext cx="193040" cy="172720"/>
          </a:xfrm>
          <a:prstGeom prst="down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130000"/>
              </a:lnSpc>
            </a:pP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下箭头 23"/>
          <p:cNvSpPr/>
          <p:nvPr/>
        </p:nvSpPr>
        <p:spPr>
          <a:xfrm>
            <a:off x="10327640" y="2553335"/>
            <a:ext cx="193040" cy="172720"/>
          </a:xfrm>
          <a:prstGeom prst="down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130000"/>
              </a:lnSpc>
            </a:pP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下箭头 24"/>
          <p:cNvSpPr/>
          <p:nvPr/>
        </p:nvSpPr>
        <p:spPr>
          <a:xfrm>
            <a:off x="11288395" y="2553335"/>
            <a:ext cx="193040" cy="172720"/>
          </a:xfrm>
          <a:prstGeom prst="down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130000"/>
              </a:lnSpc>
            </a:pP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7244080" y="1915795"/>
            <a:ext cx="4539615" cy="306705"/>
          </a:xfrm>
          <a:prstGeom prst="rect">
            <a:avLst/>
          </a:prstGeom>
        </p:spPr>
        <p:txBody>
          <a:bodyPr wrap="square">
            <a:spAutoFit/>
          </a:bodyPr>
          <a:p>
            <a:pPr defTabSz="266700"/>
            <a:r>
              <a:rPr lang="zh-CN" altLang="en-US" sz="14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依据价值元素特征和科技项目业务流分析，确立</a:t>
            </a:r>
            <a:r>
              <a:rPr lang="zh-CN" altLang="en-US" sz="14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五维度</a:t>
            </a:r>
            <a:endParaRPr lang="zh-CN" altLang="en-US" sz="1400" b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右箭头 27"/>
          <p:cNvSpPr/>
          <p:nvPr/>
        </p:nvSpPr>
        <p:spPr>
          <a:xfrm rot="5400000">
            <a:off x="9402445" y="2868930"/>
            <a:ext cx="222250" cy="756285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130000"/>
              </a:lnSpc>
            </a:pP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7230110" y="3340735"/>
            <a:ext cx="4660265" cy="607695"/>
          </a:xfrm>
          <a:prstGeom prst="rect">
            <a:avLst/>
          </a:prstGeom>
        </p:spPr>
        <p:txBody>
          <a:bodyPr wrap="square">
            <a:spAutoFit/>
          </a:bodyPr>
          <a:p>
            <a:pPr algn="ctr" defTabSz="266700">
              <a:lnSpc>
                <a:spcPct val="120000"/>
              </a:lnSpc>
            </a:pPr>
            <a:r>
              <a:rPr lang="zh-CN" altLang="en-US" sz="14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运用层次分析法，对不同立项级别、评估项目类型和价值维度设置加权系数及指标权重</a:t>
            </a:r>
            <a:endParaRPr lang="zh-CN" altLang="en-US" sz="1400" b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右箭头 29"/>
          <p:cNvSpPr/>
          <p:nvPr/>
        </p:nvSpPr>
        <p:spPr>
          <a:xfrm rot="5400000">
            <a:off x="9402445" y="3668395"/>
            <a:ext cx="222250" cy="756285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130000"/>
              </a:lnSpc>
            </a:pP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7384098" y="4143375"/>
            <a:ext cx="1291590" cy="349250"/>
          </a:xfrm>
          <a:prstGeom prst="rect">
            <a:avLst/>
          </a:prstGeom>
        </p:spPr>
        <p:txBody>
          <a:bodyPr wrap="square">
            <a:spAutoFit/>
          </a:bodyPr>
          <a:p>
            <a:pPr algn="ctr" defTabSz="266700">
              <a:lnSpc>
                <a:spcPct val="120000"/>
              </a:lnSpc>
            </a:pPr>
            <a:r>
              <a:rPr lang="zh-CN" altLang="en-US" sz="1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单一项目评估</a:t>
            </a:r>
            <a:endParaRPr lang="zh-CN" altLang="en-US" sz="14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0100" y="4494530"/>
            <a:ext cx="1759585" cy="1840230"/>
          </a:xfrm>
          <a:prstGeom prst="rect">
            <a:avLst/>
          </a:prstGeom>
        </p:spPr>
      </p:pic>
      <p:sp>
        <p:nvSpPr>
          <p:cNvPr id="39" name="文本框 38"/>
          <p:cNvSpPr txBox="1"/>
          <p:nvPr/>
        </p:nvSpPr>
        <p:spPr>
          <a:xfrm>
            <a:off x="9187815" y="4143375"/>
            <a:ext cx="2702560" cy="349250"/>
          </a:xfrm>
          <a:prstGeom prst="rect">
            <a:avLst/>
          </a:prstGeom>
        </p:spPr>
        <p:txBody>
          <a:bodyPr wrap="square">
            <a:spAutoFit/>
          </a:bodyPr>
          <a:p>
            <a:pPr algn="ctr" defTabSz="266700">
              <a:lnSpc>
                <a:spcPct val="120000"/>
              </a:lnSpc>
            </a:pPr>
            <a:r>
              <a:rPr lang="en-US" altLang="zh-CN" sz="1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1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价值</a:t>
            </a:r>
            <a:r>
              <a:rPr lang="en-US" altLang="zh-CN" sz="1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成熟度</a:t>
            </a:r>
            <a:r>
              <a:rPr lang="en-US" altLang="zh-CN" sz="1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二维矩阵判定</a:t>
            </a:r>
            <a:endParaRPr lang="zh-CN" altLang="en-US" sz="14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9004935" y="4486275"/>
            <a:ext cx="3017520" cy="1929130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130000"/>
              </a:lnSpc>
            </a:pP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0" name="图片 14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4935" y="4538345"/>
            <a:ext cx="3017520" cy="18605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6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664256" y="1496786"/>
            <a:ext cx="5950835" cy="1828800"/>
          </a:xfrm>
        </p:spPr>
        <p:txBody>
          <a:bodyPr>
            <a:normAutofit/>
          </a:bodyPr>
          <a:lstStyle>
            <a:lvl1pPr marL="0" indent="0">
              <a:buNone/>
              <a:defRPr sz="5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dirty="0"/>
              <a:t>THANK YOU</a:t>
            </a:r>
            <a:endParaRPr lang="zh-CN" altLang="en-US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</p:tagLst>
</file>

<file path=ppt/theme/theme1.xml><?xml version="1.0" encoding="utf-8"?>
<a:theme xmlns:a="http://schemas.openxmlformats.org/drawingml/2006/main" name="中智咨询2023-16x9">
  <a:themeElements>
    <a:clrScheme name="中智v5.21">
      <a:dk1>
        <a:srgbClr val="383838"/>
      </a:dk1>
      <a:lt1>
        <a:srgbClr val="FFFFFF"/>
      </a:lt1>
      <a:dk2>
        <a:srgbClr val="FF4200"/>
      </a:dk2>
      <a:lt2>
        <a:srgbClr val="E7E6E6"/>
      </a:lt2>
      <a:accent1>
        <a:srgbClr val="1C55FE"/>
      </a:accent1>
      <a:accent2>
        <a:srgbClr val="547FFE"/>
      </a:accent2>
      <a:accent3>
        <a:srgbClr val="8DAAFE"/>
      </a:accent3>
      <a:accent4>
        <a:srgbClr val="CFDBFF"/>
      </a:accent4>
      <a:accent5>
        <a:srgbClr val="B3D4FE"/>
      </a:accent5>
      <a:accent6>
        <a:srgbClr val="DCDCDC"/>
      </a:accent6>
      <a:hlink>
        <a:srgbClr val="126BF7"/>
      </a:hlink>
      <a:folHlink>
        <a:srgbClr val="E0E0E0"/>
      </a:folHlink>
    </a:clrScheme>
    <a:fontScheme name="标准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lnSpc>
            <a:spcPct val="130000"/>
          </a:lnSpc>
          <a:defRPr sz="1400" b="1" dirty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just">
          <a:lnSpc>
            <a:spcPct val="130000"/>
          </a:lnSpc>
          <a:defRPr sz="1400" dirty="0" smtClean="0">
            <a:latin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PresentationDefault</Template>
  <TotalTime>0</TotalTime>
  <Words>6185</Words>
  <Application>WPS 演示</Application>
  <PresentationFormat>宽屏</PresentationFormat>
  <Paragraphs>671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39" baseType="lpstr">
      <vt:lpstr>Arial</vt:lpstr>
      <vt:lpstr>宋体</vt:lpstr>
      <vt:lpstr>Wingdings</vt:lpstr>
      <vt:lpstr>微软雅黑</vt:lpstr>
      <vt:lpstr>Arial</vt:lpstr>
      <vt:lpstr>Songti SC</vt:lpstr>
      <vt:lpstr>Wingdings</vt:lpstr>
      <vt:lpstr>Alibaba PuHuiTi</vt:lpstr>
      <vt:lpstr>等线</vt:lpstr>
      <vt:lpstr>HarmonyOS Sans SC</vt:lpstr>
      <vt:lpstr>Times New Roman</vt:lpstr>
      <vt:lpstr>Arial Unicode MS</vt:lpstr>
      <vt:lpstr>Times New Roman</vt:lpstr>
      <vt:lpstr>仿宋_GB2312</vt:lpstr>
      <vt:lpstr>仿宋</vt:lpstr>
      <vt:lpstr>Aptos</vt:lpstr>
      <vt:lpstr>Segoe UI</vt:lpstr>
      <vt:lpstr>Alibaba PuHuiTi</vt:lpstr>
      <vt:lpstr>HarmonyOS Sans SC</vt:lpstr>
      <vt:lpstr>Songti SC</vt:lpstr>
      <vt:lpstr>仿宋_GB2312</vt:lpstr>
      <vt:lpstr>GENISO</vt:lpstr>
      <vt:lpstr>ui-sans-serif</vt:lpstr>
      <vt:lpstr>ui-sans-serif</vt:lpstr>
      <vt:lpstr>中智咨询2023-16x9</vt:lpstr>
      <vt:lpstr>构建全链条全要素创新体系 支撑企业 "十五五" 高质量发展</vt:lpstr>
      <vt:lpstr>目  录</vt:lpstr>
      <vt:lpstr>国际新形势 | 全球创新重心东移形成中美双极引领格局，竞争范式从单点技术突破升级为全链条体系化对抗，驱动科技企业从规模扩张向质量提升转型</vt:lpstr>
      <vt:lpstr>政策新导向 | “十五五”将科技创新置于现代化建设全局核心，以新质生产力为主线强化企业主体地位，科技企业需精准解码战略要求，转化为可执行的创新发展行动方案</vt:lpstr>
      <vt:lpstr>企业新使命 | 诊断当前科技企业创新管理体系存在的系统性缺陷，以问题为导向，科技企业亟需以系统性变革承担起打造原创技术策源地、构建产业创新生态的时代使命</vt:lpstr>
      <vt:lpstr>顶层设计 | 以全链条核心技术攻关为主线，以创新平台建设、成果转化体系、人才发展体系为三大核心抓手，配套五大保障机制，打造自主可控、安全高效的核心技术体系</vt:lpstr>
      <vt:lpstr>重点任务一 | 运用“五看三定”方法论，构建分层分类核心技术攻关体系</vt:lpstr>
      <vt:lpstr>重点任务二 |  搭建“决策-咨询-管理-实施”四级联动架构，构建内外协同的立体化创新平台体系，形成权责清晰、资源高效流动的立体化创新组织</vt:lpstr>
      <vt:lpstr>重点任务三 | 构建“研发-中试-产业化”三级全链条转化体系，实施项目差异化管控，以场景化示范工程加速技术成果从实验室到市场的规模化落地</vt:lpstr>
      <vt:lpstr>重点任务四 | 构建“战略引领-体系支撑-评价闭环-文化赋能”的全链条创新人才发展体系</vt:lpstr>
      <vt:lpstr>保障机制 | 配套完善资金、能力、知识产权以及容错文化氛围等全要素支撑保障</vt:lpstr>
      <vt:lpstr>实施路径 | 建立“战略规划-目标分解-计划执行-评估调整”全周期科技创新战略闭环管理体系</vt:lpstr>
      <vt:lpstr>实施路径 | 建立“战略规划-目标分解-计划执行-评估调整”全周期科技创新战略闭环管理体系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刘 浩</dc:creator>
  <cp:lastModifiedBy>Z.</cp:lastModifiedBy>
  <cp:revision>212</cp:revision>
  <dcterms:created xsi:type="dcterms:W3CDTF">2021-10-26T10:37:00Z</dcterms:created>
  <dcterms:modified xsi:type="dcterms:W3CDTF">2026-05-25T03:45:06Z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B9443934C2434DDFA82061DDA696218D_13</vt:lpwstr>
  </property>
  <property fmtid="{D5CDD505-2E9C-101B-9397-08002B2CF9AE}" pid="3" name="KSOProductBuildVer">
    <vt:lpwstr>2052-12.1.0.26375</vt:lpwstr>
  </property>
</Properties>
</file>